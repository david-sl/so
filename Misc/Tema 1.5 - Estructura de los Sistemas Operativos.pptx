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17"/>
  </p:notesMasterIdLst>
  <p:sldIdLst>
    <p:sldId id="256" r:id="rId2"/>
    <p:sldId id="268" r:id="rId3"/>
    <p:sldId id="257" r:id="rId4"/>
    <p:sldId id="258" r:id="rId5"/>
    <p:sldId id="263" r:id="rId6"/>
    <p:sldId id="265" r:id="rId7"/>
    <p:sldId id="266" r:id="rId8"/>
    <p:sldId id="270" r:id="rId9"/>
    <p:sldId id="259" r:id="rId10"/>
    <p:sldId id="260" r:id="rId11"/>
    <p:sldId id="261" r:id="rId12"/>
    <p:sldId id="264" r:id="rId13"/>
    <p:sldId id="271" r:id="rId14"/>
    <p:sldId id="272" r:id="rId15"/>
    <p:sldId id="26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42" autoAdjust="0"/>
    <p:restoredTop sz="58475" autoAdjust="0"/>
  </p:normalViewPr>
  <p:slideViewPr>
    <p:cSldViewPr snapToGrid="0">
      <p:cViewPr varScale="1">
        <p:scale>
          <a:sx n="43" d="100"/>
          <a:sy n="43" d="100"/>
        </p:scale>
        <p:origin x="1224" y="208"/>
      </p:cViewPr>
      <p:guideLst/>
    </p:cSldViewPr>
  </p:slideViewPr>
  <p:notesTextViewPr>
    <p:cViewPr>
      <p:scale>
        <a:sx n="1" d="1"/>
        <a:sy n="1" d="1"/>
      </p:scale>
      <p:origin x="0" y="-1848"/>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B9E74D-237E-4482-9CF8-813E841A7EF6}" type="datetimeFigureOut">
              <a:rPr lang="es-MX" smtClean="0"/>
              <a:t>10/02/21</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5D2763-7284-41DF-9978-055BA1A98F9F}" type="slidenum">
              <a:rPr lang="es-MX" smtClean="0"/>
              <a:t>‹Nº›</a:t>
            </a:fld>
            <a:endParaRPr lang="es-MX"/>
          </a:p>
        </p:txBody>
      </p:sp>
    </p:spTree>
    <p:extLst>
      <p:ext uri="{BB962C8B-B14F-4D97-AF65-F5344CB8AC3E}">
        <p14:creationId xmlns:p14="http://schemas.microsoft.com/office/powerpoint/2010/main" val="26239212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200" kern="1200" dirty="0">
                <a:solidFill>
                  <a:schemeClr val="tx1"/>
                </a:solidFill>
                <a:effectLst/>
                <a:latin typeface="+mn-lt"/>
                <a:ea typeface="+mn-ea"/>
                <a:cs typeface="+mn-cs"/>
              </a:rPr>
              <a:t>Se considera la organización interna de los S. O. y conforme a ella se los clasifica de la siguiente manera, destacándose sus principales características: </a:t>
            </a:r>
            <a:endParaRPr lang="es-MX" dirty="0"/>
          </a:p>
          <a:p>
            <a:endParaRPr lang="es-MX" dirty="0"/>
          </a:p>
        </p:txBody>
      </p:sp>
      <p:sp>
        <p:nvSpPr>
          <p:cNvPr id="4" name="Marcador de número de diapositiva 3"/>
          <p:cNvSpPr>
            <a:spLocks noGrp="1"/>
          </p:cNvSpPr>
          <p:nvPr>
            <p:ph type="sldNum" sz="quarter" idx="5"/>
          </p:nvPr>
        </p:nvSpPr>
        <p:spPr/>
        <p:txBody>
          <a:bodyPr/>
          <a:lstStyle/>
          <a:p>
            <a:fld id="{F55D2763-7284-41DF-9978-055BA1A98F9F}" type="slidenum">
              <a:rPr lang="es-MX" smtClean="0"/>
              <a:t>1</a:t>
            </a:fld>
            <a:endParaRPr lang="es-MX"/>
          </a:p>
        </p:txBody>
      </p:sp>
    </p:spTree>
    <p:extLst>
      <p:ext uri="{BB962C8B-B14F-4D97-AF65-F5344CB8AC3E}">
        <p14:creationId xmlns:p14="http://schemas.microsoft.com/office/powerpoint/2010/main" val="30803397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sz="1200" kern="1200" dirty="0">
                <a:solidFill>
                  <a:schemeClr val="tx1"/>
                </a:solidFill>
                <a:effectLst/>
                <a:latin typeface="+mn-lt"/>
                <a:ea typeface="+mn-ea"/>
                <a:cs typeface="+mn-cs"/>
              </a:rPr>
              <a:t>Es muy común: no existe estructura propiamente dicha o es mínima. </a:t>
            </a:r>
          </a:p>
          <a:p>
            <a:r>
              <a:rPr lang="es-MX" sz="1200" kern="1200" dirty="0">
                <a:solidFill>
                  <a:schemeClr val="tx1"/>
                </a:solidFill>
                <a:effectLst/>
                <a:latin typeface="+mn-lt"/>
                <a:ea typeface="+mn-ea"/>
                <a:cs typeface="+mn-cs"/>
              </a:rPr>
              <a:t>El S. O. es una colección de procedimientos que se pueden llamar entre sí </a:t>
            </a:r>
          </a:p>
          <a:p>
            <a:endParaRPr lang="es-MX" dirty="0"/>
          </a:p>
        </p:txBody>
      </p:sp>
      <p:sp>
        <p:nvSpPr>
          <p:cNvPr id="4" name="Marcador de número de diapositiva 3"/>
          <p:cNvSpPr>
            <a:spLocks noGrp="1"/>
          </p:cNvSpPr>
          <p:nvPr>
            <p:ph type="sldNum" sz="quarter" idx="10"/>
          </p:nvPr>
        </p:nvSpPr>
        <p:spPr/>
        <p:txBody>
          <a:bodyPr/>
          <a:lstStyle/>
          <a:p>
            <a:fld id="{F55D2763-7284-41DF-9978-055BA1A98F9F}" type="slidenum">
              <a:rPr lang="es-MX" smtClean="0"/>
              <a:t>2</a:t>
            </a:fld>
            <a:endParaRPr lang="es-MX"/>
          </a:p>
        </p:txBody>
      </p:sp>
    </p:spTree>
    <p:extLst>
      <p:ext uri="{BB962C8B-B14F-4D97-AF65-F5344CB8AC3E}">
        <p14:creationId xmlns:p14="http://schemas.microsoft.com/office/powerpoint/2010/main" val="33747981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200" kern="1200" dirty="0">
                <a:solidFill>
                  <a:schemeClr val="tx1"/>
                </a:solidFill>
                <a:effectLst/>
                <a:latin typeface="+mn-lt"/>
                <a:ea typeface="+mn-ea"/>
                <a:cs typeface="+mn-cs"/>
              </a:rPr>
              <a:t>Cada procedimiento tiene una interfaz bien definida en términos de parámetros y resultados. </a:t>
            </a:r>
          </a:p>
          <a:p>
            <a:endParaRPr lang="es-MX" sz="1200" dirty="0">
              <a:effectLst/>
              <a:latin typeface="TimesNewRomanPSMT" panose="02020603050405020304" pitchFamily="18" charset="0"/>
            </a:endParaRPr>
          </a:p>
          <a:p>
            <a:r>
              <a:rPr lang="es-MX" sz="1200" dirty="0">
                <a:effectLst/>
                <a:latin typeface="TimesNewRomanPSMT" panose="02020603050405020304" pitchFamily="18" charset="0"/>
              </a:rPr>
              <a:t>Para ejecutar los servicios del S. O. (llamadas al sistema): (ver Figura </a:t>
            </a:r>
            <a:r>
              <a:rPr lang="es-MX" sz="1200" dirty="0">
                <a:solidFill>
                  <a:srgbClr val="0000FF"/>
                </a:solidFill>
                <a:effectLst/>
                <a:latin typeface="TimesNewRomanPSMT" panose="02020603050405020304" pitchFamily="18" charset="0"/>
              </a:rPr>
              <a:t>[23, Tanenbaum]</a:t>
            </a:r>
            <a:r>
              <a:rPr lang="es-MX" sz="1200" dirty="0">
                <a:effectLst/>
                <a:latin typeface="TimesNewRomanPSMT" panose="02020603050405020304" pitchFamily="18" charset="0"/>
              </a:rPr>
              <a:t>). </a:t>
            </a:r>
            <a:endParaRPr lang="es-MX" dirty="0"/>
          </a:p>
          <a:p>
            <a:pPr lvl="1"/>
            <a:r>
              <a:rPr lang="es-MX" sz="1000" dirty="0">
                <a:effectLst/>
                <a:latin typeface="CourierNewPSMT" panose="02070309020205020404" pitchFamily="49" charset="0"/>
              </a:rPr>
              <a:t>o </a:t>
            </a:r>
            <a:r>
              <a:rPr lang="es-MX" sz="1200" dirty="0">
                <a:effectLst/>
                <a:latin typeface="TimesNewRomanPSMT" panose="02020603050405020304" pitchFamily="18" charset="0"/>
              </a:rPr>
              <a:t>Se solicitan colocando los parámetros en lugares bien definidos (registros o pilas). </a:t>
            </a:r>
            <a:endParaRPr lang="es-MX" dirty="0"/>
          </a:p>
          <a:p>
            <a:pPr lvl="1"/>
            <a:r>
              <a:rPr lang="es-MX" sz="1000" dirty="0">
                <a:effectLst/>
                <a:latin typeface="CourierNewPSMT" panose="02070309020205020404" pitchFamily="49" charset="0"/>
              </a:rPr>
              <a:t>o </a:t>
            </a:r>
            <a:r>
              <a:rPr lang="es-MX" sz="1200" dirty="0">
                <a:effectLst/>
                <a:latin typeface="TimesNewRomanPSMT" panose="02020603050405020304" pitchFamily="18" charset="0"/>
              </a:rPr>
              <a:t>Se ejecuta una instrucción especial de trampa: </a:t>
            </a:r>
            <a:r>
              <a:rPr lang="es-MX" sz="1200" b="1" dirty="0">
                <a:effectLst/>
                <a:latin typeface="TimesNewRomanPS"/>
              </a:rPr>
              <a:t>llamada al núcleo </a:t>
            </a:r>
            <a:r>
              <a:rPr lang="es-MX" sz="1200" dirty="0">
                <a:effectLst/>
                <a:latin typeface="TimesNewRomanPSMT" panose="02020603050405020304" pitchFamily="18" charset="0"/>
              </a:rPr>
              <a:t>o </a:t>
            </a:r>
            <a:r>
              <a:rPr lang="es-MX" sz="1200" b="1" dirty="0">
                <a:effectLst/>
                <a:latin typeface="TimesNewRomanPS"/>
              </a:rPr>
              <a:t>llamada al supervisor. </a:t>
            </a:r>
            <a:endParaRPr lang="es-MX" dirty="0"/>
          </a:p>
          <a:p>
            <a:pPr lvl="1"/>
            <a:r>
              <a:rPr lang="es-MX" sz="1000" dirty="0">
                <a:effectLst/>
                <a:latin typeface="CourierNewPSMT" panose="02070309020205020404" pitchFamily="49" charset="0"/>
              </a:rPr>
              <a:t>o </a:t>
            </a:r>
            <a:r>
              <a:rPr lang="es-MX" sz="1200" dirty="0">
                <a:effectLst/>
                <a:latin typeface="TimesNewRomanPSMT" panose="02020603050405020304" pitchFamily="18" charset="0"/>
              </a:rPr>
              <a:t>La instrucción cambia la máquina del modo usuario al modo núcleo (o modo supervisor). </a:t>
            </a:r>
            <a:r>
              <a:rPr lang="es-MX" sz="1200" dirty="0">
                <a:solidFill>
                  <a:srgbClr val="0000FF"/>
                </a:solidFill>
                <a:effectLst/>
                <a:latin typeface="TimesNewRomanPSMT" panose="02020603050405020304" pitchFamily="18" charset="0"/>
              </a:rPr>
              <a:t>[23, Tanenbaum] </a:t>
            </a:r>
            <a:endParaRPr lang="es-MX" dirty="0"/>
          </a:p>
          <a:p>
            <a:pPr lvl="1"/>
            <a:r>
              <a:rPr lang="es-MX" sz="1000" dirty="0">
                <a:effectLst/>
                <a:latin typeface="CourierNewPSMT" panose="02070309020205020404" pitchFamily="49" charset="0"/>
              </a:rPr>
              <a:t>o </a:t>
            </a:r>
            <a:r>
              <a:rPr lang="es-MX" sz="1200" dirty="0">
                <a:effectLst/>
                <a:latin typeface="TimesNewRomanPSMT" panose="02020603050405020304" pitchFamily="18" charset="0"/>
              </a:rPr>
              <a:t>Se transfiere el control al S. O.</a:t>
            </a:r>
            <a:br>
              <a:rPr lang="es-MX" sz="1200" dirty="0">
                <a:effectLst/>
                <a:latin typeface="TimesNewRomanPSMT" panose="02020603050405020304" pitchFamily="18" charset="0"/>
              </a:rPr>
            </a:br>
            <a:r>
              <a:rPr lang="es-MX" sz="1000" dirty="0">
                <a:effectLst/>
                <a:latin typeface="CourierNewPSMT" panose="02070309020205020404" pitchFamily="49" charset="0"/>
              </a:rPr>
              <a:t>o </a:t>
            </a:r>
            <a:r>
              <a:rPr lang="es-MX" sz="1200" dirty="0">
                <a:effectLst/>
                <a:latin typeface="TimesNewRomanPSMT" panose="02020603050405020304" pitchFamily="18" charset="0"/>
              </a:rPr>
              <a:t>El S. O. examina los parámetros de la llamada para determinar cuál de ellas se desea realizar.</a:t>
            </a:r>
            <a:br>
              <a:rPr lang="es-MX" sz="1200" dirty="0">
                <a:effectLst/>
                <a:latin typeface="TimesNewRomanPSMT" panose="02020603050405020304" pitchFamily="18" charset="0"/>
              </a:rPr>
            </a:br>
            <a:r>
              <a:rPr lang="es-MX" sz="1000" dirty="0">
                <a:effectLst/>
                <a:latin typeface="CourierNewPSMT" panose="02070309020205020404" pitchFamily="49" charset="0"/>
              </a:rPr>
              <a:t>o </a:t>
            </a:r>
            <a:r>
              <a:rPr lang="es-MX" sz="1200" dirty="0">
                <a:effectLst/>
                <a:latin typeface="TimesNewRomanPSMT" panose="02020603050405020304" pitchFamily="18" charset="0"/>
              </a:rPr>
              <a:t>El S. O. analiza una tabla que contiene en la entrada </a:t>
            </a:r>
            <a:r>
              <a:rPr lang="es-MX" sz="1200" i="1" dirty="0">
                <a:effectLst/>
                <a:latin typeface="TimesNewRomanPS"/>
              </a:rPr>
              <a:t>“k” </a:t>
            </a:r>
            <a:r>
              <a:rPr lang="es-MX" sz="1200" dirty="0">
                <a:effectLst/>
                <a:latin typeface="TimesNewRomanPSMT" panose="02020603050405020304" pitchFamily="18" charset="0"/>
              </a:rPr>
              <a:t>un apuntador al procedimiento que realiza la </a:t>
            </a:r>
            <a:r>
              <a:rPr lang="es-MX" sz="1200" i="1" dirty="0">
                <a:effectLst/>
                <a:latin typeface="TimesNewRomanPS"/>
              </a:rPr>
              <a:t>“k-ésima” </a:t>
            </a:r>
            <a:r>
              <a:rPr lang="es-MX" sz="1200" dirty="0">
                <a:effectLst/>
                <a:latin typeface="TimesNewRomanPSMT" panose="02020603050405020304" pitchFamily="18" charset="0"/>
              </a:rPr>
              <a:t>llamada al sistema: </a:t>
            </a:r>
          </a:p>
          <a:p>
            <a:pPr lvl="1"/>
            <a:r>
              <a:rPr lang="es-MX" sz="1200" dirty="0">
                <a:effectLst/>
                <a:latin typeface="TimesNewRomanPSMT" panose="02020603050405020304" pitchFamily="18" charset="0"/>
              </a:rPr>
              <a:t>        - Identifica al procedimiento de servicio llamado. </a:t>
            </a:r>
            <a:endParaRPr lang="es-MX" dirty="0"/>
          </a:p>
          <a:p>
            <a:pPr lvl="1"/>
            <a:r>
              <a:rPr lang="es-MX" sz="1000" dirty="0">
                <a:effectLst/>
                <a:latin typeface="CourierNewPSMT" panose="02070309020205020404" pitchFamily="49" charset="0"/>
              </a:rPr>
              <a:t>o </a:t>
            </a:r>
            <a:r>
              <a:rPr lang="es-MX" sz="1200" dirty="0">
                <a:effectLst/>
                <a:latin typeface="TimesNewRomanPSMT" panose="02020603050405020304" pitchFamily="18" charset="0"/>
              </a:rPr>
              <a:t>La llamada al sistema termina y el control regresa al programa del usuario. </a:t>
            </a:r>
            <a:endParaRPr lang="es-MX" dirty="0"/>
          </a:p>
          <a:p>
            <a:endParaRPr lang="es-MX" dirty="0"/>
          </a:p>
        </p:txBody>
      </p:sp>
      <p:sp>
        <p:nvSpPr>
          <p:cNvPr id="4" name="Marcador de número de diapositiva 3"/>
          <p:cNvSpPr>
            <a:spLocks noGrp="1"/>
          </p:cNvSpPr>
          <p:nvPr>
            <p:ph type="sldNum" sz="quarter" idx="10"/>
          </p:nvPr>
        </p:nvSpPr>
        <p:spPr/>
        <p:txBody>
          <a:bodyPr/>
          <a:lstStyle/>
          <a:p>
            <a:fld id="{F55D2763-7284-41DF-9978-055BA1A98F9F}" type="slidenum">
              <a:rPr lang="es-MX" smtClean="0"/>
              <a:t>3</a:t>
            </a:fld>
            <a:endParaRPr lang="es-MX"/>
          </a:p>
        </p:txBody>
      </p:sp>
    </p:spTree>
    <p:extLst>
      <p:ext uri="{BB962C8B-B14F-4D97-AF65-F5344CB8AC3E}">
        <p14:creationId xmlns:p14="http://schemas.microsoft.com/office/powerpoint/2010/main" val="32184783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r>
              <a:rPr lang="es-MX" sz="1200" kern="1200" dirty="0">
                <a:solidFill>
                  <a:schemeClr val="tx1"/>
                </a:solidFill>
                <a:effectLst/>
                <a:latin typeface="+mn-lt"/>
                <a:ea typeface="+mn-ea"/>
                <a:cs typeface="+mn-cs"/>
              </a:rPr>
              <a:t>Es una generalización del modelo de estructura simple para un sistema monolítico. </a:t>
            </a:r>
          </a:p>
          <a:p>
            <a:pPr marL="171450" indent="-171450">
              <a:buFont typeface="Arial" panose="020B0604020202020204" pitchFamily="34" charset="0"/>
              <a:buChar char="•"/>
            </a:pPr>
            <a:r>
              <a:rPr lang="es-MX" sz="1200" kern="1200" dirty="0">
                <a:solidFill>
                  <a:schemeClr val="tx1"/>
                </a:solidFill>
                <a:effectLst/>
                <a:latin typeface="+mn-lt"/>
                <a:ea typeface="+mn-ea"/>
                <a:cs typeface="+mn-cs"/>
              </a:rPr>
              <a:t>Consiste en organizar el s. o. como una jerarquía de capas, cada una construida sobre la inmediata inferior. </a:t>
            </a:r>
          </a:p>
          <a:p>
            <a:pPr marL="171450" indent="-171450">
              <a:buFont typeface="Arial" panose="020B0604020202020204" pitchFamily="34" charset="0"/>
              <a:buChar char="•"/>
            </a:pPr>
            <a:endParaRPr lang="es-MX"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s-MX" sz="1200" kern="1200" dirty="0">
                <a:solidFill>
                  <a:schemeClr val="tx1"/>
                </a:solidFill>
                <a:effectLst/>
                <a:latin typeface="+mn-lt"/>
                <a:ea typeface="+mn-ea"/>
                <a:cs typeface="+mn-cs"/>
              </a:rPr>
              <a:t>El primer sistema con este esquema fue el “THE” (Holanda - Dijkstra -1968): (ver Tabla )</a:t>
            </a:r>
            <a:endParaRPr lang="es-MX" dirty="0"/>
          </a:p>
          <a:p>
            <a:endParaRPr lang="es-MX" dirty="0"/>
          </a:p>
        </p:txBody>
      </p:sp>
      <p:sp>
        <p:nvSpPr>
          <p:cNvPr id="4" name="Marcador de número de diapositiva 3"/>
          <p:cNvSpPr>
            <a:spLocks noGrp="1"/>
          </p:cNvSpPr>
          <p:nvPr>
            <p:ph type="sldNum" sz="quarter" idx="5"/>
          </p:nvPr>
        </p:nvSpPr>
        <p:spPr/>
        <p:txBody>
          <a:bodyPr/>
          <a:lstStyle/>
          <a:p>
            <a:fld id="{F55D2763-7284-41DF-9978-055BA1A98F9F}" type="slidenum">
              <a:rPr lang="es-MX" smtClean="0"/>
              <a:t>4</a:t>
            </a:fld>
            <a:endParaRPr lang="es-MX"/>
          </a:p>
        </p:txBody>
      </p:sp>
    </p:spTree>
    <p:extLst>
      <p:ext uri="{BB962C8B-B14F-4D97-AF65-F5344CB8AC3E}">
        <p14:creationId xmlns:p14="http://schemas.microsoft.com/office/powerpoint/2010/main" val="29583086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lvl="0"/>
            <a:r>
              <a:rPr lang="es-MX" sz="1200" kern="1200" dirty="0">
                <a:solidFill>
                  <a:schemeClr val="tx1"/>
                </a:solidFill>
                <a:effectLst/>
                <a:latin typeface="+mn-lt"/>
                <a:ea typeface="+mn-ea"/>
                <a:cs typeface="+mn-cs"/>
              </a:rPr>
              <a:t>• Capa 0:</a:t>
            </a:r>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pPr lvl="1"/>
            <a:r>
              <a:rPr lang="es-MX" sz="1200" kern="1200" dirty="0">
                <a:solidFill>
                  <a:schemeClr val="tx1"/>
                </a:solidFill>
                <a:effectLst/>
                <a:latin typeface="+mn-lt"/>
                <a:ea typeface="+mn-ea"/>
                <a:cs typeface="+mn-cs"/>
              </a:rPr>
              <a:t>o Trabaja con la asignación del procesador.</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o Alterna entre los procesos cuando ocurren las interrupciones o expiran los cronómetros.</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o Proporciona la multiprogramación básica. </a:t>
            </a:r>
            <a:endParaRPr lang="es-MX" dirty="0"/>
          </a:p>
          <a:p>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Capa 1:</a:t>
            </a:r>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pPr lvl="1"/>
            <a:r>
              <a:rPr lang="es-MX" sz="1200" kern="1200" dirty="0">
                <a:solidFill>
                  <a:schemeClr val="tx1"/>
                </a:solidFill>
                <a:effectLst/>
                <a:latin typeface="+mn-lt"/>
                <a:ea typeface="+mn-ea"/>
                <a:cs typeface="+mn-cs"/>
              </a:rPr>
              <a:t>o Administra la memoria. </a:t>
            </a:r>
            <a:endParaRPr lang="es-MX" dirty="0"/>
          </a:p>
          <a:p>
            <a:pPr lvl="1"/>
            <a:r>
              <a:rPr lang="es-MX" sz="1200" kern="1200" dirty="0">
                <a:solidFill>
                  <a:schemeClr val="tx1"/>
                </a:solidFill>
                <a:effectLst/>
                <a:latin typeface="+mn-lt"/>
                <a:ea typeface="+mn-ea"/>
                <a:cs typeface="+mn-cs"/>
              </a:rPr>
              <a:t>o Asegura que las páginas (porciones de memoria) requeridas de los procesos lleguen a memoria cuando fueran necesarias. </a:t>
            </a:r>
            <a:endParaRPr lang="es-MX" dirty="0"/>
          </a:p>
          <a:p>
            <a:endParaRPr lang="es-MX" dirty="0"/>
          </a:p>
        </p:txBody>
      </p:sp>
      <p:sp>
        <p:nvSpPr>
          <p:cNvPr id="4" name="Marcador de número de diapositiva 3"/>
          <p:cNvSpPr>
            <a:spLocks noGrp="1"/>
          </p:cNvSpPr>
          <p:nvPr>
            <p:ph type="sldNum" sz="quarter" idx="5"/>
          </p:nvPr>
        </p:nvSpPr>
        <p:spPr/>
        <p:txBody>
          <a:bodyPr/>
          <a:lstStyle/>
          <a:p>
            <a:fld id="{F55D2763-7284-41DF-9978-055BA1A98F9F}" type="slidenum">
              <a:rPr lang="es-MX" smtClean="0"/>
              <a:t>5</a:t>
            </a:fld>
            <a:endParaRPr lang="es-MX"/>
          </a:p>
        </p:txBody>
      </p:sp>
    </p:spTree>
    <p:extLst>
      <p:ext uri="{BB962C8B-B14F-4D97-AF65-F5344CB8AC3E}">
        <p14:creationId xmlns:p14="http://schemas.microsoft.com/office/powerpoint/2010/main" val="21360381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sz="1200" kern="1200" dirty="0">
                <a:solidFill>
                  <a:schemeClr val="tx1"/>
                </a:solidFill>
                <a:effectLst/>
                <a:latin typeface="+mn-lt"/>
                <a:ea typeface="+mn-ea"/>
                <a:cs typeface="+mn-cs"/>
              </a:rPr>
              <a:t>• Capa 2:</a:t>
            </a:r>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o Administra la comunicación entre cada proceso y la consola del operador.</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o Por sobre esta capa, cada proceso tiene su propia consola de operador. </a:t>
            </a:r>
            <a:endParaRPr lang="es-MX" dirty="0"/>
          </a:p>
          <a:p>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Capa 3:</a:t>
            </a:r>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o Controla los dispositivos de e / s y almacena en buffers los flujos de información entre ellos.</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o Por sobre la capa 3 cada proceso puede trabajar con dispositivos abstractos de e / s en vez de con dispositivos reales. </a:t>
            </a:r>
            <a:endParaRPr lang="es-MX" dirty="0"/>
          </a:p>
          <a:p>
            <a:endParaRPr lang="es-MX" dirty="0"/>
          </a:p>
        </p:txBody>
      </p:sp>
      <p:sp>
        <p:nvSpPr>
          <p:cNvPr id="4" name="Marcador de número de diapositiva 3"/>
          <p:cNvSpPr>
            <a:spLocks noGrp="1"/>
          </p:cNvSpPr>
          <p:nvPr>
            <p:ph type="sldNum" sz="quarter" idx="5"/>
          </p:nvPr>
        </p:nvSpPr>
        <p:spPr/>
        <p:txBody>
          <a:bodyPr/>
          <a:lstStyle/>
          <a:p>
            <a:fld id="{F55D2763-7284-41DF-9978-055BA1A98F9F}" type="slidenum">
              <a:rPr lang="es-MX" smtClean="0"/>
              <a:t>6</a:t>
            </a:fld>
            <a:endParaRPr lang="es-MX"/>
          </a:p>
        </p:txBody>
      </p:sp>
    </p:spTree>
    <p:extLst>
      <p:ext uri="{BB962C8B-B14F-4D97-AF65-F5344CB8AC3E}">
        <p14:creationId xmlns:p14="http://schemas.microsoft.com/office/powerpoint/2010/main" val="1919458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sz="1200" kern="1200" dirty="0">
                <a:solidFill>
                  <a:schemeClr val="tx1"/>
                </a:solidFill>
                <a:effectLst/>
                <a:latin typeface="+mn-lt"/>
                <a:ea typeface="+mn-ea"/>
                <a:cs typeface="+mn-cs"/>
              </a:rPr>
              <a:t>• Capa 4: </a:t>
            </a:r>
            <a:endParaRPr lang="es-MX" dirty="0"/>
          </a:p>
          <a:p>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o Aloja los programas del usuario.</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o Los programas. del usuario no tienen que preocuparse por el proceso, </a:t>
            </a:r>
            <a:endParaRPr lang="es-MX" dirty="0"/>
          </a:p>
          <a:p>
            <a:r>
              <a:rPr lang="es-MX" sz="1200" kern="1200" dirty="0">
                <a:solidFill>
                  <a:schemeClr val="tx1"/>
                </a:solidFill>
                <a:effectLst/>
                <a:latin typeface="+mn-lt"/>
                <a:ea typeface="+mn-ea"/>
                <a:cs typeface="+mn-cs"/>
              </a:rPr>
              <a:t>memoria, consola o control de e / s. </a:t>
            </a:r>
          </a:p>
          <a:p>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 Capa 5: </a:t>
            </a:r>
            <a:endParaRPr lang="es-MX" dirty="0"/>
          </a:p>
          <a:p>
            <a:r>
              <a:rPr lang="es-MX" sz="1200" kern="1200" dirty="0">
                <a:solidFill>
                  <a:schemeClr val="tx1"/>
                </a:solidFill>
                <a:effectLst/>
                <a:latin typeface="+mn-lt"/>
                <a:ea typeface="+mn-ea"/>
                <a:cs typeface="+mn-cs"/>
              </a:rPr>
              <a:t>o Localiza el proceso operador del sistema.</a:t>
            </a:r>
            <a:br>
              <a:rPr lang="es-MX" sz="1200" kern="1200" dirty="0">
                <a:solidFill>
                  <a:schemeClr val="tx1"/>
                </a:solidFill>
                <a:effectLst/>
                <a:latin typeface="+mn-lt"/>
                <a:ea typeface="+mn-ea"/>
                <a:cs typeface="+mn-cs"/>
              </a:rPr>
            </a:br>
            <a:endParaRPr lang="es-MX" dirty="0"/>
          </a:p>
          <a:p>
            <a:endParaRPr lang="es-MX" dirty="0"/>
          </a:p>
        </p:txBody>
      </p:sp>
      <p:sp>
        <p:nvSpPr>
          <p:cNvPr id="4" name="Marcador de número de diapositiva 3"/>
          <p:cNvSpPr>
            <a:spLocks noGrp="1"/>
          </p:cNvSpPr>
          <p:nvPr>
            <p:ph type="sldNum" sz="quarter" idx="5"/>
          </p:nvPr>
        </p:nvSpPr>
        <p:spPr/>
        <p:txBody>
          <a:bodyPr/>
          <a:lstStyle/>
          <a:p>
            <a:fld id="{F55D2763-7284-41DF-9978-055BA1A98F9F}" type="slidenum">
              <a:rPr lang="es-MX" smtClean="0"/>
              <a:t>7</a:t>
            </a:fld>
            <a:endParaRPr lang="es-MX"/>
          </a:p>
        </p:txBody>
      </p:sp>
    </p:spTree>
    <p:extLst>
      <p:ext uri="{BB962C8B-B14F-4D97-AF65-F5344CB8AC3E}">
        <p14:creationId xmlns:p14="http://schemas.microsoft.com/office/powerpoint/2010/main" val="30772583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71450" indent="-171450">
              <a:buFont typeface="Arial" panose="020B0604020202020204" pitchFamily="34" charset="0"/>
              <a:buChar char="•"/>
            </a:pPr>
            <a:r>
              <a:rPr lang="es-MX" sz="1200" i="1" kern="1200" dirty="0">
                <a:solidFill>
                  <a:schemeClr val="tx1"/>
                </a:solidFill>
                <a:effectLst/>
                <a:latin typeface="+mn-lt"/>
                <a:ea typeface="+mn-ea"/>
                <a:cs typeface="+mn-cs"/>
              </a:rPr>
              <a:t>“Multics”: multiplexed information and computing service. (</a:t>
            </a:r>
            <a:r>
              <a:rPr lang="es-MX" sz="1200" b="0" i="0" kern="1200" dirty="0">
                <a:solidFill>
                  <a:schemeClr val="tx1"/>
                </a:solidFill>
                <a:effectLst/>
                <a:latin typeface="+mn-lt"/>
                <a:ea typeface="+mn-ea"/>
                <a:cs typeface="+mn-cs"/>
              </a:rPr>
              <a:t>servicio de información e informática multiplexada)</a:t>
            </a:r>
            <a:endParaRPr lang="es-MX" sz="1200" kern="1200" dirty="0">
              <a:solidFill>
                <a:schemeClr val="tx1"/>
              </a:solidFill>
              <a:effectLst/>
              <a:latin typeface="+mn-lt"/>
              <a:ea typeface="+mn-ea"/>
              <a:cs typeface="+mn-cs"/>
            </a:endParaRPr>
          </a:p>
          <a:p>
            <a:pPr marL="171450" indent="-171450">
              <a:buFont typeface="Arial" panose="020B0604020202020204" pitchFamily="34" charset="0"/>
              <a:buChar char="•"/>
            </a:pPr>
            <a:r>
              <a:rPr lang="es-MX" sz="1200" kern="1200" dirty="0">
                <a:solidFill>
                  <a:schemeClr val="tx1"/>
                </a:solidFill>
                <a:effectLst/>
                <a:latin typeface="+mn-lt"/>
                <a:ea typeface="+mn-ea"/>
                <a:cs typeface="+mn-cs"/>
              </a:rPr>
              <a:t>Presenta una estructura en anillos concéntricos, siendo los interiores los privilegiados. </a:t>
            </a:r>
          </a:p>
          <a:p>
            <a:pPr marL="171450" indent="-171450">
              <a:buFont typeface="Arial" panose="020B0604020202020204" pitchFamily="34" charset="0"/>
              <a:buChar char="•"/>
            </a:pPr>
            <a:r>
              <a:rPr lang="es-MX" sz="1200" kern="1200" dirty="0">
                <a:solidFill>
                  <a:schemeClr val="tx1"/>
                </a:solidFill>
                <a:effectLst/>
                <a:latin typeface="+mn-lt"/>
                <a:ea typeface="+mn-ea"/>
                <a:cs typeface="+mn-cs"/>
              </a:rPr>
              <a:t>Un procedimiento de un anillo exterior, para llamar a un procedimiento de un anillo interior, debe hacer el equivalente a una llamada al sistema. </a:t>
            </a:r>
          </a:p>
          <a:p>
            <a:pPr marL="171450" indent="-171450">
              <a:buFont typeface="Arial" panose="020B0604020202020204" pitchFamily="34" charset="0"/>
              <a:buChar char="•"/>
            </a:pPr>
            <a:endParaRPr lang="es-MX" sz="1200" kern="1200" dirty="0">
              <a:solidFill>
                <a:schemeClr val="tx1"/>
              </a:solidFill>
              <a:effectLst/>
              <a:latin typeface="+mn-lt"/>
              <a:ea typeface="+mn-ea"/>
              <a:cs typeface="+mn-cs"/>
            </a:endParaRPr>
          </a:p>
          <a:p>
            <a:pPr marL="0" indent="0">
              <a:buFont typeface="Arial" panose="020B0604020202020204" pitchFamily="34" charset="0"/>
              <a:buNone/>
            </a:pPr>
            <a:r>
              <a:rPr lang="es-MX" sz="1200" kern="1200" dirty="0">
                <a:solidFill>
                  <a:schemeClr val="tx1"/>
                </a:solidFill>
                <a:effectLst/>
                <a:latin typeface="+mn-lt"/>
                <a:ea typeface="+mn-ea"/>
                <a:cs typeface="+mn-cs"/>
              </a:rPr>
              <a:t>Es un influyente sistema operativo inicial de tiempo compartido basado en el concepto de memoria de un solo nivel.</a:t>
            </a:r>
          </a:p>
          <a:p>
            <a:pPr marL="171450" indent="-171450">
              <a:buFont typeface="Arial" panose="020B0604020202020204" pitchFamily="34" charset="0"/>
              <a:buChar char="•"/>
            </a:pPr>
            <a:endParaRPr lang="es-MX" sz="1200" kern="1200" dirty="0">
              <a:solidFill>
                <a:schemeClr val="tx1"/>
              </a:solidFill>
              <a:effectLst/>
              <a:latin typeface="+mn-lt"/>
              <a:ea typeface="+mn-ea"/>
              <a:cs typeface="+mn-cs"/>
            </a:endParaRPr>
          </a:p>
          <a:p>
            <a:pPr marL="0" indent="0">
              <a:buFont typeface="Arial" panose="020B0604020202020204" pitchFamily="34" charset="0"/>
              <a:buNone/>
            </a:pPr>
            <a:r>
              <a:rPr lang="es-MX" sz="1200" kern="1200" dirty="0">
                <a:solidFill>
                  <a:schemeClr val="tx1"/>
                </a:solidFill>
                <a:effectLst/>
                <a:latin typeface="+mn-lt"/>
                <a:ea typeface="+mn-ea"/>
                <a:cs typeface="+mn-cs"/>
              </a:rPr>
              <a:t>Multics "ha influido en todos los sistemas operativos modernos desde entonces, desde microcomputadoras hasta mainframes"</a:t>
            </a:r>
          </a:p>
          <a:p>
            <a:endParaRPr lang="es-MX" dirty="0"/>
          </a:p>
        </p:txBody>
      </p:sp>
      <p:sp>
        <p:nvSpPr>
          <p:cNvPr id="4" name="Marcador de número de diapositiva 3"/>
          <p:cNvSpPr>
            <a:spLocks noGrp="1"/>
          </p:cNvSpPr>
          <p:nvPr>
            <p:ph type="sldNum" sz="quarter" idx="5"/>
          </p:nvPr>
        </p:nvSpPr>
        <p:spPr/>
        <p:txBody>
          <a:bodyPr/>
          <a:lstStyle/>
          <a:p>
            <a:fld id="{F55D2763-7284-41DF-9978-055BA1A98F9F}" type="slidenum">
              <a:rPr lang="es-MX" smtClean="0"/>
              <a:t>8</a:t>
            </a:fld>
            <a:endParaRPr lang="es-MX"/>
          </a:p>
        </p:txBody>
      </p:sp>
    </p:spTree>
    <p:extLst>
      <p:ext uri="{BB962C8B-B14F-4D97-AF65-F5344CB8AC3E}">
        <p14:creationId xmlns:p14="http://schemas.microsoft.com/office/powerpoint/2010/main" val="21779460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200" kern="1200" dirty="0">
                <a:solidFill>
                  <a:schemeClr val="tx1"/>
                </a:solidFill>
                <a:effectLst/>
                <a:latin typeface="+mn-lt"/>
                <a:ea typeface="+mn-ea"/>
                <a:cs typeface="+mn-cs"/>
              </a:rPr>
              <a:t>Se separan totalmente las funciones de multiprogramación y de máquina extendida. </a:t>
            </a:r>
            <a:endParaRPr lang="es-MX" dirty="0">
              <a:effectLst/>
            </a:endParaRPr>
          </a:p>
          <a:p>
            <a:r>
              <a:rPr lang="es-MX" sz="1200" dirty="0">
                <a:effectLst/>
                <a:latin typeface="TimesNewRomanPSMT" panose="02020603050405020304" pitchFamily="18" charset="0"/>
              </a:rPr>
              <a:t>Existe un elemento central llamado </a:t>
            </a:r>
            <a:r>
              <a:rPr lang="es-MX" sz="1200" b="1" dirty="0">
                <a:effectLst/>
                <a:latin typeface="TimesNewRomanPS"/>
              </a:rPr>
              <a:t>monitor de la máquina virtual </a:t>
            </a:r>
            <a:r>
              <a:rPr lang="es-MX" sz="1200" dirty="0">
                <a:effectLst/>
                <a:latin typeface="TimesNewRomanPSMT" panose="02020603050405020304" pitchFamily="18" charset="0"/>
              </a:rPr>
              <a:t>que: </a:t>
            </a:r>
            <a:endParaRPr lang="es-MX" dirty="0"/>
          </a:p>
          <a:p>
            <a:pPr lvl="1">
              <a:buFont typeface="Arial" panose="020B0604020202020204" pitchFamily="34" charset="0"/>
              <a:buChar char="•"/>
            </a:pPr>
            <a:r>
              <a:rPr lang="es-MX" sz="1200" dirty="0">
                <a:effectLst/>
                <a:latin typeface="TimesNewRomanPSMT" panose="02020603050405020304" pitchFamily="18" charset="0"/>
              </a:rPr>
              <a:t>Se ejecuta en el hardware. </a:t>
            </a:r>
            <a:endParaRPr lang="es-MX" sz="1000" dirty="0">
              <a:effectLst/>
              <a:latin typeface="SymbolMT"/>
            </a:endParaRPr>
          </a:p>
          <a:p>
            <a:pPr lvl="1">
              <a:buFont typeface="Arial" panose="020B0604020202020204" pitchFamily="34" charset="0"/>
              <a:buChar char="•"/>
            </a:pPr>
            <a:r>
              <a:rPr lang="es-MX" sz="1200" dirty="0">
                <a:effectLst/>
                <a:latin typeface="TimesNewRomanPSMT" panose="02020603050405020304" pitchFamily="18" charset="0"/>
              </a:rPr>
              <a:t>Realiza la multiprogramación. </a:t>
            </a:r>
            <a:endParaRPr lang="es-MX" sz="1000" dirty="0">
              <a:effectLst/>
              <a:latin typeface="SymbolMT"/>
            </a:endParaRPr>
          </a:p>
          <a:p>
            <a:pPr lvl="1">
              <a:buFont typeface="Arial" panose="020B0604020202020204" pitchFamily="34" charset="0"/>
              <a:buChar char="•"/>
            </a:pPr>
            <a:r>
              <a:rPr lang="es-MX" sz="1200" dirty="0">
                <a:effectLst/>
                <a:latin typeface="TimesNewRomanPSMT" panose="02020603050405020304" pitchFamily="18" charset="0"/>
              </a:rPr>
              <a:t>Proporciona varias máquinas virtuales a la capa superior. </a:t>
            </a:r>
            <a:endParaRPr lang="es-MX" sz="1000" dirty="0">
              <a:effectLst/>
              <a:latin typeface="SymbolMT"/>
            </a:endParaRPr>
          </a:p>
          <a:p>
            <a:pPr>
              <a:buFont typeface="+mj-lt"/>
              <a:buNone/>
            </a:pPr>
            <a:endParaRPr lang="es-MX" sz="1200" dirty="0">
              <a:effectLst/>
              <a:latin typeface="TimesNewRomanPSMT" panose="02020603050405020304" pitchFamily="18" charset="0"/>
            </a:endParaRPr>
          </a:p>
          <a:p>
            <a:pPr>
              <a:buFont typeface="+mj-lt"/>
              <a:buNone/>
            </a:pPr>
            <a:r>
              <a:rPr lang="es-MX" sz="1200" dirty="0">
                <a:effectLst/>
                <a:latin typeface="TimesNewRomanPSMT" panose="02020603050405020304" pitchFamily="18" charset="0"/>
              </a:rPr>
              <a:t>Las máquinas virtuales instrumentan copias “exactas” del hardware simple, con su modo núcleo / usuario, e / s, interrupciones y todo lo demás que posee una máquina real. </a:t>
            </a:r>
            <a:endParaRPr lang="es-MX" dirty="0">
              <a:effectLst/>
            </a:endParaRPr>
          </a:p>
          <a:p>
            <a:pPr>
              <a:buFont typeface="+mj-lt"/>
              <a:buNone/>
            </a:pPr>
            <a:endParaRPr lang="es-MX" sz="1200" dirty="0">
              <a:effectLst/>
              <a:latin typeface="TimesNewRomanPSMT" panose="02020603050405020304" pitchFamily="18" charset="0"/>
            </a:endParaRPr>
          </a:p>
          <a:p>
            <a:pPr>
              <a:buFont typeface="+mj-lt"/>
              <a:buNone/>
            </a:pPr>
            <a:r>
              <a:rPr lang="es-MX" sz="1200" dirty="0">
                <a:effectLst/>
                <a:latin typeface="TimesNewRomanPSMT" panose="02020603050405020304" pitchFamily="18" charset="0"/>
              </a:rPr>
              <a:t>Pueden ejecutar cualquier S. O. que se ejecute en forma directa sobre el hardware. </a:t>
            </a:r>
            <a:endParaRPr lang="es-MX" dirty="0">
              <a:effectLst/>
            </a:endParaRPr>
          </a:p>
          <a:p>
            <a:endParaRPr lang="es-MX" dirty="0"/>
          </a:p>
        </p:txBody>
      </p:sp>
      <p:sp>
        <p:nvSpPr>
          <p:cNvPr id="4" name="Marcador de número de diapositiva 3"/>
          <p:cNvSpPr>
            <a:spLocks noGrp="1"/>
          </p:cNvSpPr>
          <p:nvPr>
            <p:ph type="sldNum" sz="quarter" idx="5"/>
          </p:nvPr>
        </p:nvSpPr>
        <p:spPr/>
        <p:txBody>
          <a:bodyPr/>
          <a:lstStyle/>
          <a:p>
            <a:fld id="{F55D2763-7284-41DF-9978-055BA1A98F9F}" type="slidenum">
              <a:rPr lang="es-MX" smtClean="0"/>
              <a:t>9</a:t>
            </a:fld>
            <a:endParaRPr lang="es-MX"/>
          </a:p>
        </p:txBody>
      </p:sp>
    </p:spTree>
    <p:extLst>
      <p:ext uri="{BB962C8B-B14F-4D97-AF65-F5344CB8AC3E}">
        <p14:creationId xmlns:p14="http://schemas.microsoft.com/office/powerpoint/2010/main" val="25264194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buFont typeface="+mj-lt"/>
              <a:buNone/>
            </a:pPr>
            <a:r>
              <a:rPr lang="es-MX" sz="1200" dirty="0">
                <a:effectLst/>
                <a:latin typeface="TimesNewRomanPSMT" panose="02020603050405020304" pitchFamily="18" charset="0"/>
              </a:rPr>
              <a:t>Las distintas máquinas virtuales pueden ejecutar distintos S. O. y en general así lo hacen. </a:t>
            </a:r>
            <a:endParaRPr lang="es-MX" dirty="0">
              <a:effectLst/>
            </a:endParaRPr>
          </a:p>
          <a:p>
            <a:pPr>
              <a:buFont typeface="+mj-lt"/>
              <a:buNone/>
            </a:pPr>
            <a:r>
              <a:rPr lang="es-MX" sz="1200" dirty="0">
                <a:effectLst/>
                <a:latin typeface="TimesNewRomanPSMT" panose="02020603050405020304" pitchFamily="18" charset="0"/>
              </a:rPr>
              <a:t>Soportan periféricos virtuales.</a:t>
            </a:r>
            <a:br>
              <a:rPr lang="es-MX" sz="1200" dirty="0">
                <a:effectLst/>
                <a:latin typeface="TimesNewRomanPSMT" panose="02020603050405020304" pitchFamily="18" charset="0"/>
              </a:rPr>
            </a:br>
            <a:endParaRPr lang="es-MX" dirty="0">
              <a:effectLst/>
            </a:endParaRPr>
          </a:p>
          <a:p>
            <a:r>
              <a:rPr lang="es-MX" sz="1200" kern="1200" dirty="0">
                <a:solidFill>
                  <a:schemeClr val="tx1"/>
                </a:solidFill>
                <a:effectLst/>
                <a:latin typeface="+mn-lt"/>
                <a:ea typeface="+mn-ea"/>
                <a:cs typeface="+mn-cs"/>
              </a:rPr>
              <a:t>Ejemplo de S. O. representativo de esta estructura: “VM/370” de IBM: (ver Figura [23, Tanenbaum]). </a:t>
            </a:r>
            <a:endParaRPr lang="es-MX" dirty="0">
              <a:effectLst/>
            </a:endParaRPr>
          </a:p>
          <a:p>
            <a:endParaRPr lang="es-MX" dirty="0"/>
          </a:p>
          <a:p>
            <a:pPr>
              <a:buFont typeface="+mj-lt"/>
              <a:buAutoNum type="arabicPeriod"/>
            </a:pPr>
            <a:r>
              <a:rPr lang="es-MX" sz="1200" dirty="0">
                <a:effectLst/>
                <a:latin typeface="TimesNewRomanPSMT" panose="02020603050405020304" pitchFamily="18" charset="0"/>
              </a:rPr>
              <a:t>Las M.V. generalmente utilizarán, entre otros, el S. O. “CMS”: Conversational Monitor System. (</a:t>
            </a:r>
            <a:r>
              <a:rPr lang="es-MX" sz="1200" b="0" i="0" kern="1200" dirty="0">
                <a:solidFill>
                  <a:schemeClr val="tx1"/>
                </a:solidFill>
                <a:effectLst/>
                <a:latin typeface="+mn-lt"/>
                <a:ea typeface="+mn-ea"/>
                <a:cs typeface="+mn-cs"/>
              </a:rPr>
              <a:t>Sistema de monitorización conversacional)</a:t>
            </a:r>
            <a:br>
              <a:rPr lang="es-MX" sz="1200" dirty="0">
                <a:effectLst/>
                <a:latin typeface="TimesNewRomanPSMT" panose="02020603050405020304" pitchFamily="18" charset="0"/>
              </a:rPr>
            </a:br>
            <a:r>
              <a:rPr lang="es-MX" sz="1200" dirty="0">
                <a:effectLst/>
                <a:latin typeface="TimesNewRomanPSMT" panose="02020603050405020304" pitchFamily="18" charset="0"/>
              </a:rPr>
              <a:t>Cuando un programa “CMS” ejecuta una llamada al sistema: </a:t>
            </a:r>
            <a:endParaRPr lang="es-MX" dirty="0">
              <a:effectLst/>
            </a:endParaRPr>
          </a:p>
          <a:p>
            <a:pPr marL="742950" lvl="1" indent="-285750">
              <a:buFont typeface="Arial" panose="020B0604020202020204" pitchFamily="34" charset="0"/>
              <a:buChar char="•"/>
            </a:pPr>
            <a:r>
              <a:rPr lang="es-MX" sz="1200" dirty="0">
                <a:effectLst/>
                <a:latin typeface="TimesNewRomanPSMT" panose="02020603050405020304" pitchFamily="18" charset="0"/>
              </a:rPr>
              <a:t>La llamada es atrapada por el S. O. en su propia M. V.; no pasa directamente al “VM/370”. </a:t>
            </a:r>
            <a:endParaRPr lang="es-MX" sz="1000" dirty="0">
              <a:effectLst/>
              <a:latin typeface="SymbolMT"/>
            </a:endParaRPr>
          </a:p>
          <a:p>
            <a:pPr marL="742950" lvl="1" indent="-285750">
              <a:buFont typeface="Arial" panose="020B0604020202020204" pitchFamily="34" charset="0"/>
              <a:buChar char="•"/>
            </a:pPr>
            <a:r>
              <a:rPr lang="es-MX" sz="1200" dirty="0">
                <a:effectLst/>
                <a:latin typeface="TimesNewRomanPSMT" panose="02020603050405020304" pitchFamily="18" charset="0"/>
              </a:rPr>
              <a:t>“CMS” proporciona las instrucciones de e / s en hardware para la lectura del disco virtual o lo necesario para efectuar la llamada. </a:t>
            </a:r>
            <a:endParaRPr lang="es-MX" sz="1000" dirty="0">
              <a:effectLst/>
              <a:latin typeface="SymbolMT"/>
            </a:endParaRPr>
          </a:p>
          <a:p>
            <a:pPr marL="742950" lvl="1" indent="-285750">
              <a:buFont typeface="Arial" panose="020B0604020202020204" pitchFamily="34" charset="0"/>
              <a:buChar char="•"/>
            </a:pPr>
            <a:r>
              <a:rPr lang="es-MX" sz="1200" dirty="0">
                <a:effectLst/>
                <a:latin typeface="TimesNewRomanPSMT" panose="02020603050405020304" pitchFamily="18" charset="0"/>
              </a:rPr>
              <a:t>“VM/370” atrapa estas instrucciones de e / s y las ejecuta sobre el hardware verdadero. </a:t>
            </a:r>
            <a:endParaRPr lang="es-MX" sz="1000" dirty="0">
              <a:effectLst/>
              <a:latin typeface="SymbolMT"/>
            </a:endParaRPr>
          </a:p>
          <a:p>
            <a:endParaRPr lang="es-MX" dirty="0"/>
          </a:p>
        </p:txBody>
      </p:sp>
      <p:sp>
        <p:nvSpPr>
          <p:cNvPr id="4" name="Marcador de número de diapositiva 3"/>
          <p:cNvSpPr>
            <a:spLocks noGrp="1"/>
          </p:cNvSpPr>
          <p:nvPr>
            <p:ph type="sldNum" sz="quarter" idx="5"/>
          </p:nvPr>
        </p:nvSpPr>
        <p:spPr/>
        <p:txBody>
          <a:bodyPr/>
          <a:lstStyle/>
          <a:p>
            <a:fld id="{F55D2763-7284-41DF-9978-055BA1A98F9F}" type="slidenum">
              <a:rPr lang="es-MX" smtClean="0"/>
              <a:t>10</a:t>
            </a:fld>
            <a:endParaRPr lang="es-MX"/>
          </a:p>
        </p:txBody>
      </p:sp>
    </p:spTree>
    <p:extLst>
      <p:ext uri="{BB962C8B-B14F-4D97-AF65-F5344CB8AC3E}">
        <p14:creationId xmlns:p14="http://schemas.microsoft.com/office/powerpoint/2010/main" val="7642022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buFont typeface="+mj-lt"/>
              <a:buNone/>
            </a:pPr>
            <a:r>
              <a:rPr lang="es-MX" sz="1200" dirty="0">
                <a:effectLst/>
                <a:latin typeface="TimesNewRomanPSMT" panose="02020603050405020304" pitchFamily="18" charset="0"/>
              </a:rPr>
              <a:t>Una tendencia en los S. O. modernos es la de explotar la idea de mover el código a capas superiores y mantener un </a:t>
            </a:r>
            <a:r>
              <a:rPr lang="es-MX" sz="1200" b="1" dirty="0">
                <a:effectLst/>
                <a:latin typeface="TimesNewRomanPS"/>
              </a:rPr>
              <a:t>núcleo mínimo</a:t>
            </a:r>
            <a:r>
              <a:rPr lang="es-MX" sz="1200" dirty="0">
                <a:effectLst/>
                <a:latin typeface="TimesNewRomanPSMT" panose="02020603050405020304" pitchFamily="18" charset="0"/>
              </a:rPr>
              <a:t>, de manera similar al “VM/370”. </a:t>
            </a:r>
            <a:endParaRPr lang="es-MX" dirty="0">
              <a:effectLst/>
            </a:endParaRPr>
          </a:p>
          <a:p>
            <a:pPr>
              <a:buFont typeface="+mj-lt"/>
              <a:buNone/>
            </a:pPr>
            <a:r>
              <a:rPr lang="es-MX" sz="1200" dirty="0">
                <a:effectLst/>
                <a:latin typeface="TimesNewRomanPSMT" panose="02020603050405020304" pitchFamily="18" charset="0"/>
              </a:rPr>
              <a:t>Implantar la mayoría de las funciones del S. O. en los procesos del usuario. </a:t>
            </a:r>
            <a:endParaRPr lang="es-MX" dirty="0">
              <a:effectLst/>
            </a:endParaRPr>
          </a:p>
          <a:p>
            <a:endParaRPr lang="es-MX" dirty="0"/>
          </a:p>
          <a:p>
            <a:r>
              <a:rPr lang="es-MX" sz="1200" dirty="0">
                <a:effectLst/>
                <a:latin typeface="TimesNewRomanPSMT" panose="02020603050405020304" pitchFamily="18" charset="0"/>
              </a:rPr>
              <a:t>Para solicitar un servicio (por ej.: lectura de un bloque de cierto archivo) según el modelo cliente - servidor: (ver Figura </a:t>
            </a:r>
            <a:r>
              <a:rPr lang="es-MX" sz="1200" dirty="0">
                <a:solidFill>
                  <a:srgbClr val="0000FF"/>
                </a:solidFill>
                <a:effectLst/>
                <a:latin typeface="TimesNewRomanPSMT" panose="02020603050405020304" pitchFamily="18" charset="0"/>
              </a:rPr>
              <a:t>[23, Tanenbaum]</a:t>
            </a:r>
            <a:r>
              <a:rPr lang="es-MX" sz="1200" dirty="0">
                <a:effectLst/>
                <a:latin typeface="TimesNewRomanPSMT" panose="02020603050405020304" pitchFamily="18" charset="0"/>
              </a:rPr>
              <a:t>). </a:t>
            </a:r>
            <a:endParaRPr lang="es-MX" dirty="0"/>
          </a:p>
          <a:p>
            <a:endParaRPr lang="es-MX" dirty="0"/>
          </a:p>
          <a:p>
            <a:r>
              <a:rPr lang="es-MX" sz="1200" kern="1200" dirty="0">
                <a:solidFill>
                  <a:schemeClr val="tx1"/>
                </a:solidFill>
                <a:effectLst/>
                <a:latin typeface="+mn-lt"/>
                <a:ea typeface="+mn-ea"/>
                <a:cs typeface="+mn-cs"/>
              </a:rPr>
              <a:t>El proceso del usuario (</a:t>
            </a:r>
            <a:r>
              <a:rPr lang="es-MX" sz="1200" b="1" kern="1200" dirty="0">
                <a:solidFill>
                  <a:schemeClr val="tx1"/>
                </a:solidFill>
                <a:effectLst/>
                <a:latin typeface="+mn-lt"/>
                <a:ea typeface="+mn-ea"/>
                <a:cs typeface="+mn-cs"/>
              </a:rPr>
              <a:t>proceso cliente</a:t>
            </a:r>
            <a:r>
              <a:rPr lang="es-MX" sz="1200" kern="1200" dirty="0">
                <a:solidFill>
                  <a:schemeClr val="tx1"/>
                </a:solidFill>
                <a:effectLst/>
                <a:latin typeface="+mn-lt"/>
                <a:ea typeface="+mn-ea"/>
                <a:cs typeface="+mn-cs"/>
              </a:rPr>
              <a:t>) envía la solicitud a un </a:t>
            </a:r>
            <a:r>
              <a:rPr lang="es-MX" sz="1200" b="1" kern="1200" dirty="0">
                <a:solidFill>
                  <a:schemeClr val="tx1"/>
                </a:solidFill>
                <a:effectLst/>
                <a:latin typeface="+mn-lt"/>
                <a:ea typeface="+mn-ea"/>
                <a:cs typeface="+mn-cs"/>
              </a:rPr>
              <a:t>proceso servidor</a:t>
            </a:r>
            <a:r>
              <a:rPr lang="es-MX" sz="1200" kern="1200" dirty="0">
                <a:solidFill>
                  <a:schemeClr val="tx1"/>
                </a:solidFill>
                <a:effectLst/>
                <a:latin typeface="+mn-lt"/>
                <a:ea typeface="+mn-ea"/>
                <a:cs typeface="+mn-cs"/>
              </a:rPr>
              <a:t>: </a:t>
            </a:r>
          </a:p>
          <a:p>
            <a:r>
              <a:rPr lang="es-MX" sz="1200" kern="1200" dirty="0">
                <a:solidFill>
                  <a:schemeClr val="tx1"/>
                </a:solidFill>
                <a:effectLst/>
                <a:latin typeface="+mn-lt"/>
                <a:ea typeface="+mn-ea"/>
                <a:cs typeface="+mn-cs"/>
              </a:rPr>
              <a:t>Realiza el trabajo y regresa la respuesta.</a:t>
            </a:r>
            <a:br>
              <a:rPr lang="es-MX" sz="1200" kern="1200" dirty="0">
                <a:solidFill>
                  <a:schemeClr val="tx1"/>
                </a:solidFill>
                <a:effectLst/>
                <a:latin typeface="+mn-lt"/>
                <a:ea typeface="+mn-ea"/>
                <a:cs typeface="+mn-cs"/>
              </a:rPr>
            </a:br>
            <a:r>
              <a:rPr lang="es-MX" sz="1200" kern="1200" dirty="0">
                <a:solidFill>
                  <a:schemeClr val="tx1"/>
                </a:solidFill>
                <a:effectLst/>
                <a:latin typeface="+mn-lt"/>
                <a:ea typeface="+mn-ea"/>
                <a:cs typeface="+mn-cs"/>
              </a:rPr>
              <a:t>El núcleo controla la comunicación entre los clientes y los servidores. </a:t>
            </a:r>
          </a:p>
          <a:p>
            <a:endParaRPr lang="es-MX" dirty="0"/>
          </a:p>
          <a:p>
            <a:r>
              <a:rPr lang="es-MX" sz="1200" kern="1200" dirty="0">
                <a:solidFill>
                  <a:schemeClr val="tx1"/>
                </a:solidFill>
                <a:effectLst/>
                <a:latin typeface="+mn-lt"/>
                <a:ea typeface="+mn-ea"/>
                <a:cs typeface="+mn-cs"/>
              </a:rPr>
              <a:t>Se fracciona el S. O. en partes, cada una controlando una faceta: </a:t>
            </a:r>
            <a:endParaRPr lang="es-MX" dirty="0"/>
          </a:p>
          <a:p>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Servicio a archivos, a procesos, a terminales, a memoria, etc., cada parte pequeña y más fácilmente controlable.</a:t>
            </a:r>
            <a:br>
              <a:rPr lang="es-MX" sz="1200" kern="1200" dirty="0">
                <a:solidFill>
                  <a:schemeClr val="tx1"/>
                </a:solidFill>
                <a:effectLst/>
                <a:latin typeface="+mn-lt"/>
                <a:ea typeface="+mn-ea"/>
                <a:cs typeface="+mn-cs"/>
              </a:rPr>
            </a:br>
            <a:endParaRPr lang="es-MX" sz="1200" kern="1200" dirty="0">
              <a:solidFill>
                <a:schemeClr val="tx1"/>
              </a:solidFill>
              <a:effectLst/>
              <a:latin typeface="+mn-lt"/>
              <a:ea typeface="+mn-ea"/>
              <a:cs typeface="+mn-cs"/>
            </a:endParaRPr>
          </a:p>
          <a:p>
            <a:r>
              <a:rPr lang="es-MX" sz="1200" kern="1200" dirty="0">
                <a:solidFill>
                  <a:schemeClr val="tx1"/>
                </a:solidFill>
                <a:effectLst/>
                <a:latin typeface="+mn-lt"/>
                <a:ea typeface="+mn-ea"/>
                <a:cs typeface="+mn-cs"/>
              </a:rPr>
              <a:t>Los servidores se ejecutan como procesos en modo usuario: </a:t>
            </a:r>
            <a:endParaRPr lang="es-MX" dirty="0"/>
          </a:p>
          <a:p>
            <a:r>
              <a:rPr lang="es-MX" sz="1200" kern="1200" dirty="0">
                <a:solidFill>
                  <a:schemeClr val="tx1"/>
                </a:solidFill>
                <a:effectLst/>
                <a:latin typeface="+mn-lt"/>
                <a:ea typeface="+mn-ea"/>
                <a:cs typeface="+mn-cs"/>
              </a:rPr>
              <a:t>   -No tienen acceso directo al hardware. </a:t>
            </a:r>
          </a:p>
          <a:p>
            <a:r>
              <a:rPr lang="es-MX" sz="1200" kern="1200" dirty="0">
                <a:solidFill>
                  <a:schemeClr val="tx1"/>
                </a:solidFill>
                <a:effectLst/>
                <a:latin typeface="+mn-lt"/>
                <a:ea typeface="+mn-ea"/>
                <a:cs typeface="+mn-cs"/>
              </a:rPr>
              <a:t>   -Se aíslan y acotan más fácilmente los problemas. </a:t>
            </a:r>
          </a:p>
          <a:p>
            <a:endParaRPr lang="es-MX" dirty="0"/>
          </a:p>
        </p:txBody>
      </p:sp>
      <p:sp>
        <p:nvSpPr>
          <p:cNvPr id="4" name="Marcador de número de diapositiva 3"/>
          <p:cNvSpPr>
            <a:spLocks noGrp="1"/>
          </p:cNvSpPr>
          <p:nvPr>
            <p:ph type="sldNum" sz="quarter" idx="5"/>
          </p:nvPr>
        </p:nvSpPr>
        <p:spPr/>
        <p:txBody>
          <a:bodyPr/>
          <a:lstStyle/>
          <a:p>
            <a:fld id="{F55D2763-7284-41DF-9978-055BA1A98F9F}" type="slidenum">
              <a:rPr lang="es-MX" smtClean="0"/>
              <a:t>11</a:t>
            </a:fld>
            <a:endParaRPr lang="es-MX"/>
          </a:p>
        </p:txBody>
      </p:sp>
    </p:spTree>
    <p:extLst>
      <p:ext uri="{BB962C8B-B14F-4D97-AF65-F5344CB8AC3E}">
        <p14:creationId xmlns:p14="http://schemas.microsoft.com/office/powerpoint/2010/main" val="37038865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MX" sz="1200" kern="1200" dirty="0">
                <a:solidFill>
                  <a:schemeClr val="tx1"/>
                </a:solidFill>
                <a:effectLst/>
                <a:latin typeface="+mn-lt"/>
                <a:ea typeface="+mn-ea"/>
                <a:cs typeface="+mn-cs"/>
              </a:rPr>
              <a:t>Se adapta para su uso en los sistemas distribuidos: </a:t>
            </a:r>
            <a:endParaRPr lang="es-MX" dirty="0">
              <a:effectLst/>
            </a:endParaRPr>
          </a:p>
          <a:p>
            <a:r>
              <a:rPr lang="es-MX" sz="1200" dirty="0">
                <a:effectLst/>
                <a:latin typeface="TimesNewRomanPSMT" panose="02020603050405020304" pitchFamily="18" charset="0"/>
              </a:rPr>
              <a:t>Si un cliente se comunica con un servidor mediante mensajes: </a:t>
            </a:r>
            <a:endParaRPr lang="es-MX" dirty="0"/>
          </a:p>
          <a:p>
            <a:pPr>
              <a:buFont typeface="Arial" panose="020B0604020202020204" pitchFamily="34" charset="0"/>
              <a:buChar char="•"/>
            </a:pPr>
            <a:r>
              <a:rPr lang="es-MX" sz="1200" dirty="0">
                <a:effectLst/>
                <a:latin typeface="TimesNewRomanPSMT" panose="02020603050405020304" pitchFamily="18" charset="0"/>
              </a:rPr>
              <a:t>No necesita saber si el mensaje se atiende localmente o mediante un servidor remoto, situado en otra máquina conectada. </a:t>
            </a:r>
            <a:endParaRPr lang="es-MX" sz="1000" dirty="0">
              <a:effectLst/>
              <a:latin typeface="SymbolMT"/>
            </a:endParaRPr>
          </a:p>
          <a:p>
            <a:pPr>
              <a:buFont typeface="Arial" panose="020B0604020202020204" pitchFamily="34" charset="0"/>
              <a:buChar char="•"/>
            </a:pPr>
            <a:r>
              <a:rPr lang="es-MX" sz="1200" dirty="0">
                <a:effectLst/>
                <a:latin typeface="TimesNewRomanPSMT" panose="02020603050405020304" pitchFamily="18" charset="0"/>
              </a:rPr>
              <a:t>Envía una solicitud y obtiene una respuesta. </a:t>
            </a:r>
            <a:endParaRPr lang="es-MX" sz="1000" dirty="0">
              <a:effectLst/>
              <a:latin typeface="SymbolMT"/>
            </a:endParaRPr>
          </a:p>
          <a:p>
            <a:r>
              <a:rPr lang="es-MX" sz="1200" dirty="0">
                <a:effectLst/>
                <a:latin typeface="TimesNewRomanPSMT" panose="02020603050405020304" pitchFamily="18" charset="0"/>
              </a:rPr>
              <a:t>Algunas funciones del S. O., por ej. el cargado de comandos en los registros físicos del dispositivo de e / s, presentan problemas especiales y distintas soluciones: </a:t>
            </a:r>
            <a:endParaRPr lang="es-MX" dirty="0"/>
          </a:p>
          <a:p>
            <a:pPr>
              <a:buFont typeface="Arial" panose="020B0604020202020204" pitchFamily="34" charset="0"/>
              <a:buChar char="•"/>
            </a:pPr>
            <a:r>
              <a:rPr lang="es-MX" sz="1200" dirty="0">
                <a:effectLst/>
                <a:latin typeface="TimesNewRomanPSMT" panose="02020603050405020304" pitchFamily="18" charset="0"/>
              </a:rPr>
              <a:t>Ejecución en modo núcleo, con acceso total al hardware y comunicación con los demás procesos mediante el mecanismo normal de mensajes. </a:t>
            </a:r>
            <a:endParaRPr lang="es-MX" sz="1000" dirty="0">
              <a:effectLst/>
              <a:latin typeface="SymbolMT"/>
            </a:endParaRPr>
          </a:p>
          <a:p>
            <a:pPr>
              <a:buFont typeface="Arial" panose="020B0604020202020204" pitchFamily="34" charset="0"/>
              <a:buChar char="•"/>
            </a:pPr>
            <a:r>
              <a:rPr lang="es-MX" sz="1200" dirty="0">
                <a:effectLst/>
                <a:latin typeface="TimesNewRomanPSMT" panose="02020603050405020304" pitchFamily="18" charset="0"/>
              </a:rPr>
              <a:t>Construcción de un mínimo de </a:t>
            </a:r>
            <a:r>
              <a:rPr lang="es-MX" sz="1200" b="1" dirty="0">
                <a:effectLst/>
                <a:latin typeface="TimesNewRomanPS"/>
              </a:rPr>
              <a:t>mecanismos </a:t>
            </a:r>
            <a:r>
              <a:rPr lang="es-MX" sz="1200" dirty="0">
                <a:effectLst/>
                <a:latin typeface="TimesNewRomanPSMT" panose="02020603050405020304" pitchFamily="18" charset="0"/>
              </a:rPr>
              <a:t>dentro del núcleo manteniendo las decisiones de </a:t>
            </a:r>
            <a:r>
              <a:rPr lang="es-MX" sz="1200" b="1" dirty="0">
                <a:effectLst/>
                <a:latin typeface="TimesNewRomanPS"/>
              </a:rPr>
              <a:t>política </a:t>
            </a:r>
            <a:r>
              <a:rPr lang="es-MX" sz="1200" dirty="0">
                <a:effectLst/>
                <a:latin typeface="TimesNewRomanPSMT" panose="02020603050405020304" pitchFamily="18" charset="0"/>
              </a:rPr>
              <a:t>relativas a los usuarios dentro del espacio del usuario. </a:t>
            </a:r>
            <a:endParaRPr lang="es-MX" sz="1000" dirty="0">
              <a:effectLst/>
              <a:latin typeface="SymbolMT"/>
            </a:endParaRPr>
          </a:p>
          <a:p>
            <a:endParaRPr lang="es-MX" dirty="0"/>
          </a:p>
        </p:txBody>
      </p:sp>
      <p:sp>
        <p:nvSpPr>
          <p:cNvPr id="4" name="Marcador de número de diapositiva 3"/>
          <p:cNvSpPr>
            <a:spLocks noGrp="1"/>
          </p:cNvSpPr>
          <p:nvPr>
            <p:ph type="sldNum" sz="quarter" idx="5"/>
          </p:nvPr>
        </p:nvSpPr>
        <p:spPr/>
        <p:txBody>
          <a:bodyPr/>
          <a:lstStyle/>
          <a:p>
            <a:fld id="{F55D2763-7284-41DF-9978-055BA1A98F9F}" type="slidenum">
              <a:rPr lang="es-MX" smtClean="0"/>
              <a:t>13</a:t>
            </a:fld>
            <a:endParaRPr lang="es-MX"/>
          </a:p>
        </p:txBody>
      </p:sp>
    </p:spTree>
    <p:extLst>
      <p:ext uri="{BB962C8B-B14F-4D97-AF65-F5344CB8AC3E}">
        <p14:creationId xmlns:p14="http://schemas.microsoft.com/office/powerpoint/2010/main" val="38443458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 typeface="Arial" panose="020B0604020202020204" pitchFamily="34" charset="0"/>
              <a:buNone/>
            </a:pPr>
            <a:r>
              <a:rPr lang="es-MX" sz="1200" dirty="0">
                <a:effectLst/>
                <a:latin typeface="TimesNewRomanPSMT" panose="02020603050405020304" pitchFamily="18" charset="0"/>
              </a:rPr>
              <a:t>Las principales tendencias en S. O. son las siguientes </a:t>
            </a:r>
            <a:r>
              <a:rPr lang="es-MX" sz="1200" dirty="0">
                <a:solidFill>
                  <a:srgbClr val="0000FF"/>
                </a:solidFill>
                <a:effectLst/>
                <a:latin typeface="TimesNewRomanPSMT" panose="02020603050405020304" pitchFamily="18" charset="0"/>
              </a:rPr>
              <a:t>[7, Deitel]</a:t>
            </a:r>
            <a:r>
              <a:rPr lang="es-MX" sz="1200" dirty="0">
                <a:effectLst/>
                <a:latin typeface="TimesNewRomanPSMT" panose="02020603050405020304" pitchFamily="18" charset="0"/>
              </a:rPr>
              <a:t>:</a:t>
            </a:r>
            <a:br>
              <a:rPr lang="es-MX" sz="1200" dirty="0">
                <a:effectLst/>
                <a:latin typeface="TimesNewRomanPSMT" panose="02020603050405020304" pitchFamily="18" charset="0"/>
              </a:rPr>
            </a:br>
            <a:endParaRPr lang="es-MX" sz="1200" dirty="0">
              <a:effectLst/>
              <a:latin typeface="TimesNewRomanPSMT" panose="02020603050405020304" pitchFamily="18" charset="0"/>
            </a:endParaRPr>
          </a:p>
          <a:p>
            <a:pPr marL="628650" lvl="1" indent="-171450">
              <a:buFont typeface="Arial" panose="020B0604020202020204" pitchFamily="34" charset="0"/>
              <a:buChar char="•"/>
            </a:pPr>
            <a:r>
              <a:rPr lang="es-MX" sz="1200" dirty="0">
                <a:effectLst/>
                <a:latin typeface="TimesNewRomanPSMT" panose="02020603050405020304" pitchFamily="18" charset="0"/>
              </a:rPr>
              <a:t>Soporte generalizado para multiprocesamiento.</a:t>
            </a:r>
            <a:br>
              <a:rPr lang="es-MX" sz="1200" dirty="0">
                <a:effectLst/>
                <a:latin typeface="TimesNewRomanPSMT" panose="02020603050405020304" pitchFamily="18" charset="0"/>
              </a:rPr>
            </a:br>
            <a:r>
              <a:rPr lang="es-MX" sz="1200" dirty="0">
                <a:effectLst/>
                <a:latin typeface="TimesNewRomanPSMT" panose="02020603050405020304" pitchFamily="18" charset="0"/>
              </a:rPr>
              <a:t>Migración hacia el microcódigo de funciones de los S. O. realizadas por software. </a:t>
            </a:r>
          </a:p>
          <a:p>
            <a:pPr marL="628650" lvl="1" indent="-171450">
              <a:buFont typeface="Arial" panose="020B0604020202020204" pitchFamily="34" charset="0"/>
              <a:buChar char="•"/>
            </a:pPr>
            <a:r>
              <a:rPr lang="es-MX" sz="1200" dirty="0">
                <a:effectLst/>
                <a:latin typeface="TimesNewRomanPSMT" panose="02020603050405020304" pitchFamily="18" charset="0"/>
              </a:rPr>
              <a:t>Distribución del control entre procesadores localizados.</a:t>
            </a:r>
            <a:br>
              <a:rPr lang="es-MX" sz="1200" dirty="0">
                <a:effectLst/>
                <a:latin typeface="TimesNewRomanPSMT" panose="02020603050405020304" pitchFamily="18" charset="0"/>
              </a:rPr>
            </a:br>
            <a:r>
              <a:rPr lang="es-MX" sz="1200" dirty="0">
                <a:effectLst/>
                <a:latin typeface="TimesNewRomanPSMT" panose="02020603050405020304" pitchFamily="18" charset="0"/>
              </a:rPr>
              <a:t>Mejora de la eficiencia en el soporte de la ejecución concurrente de programas. </a:t>
            </a:r>
          </a:p>
          <a:p>
            <a:pPr marL="628650" lvl="1" indent="-171450">
              <a:buFont typeface="Arial" panose="020B0604020202020204" pitchFamily="34" charset="0"/>
              <a:buChar char="•"/>
            </a:pPr>
            <a:r>
              <a:rPr lang="es-MX" sz="1200" dirty="0">
                <a:effectLst/>
                <a:latin typeface="TimesNewRomanPSMT" panose="02020603050405020304" pitchFamily="18" charset="0"/>
              </a:rPr>
              <a:t>Soporte del paralelismo masivo con altísimo grado de concurrencia. </a:t>
            </a:r>
          </a:p>
          <a:p>
            <a:pPr marL="628650" lvl="1" indent="-171450">
              <a:buFont typeface="Arial" panose="020B0604020202020204" pitchFamily="34" charset="0"/>
              <a:buChar char="•"/>
            </a:pPr>
            <a:r>
              <a:rPr lang="es-MX" sz="1200" dirty="0">
                <a:effectLst/>
                <a:latin typeface="TimesNewRomanPSMT" panose="02020603050405020304" pitchFamily="18" charset="0"/>
              </a:rPr>
              <a:t>Profundización de los esquemas de máquinas virtuales. </a:t>
            </a:r>
            <a:endParaRPr lang="es-MX" dirty="0">
              <a:effectLst/>
            </a:endParaRPr>
          </a:p>
          <a:p>
            <a:pPr marL="0" indent="0">
              <a:buFont typeface="Arial" panose="020B0604020202020204" pitchFamily="34" charset="0"/>
              <a:buNone/>
            </a:pPr>
            <a:endParaRPr lang="es-MX" sz="1200" dirty="0">
              <a:effectLst/>
              <a:latin typeface="TimesNewRomanPSMT" panose="02020603050405020304" pitchFamily="18" charset="0"/>
            </a:endParaRPr>
          </a:p>
          <a:p>
            <a:pPr marL="0" indent="0">
              <a:buFont typeface="Arial" panose="020B0604020202020204" pitchFamily="34" charset="0"/>
              <a:buNone/>
            </a:pPr>
            <a:r>
              <a:rPr lang="es-MX" sz="1200" dirty="0">
                <a:effectLst/>
                <a:latin typeface="TimesNewRomanPSMT" panose="02020603050405020304" pitchFamily="18" charset="0"/>
              </a:rPr>
              <a:t>Continuación del esquema de familias de S. O. para familias de computadoras, viendo las aplicaciones </a:t>
            </a:r>
            <a:r>
              <a:rPr lang="es-MX" sz="1200" i="1" dirty="0">
                <a:effectLst/>
                <a:latin typeface="TimesNewRomanPS"/>
              </a:rPr>
              <a:t>máquinas virtuales. </a:t>
            </a:r>
            <a:endParaRPr lang="es-MX" dirty="0">
              <a:effectLst/>
            </a:endParaRPr>
          </a:p>
          <a:p>
            <a:pPr marL="0" indent="0">
              <a:buFont typeface="Arial" panose="020B0604020202020204" pitchFamily="34" charset="0"/>
              <a:buNone/>
            </a:pPr>
            <a:endParaRPr lang="es-MX" sz="1200" dirty="0">
              <a:effectLst/>
              <a:latin typeface="TimesNewRomanPSMT" panose="02020603050405020304" pitchFamily="18" charset="0"/>
            </a:endParaRPr>
          </a:p>
          <a:p>
            <a:pPr marL="0" indent="0">
              <a:buFont typeface="Arial" panose="020B0604020202020204" pitchFamily="34" charset="0"/>
              <a:buNone/>
            </a:pPr>
            <a:r>
              <a:rPr lang="es-MX" sz="1200" dirty="0">
                <a:effectLst/>
                <a:latin typeface="TimesNewRomanPSMT" panose="02020603050405020304" pitchFamily="18" charset="0"/>
              </a:rPr>
              <a:t>Compatibilidad con nuevas generaciones de computadoras. </a:t>
            </a:r>
            <a:endParaRPr lang="es-MX" dirty="0">
              <a:effectLst/>
            </a:endParaRPr>
          </a:p>
          <a:p>
            <a:pPr marL="0" indent="0">
              <a:buFont typeface="Arial" panose="020B0604020202020204" pitchFamily="34" charset="0"/>
              <a:buNone/>
            </a:pPr>
            <a:endParaRPr lang="es-MX" sz="1200" dirty="0">
              <a:effectLst/>
              <a:latin typeface="TimesNewRomanPSMT" panose="02020603050405020304" pitchFamily="18" charset="0"/>
            </a:endParaRPr>
          </a:p>
          <a:p>
            <a:pPr marL="0" indent="0">
              <a:buFont typeface="Arial" panose="020B0604020202020204" pitchFamily="34" charset="0"/>
              <a:buNone/>
            </a:pPr>
            <a:r>
              <a:rPr lang="es-MX" sz="1200" dirty="0">
                <a:effectLst/>
                <a:latin typeface="TimesNewRomanPSMT" panose="02020603050405020304" pitchFamily="18" charset="0"/>
              </a:rPr>
              <a:t>Desarrollos en la ingeniería de software para brindar S. O. más preservables, confiables y comprensibles. </a:t>
            </a:r>
            <a:endParaRPr lang="es-MX" dirty="0">
              <a:effectLst/>
            </a:endParaRPr>
          </a:p>
          <a:p>
            <a:pPr marL="0" indent="0">
              <a:buFont typeface="Arial" panose="020B0604020202020204" pitchFamily="34" charset="0"/>
              <a:buNone/>
            </a:pPr>
            <a:endParaRPr lang="es-MX" sz="1200" dirty="0">
              <a:effectLst/>
              <a:latin typeface="TimesNewRomanPSMT" panose="02020603050405020304" pitchFamily="18" charset="0"/>
            </a:endParaRPr>
          </a:p>
          <a:p>
            <a:pPr marL="0" indent="0">
              <a:buFont typeface="Arial" panose="020B0604020202020204" pitchFamily="34" charset="0"/>
              <a:buNone/>
            </a:pPr>
            <a:r>
              <a:rPr lang="es-MX" sz="1200" dirty="0">
                <a:effectLst/>
                <a:latin typeface="TimesNewRomanPSMT" panose="02020603050405020304" pitchFamily="18" charset="0"/>
              </a:rPr>
              <a:t>Proliferación de redes de sistemas, distribuyendo tareas en equipos sobre los que el usuario puede no tener conocimiento ni control con énfasis en la importancia de la perspectiva de las máquinas virtuales. </a:t>
            </a:r>
            <a:endParaRPr lang="es-MX" dirty="0">
              <a:effectLst/>
            </a:endParaRPr>
          </a:p>
          <a:p>
            <a:pPr marL="0" indent="0">
              <a:buFont typeface="Arial" panose="020B0604020202020204" pitchFamily="34" charset="0"/>
              <a:buNone/>
            </a:pPr>
            <a:endParaRPr lang="es-MX" sz="1200" dirty="0">
              <a:effectLst/>
              <a:latin typeface="TimesNewRomanPSMT" panose="02020603050405020304" pitchFamily="18" charset="0"/>
            </a:endParaRPr>
          </a:p>
          <a:p>
            <a:pPr marL="0" indent="0">
              <a:buFont typeface="Arial" panose="020B0604020202020204" pitchFamily="34" charset="0"/>
              <a:buNone/>
            </a:pPr>
            <a:r>
              <a:rPr lang="es-MX" sz="1200" dirty="0">
                <a:effectLst/>
                <a:latin typeface="TimesNewRomanPSMT" panose="02020603050405020304" pitchFamily="18" charset="0"/>
              </a:rPr>
              <a:t>Permanencia del concepto de almacenamiento virtual. </a:t>
            </a:r>
            <a:endParaRPr lang="es-MX" dirty="0">
              <a:effectLst/>
            </a:endParaRPr>
          </a:p>
          <a:p>
            <a:pPr marL="0" indent="0">
              <a:buFont typeface="Arial" panose="020B0604020202020204" pitchFamily="34" charset="0"/>
              <a:buNone/>
            </a:pPr>
            <a:endParaRPr lang="es-MX" sz="1200" dirty="0">
              <a:effectLst/>
              <a:latin typeface="TimesNewRomanPSMT" panose="02020603050405020304" pitchFamily="18" charset="0"/>
            </a:endParaRPr>
          </a:p>
          <a:p>
            <a:pPr marL="0" indent="0">
              <a:buFont typeface="Arial" panose="020B0604020202020204" pitchFamily="34" charset="0"/>
              <a:buNone/>
            </a:pPr>
            <a:r>
              <a:rPr lang="es-MX" sz="1200" dirty="0">
                <a:effectLst/>
                <a:latin typeface="TimesNewRomanPSMT" panose="02020603050405020304" pitchFamily="18" charset="0"/>
              </a:rPr>
              <a:t>Permanencia de la perspectiva del S. O. como administrador de recursos, teniendo presente que los datos serán considerados cada vez más como un recurso para ser administrado. </a:t>
            </a:r>
            <a:endParaRPr lang="es-MX" dirty="0">
              <a:effectLst/>
            </a:endParaRPr>
          </a:p>
          <a:p>
            <a:pPr marL="0" indent="0">
              <a:buFont typeface="Arial" panose="020B0604020202020204" pitchFamily="34" charset="0"/>
              <a:buNone/>
            </a:pPr>
            <a:endParaRPr lang="es-MX" sz="1200" dirty="0">
              <a:effectLst/>
              <a:latin typeface="TimesNewRomanPSMT" panose="02020603050405020304" pitchFamily="18" charset="0"/>
            </a:endParaRPr>
          </a:p>
          <a:p>
            <a:pPr marL="0" indent="0">
              <a:buFont typeface="Arial" panose="020B0604020202020204" pitchFamily="34" charset="0"/>
              <a:buNone/>
            </a:pPr>
            <a:r>
              <a:rPr lang="es-MX" sz="1200" dirty="0">
                <a:effectLst/>
                <a:latin typeface="TimesNewRomanPSMT" panose="02020603050405020304" pitchFamily="18" charset="0"/>
              </a:rPr>
              <a:t>Profundización del desarrollo de S. O. con funciones distribuidas entre varios procesadores a través de grandes redes de sistemas </a:t>
            </a:r>
            <a:r>
              <a:rPr lang="es-MX" sz="1200" dirty="0">
                <a:solidFill>
                  <a:srgbClr val="0000FF"/>
                </a:solidFill>
                <a:effectLst/>
                <a:latin typeface="TimesNewRomanPSMT" panose="02020603050405020304" pitchFamily="18" charset="0"/>
              </a:rPr>
              <a:t>[26, Tanenbaum]</a:t>
            </a:r>
            <a:r>
              <a:rPr lang="es-MX" sz="1200" dirty="0">
                <a:effectLst/>
                <a:latin typeface="TimesNewRomanPSMT" panose="02020603050405020304" pitchFamily="18" charset="0"/>
              </a:rPr>
              <a:t>. </a:t>
            </a:r>
            <a:endParaRPr lang="es-MX" dirty="0">
              <a:effectLst/>
            </a:endParaRPr>
          </a:p>
          <a:p>
            <a:pPr marL="0" indent="0">
              <a:buFont typeface="Arial" panose="020B0604020202020204" pitchFamily="34" charset="0"/>
              <a:buNone/>
            </a:pPr>
            <a:endParaRPr lang="es-MX" dirty="0"/>
          </a:p>
        </p:txBody>
      </p:sp>
      <p:sp>
        <p:nvSpPr>
          <p:cNvPr id="4" name="Marcador de número de diapositiva 3"/>
          <p:cNvSpPr>
            <a:spLocks noGrp="1"/>
          </p:cNvSpPr>
          <p:nvPr>
            <p:ph type="sldNum" sz="quarter" idx="5"/>
          </p:nvPr>
        </p:nvSpPr>
        <p:spPr/>
        <p:txBody>
          <a:bodyPr/>
          <a:lstStyle/>
          <a:p>
            <a:fld id="{F55D2763-7284-41DF-9978-055BA1A98F9F}" type="slidenum">
              <a:rPr lang="es-MX" smtClean="0"/>
              <a:t>14</a:t>
            </a:fld>
            <a:endParaRPr lang="es-MX"/>
          </a:p>
        </p:txBody>
      </p:sp>
    </p:spTree>
    <p:extLst>
      <p:ext uri="{BB962C8B-B14F-4D97-AF65-F5344CB8AC3E}">
        <p14:creationId xmlns:p14="http://schemas.microsoft.com/office/powerpoint/2010/main" val="18953115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10"/>
          </p:nvPr>
        </p:nvSpPr>
        <p:spPr/>
        <p:txBody>
          <a:bodyPr/>
          <a:lstStyle/>
          <a:p>
            <a:fld id="{F55D2763-7284-41DF-9978-055BA1A98F9F}" type="slidenum">
              <a:rPr lang="es-MX" smtClean="0"/>
              <a:t>15</a:t>
            </a:fld>
            <a:endParaRPr lang="es-MX"/>
          </a:p>
        </p:txBody>
      </p:sp>
    </p:spTree>
    <p:extLst>
      <p:ext uri="{BB962C8B-B14F-4D97-AF65-F5344CB8AC3E}">
        <p14:creationId xmlns:p14="http://schemas.microsoft.com/office/powerpoint/2010/main" val="27970424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794F4C6F-C6D3-440A-9C89-1859DF739FBC}" type="datetime1">
              <a:rPr lang="es-MX" smtClean="0"/>
              <a:t>10/02/21</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2E239A93-5D5E-4798-80B0-904D2BCCAD25}" type="slidenum">
              <a:rPr lang="es-MX" smtClean="0"/>
              <a:t>‹Nº›</a:t>
            </a:fld>
            <a:endParaRPr lang="es-MX"/>
          </a:p>
        </p:txBody>
      </p:sp>
    </p:spTree>
    <p:extLst>
      <p:ext uri="{BB962C8B-B14F-4D97-AF65-F5344CB8AC3E}">
        <p14:creationId xmlns:p14="http://schemas.microsoft.com/office/powerpoint/2010/main" val="3700732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32D923F-79C8-4694-B7F8-2299079200E4}" type="datetime1">
              <a:rPr lang="es-MX" smtClean="0"/>
              <a:t>10/02/21</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2E239A93-5D5E-4798-80B0-904D2BCCAD25}" type="slidenum">
              <a:rPr lang="es-MX" smtClean="0"/>
              <a:t>‹Nº›</a:t>
            </a:fld>
            <a:endParaRPr lang="es-MX"/>
          </a:p>
        </p:txBody>
      </p:sp>
    </p:spTree>
    <p:extLst>
      <p:ext uri="{BB962C8B-B14F-4D97-AF65-F5344CB8AC3E}">
        <p14:creationId xmlns:p14="http://schemas.microsoft.com/office/powerpoint/2010/main" val="3191044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82166041-6DE2-4075-9CF7-876C0170BCCE}" type="datetime1">
              <a:rPr lang="es-MX" smtClean="0"/>
              <a:t>10/02/21</a:t>
            </a:fld>
            <a:endParaRPr lang="es-MX"/>
          </a:p>
        </p:txBody>
      </p:sp>
      <p:sp>
        <p:nvSpPr>
          <p:cNvPr id="5" name="Footer Placeholder 4"/>
          <p:cNvSpPr>
            <a:spLocks noGrp="1"/>
          </p:cNvSpPr>
          <p:nvPr>
            <p:ph type="ftr" sz="quarter" idx="11"/>
          </p:nvPr>
        </p:nvSpPr>
        <p:spPr/>
        <p:txBody>
          <a:bodyPr/>
          <a:lstStyle/>
          <a:p>
            <a:endParaRPr lang="es-MX"/>
          </a:p>
        </p:txBody>
      </p:sp>
      <p:sp>
        <p:nvSpPr>
          <p:cNvPr id="6" name="Slide Number Placeholder 5"/>
          <p:cNvSpPr>
            <a:spLocks noGrp="1"/>
          </p:cNvSpPr>
          <p:nvPr>
            <p:ph type="sldNum" sz="quarter" idx="12"/>
          </p:nvPr>
        </p:nvSpPr>
        <p:spPr/>
        <p:txBody>
          <a:bodyPr/>
          <a:lstStyle/>
          <a:p>
            <a:fld id="{2E239A93-5D5E-4798-80B0-904D2BCCAD25}" type="slidenum">
              <a:rPr lang="es-MX" smtClean="0"/>
              <a:t>‹Nº›</a:t>
            </a:fld>
            <a:endParaRPr lang="es-MX"/>
          </a:p>
        </p:txBody>
      </p:sp>
    </p:spTree>
    <p:extLst>
      <p:ext uri="{BB962C8B-B14F-4D97-AF65-F5344CB8AC3E}">
        <p14:creationId xmlns:p14="http://schemas.microsoft.com/office/powerpoint/2010/main" val="17163247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8" name="Date Placeholder 7"/>
          <p:cNvSpPr>
            <a:spLocks noGrp="1"/>
          </p:cNvSpPr>
          <p:nvPr>
            <p:ph type="dt" sz="half" idx="10"/>
          </p:nvPr>
        </p:nvSpPr>
        <p:spPr/>
        <p:txBody>
          <a:bodyPr/>
          <a:lstStyle/>
          <a:p>
            <a:fld id="{A0A6F0B4-8180-403F-BEEE-19DF48F90940}" type="datetime1">
              <a:rPr lang="es-MX" smtClean="0"/>
              <a:t>10/02/21</a:t>
            </a:fld>
            <a:endParaRPr lang="es-MX"/>
          </a:p>
        </p:txBody>
      </p:sp>
      <p:sp>
        <p:nvSpPr>
          <p:cNvPr id="9" name="Footer Placeholder 8"/>
          <p:cNvSpPr>
            <a:spLocks noGrp="1"/>
          </p:cNvSpPr>
          <p:nvPr>
            <p:ph type="ftr" sz="quarter" idx="11"/>
          </p:nvPr>
        </p:nvSpPr>
        <p:spPr/>
        <p:txBody>
          <a:bodyPr/>
          <a:lstStyle/>
          <a:p>
            <a:endParaRPr lang="es-MX"/>
          </a:p>
        </p:txBody>
      </p:sp>
      <p:sp>
        <p:nvSpPr>
          <p:cNvPr id="10" name="Slide Number Placeholder 9"/>
          <p:cNvSpPr>
            <a:spLocks noGrp="1"/>
          </p:cNvSpPr>
          <p:nvPr>
            <p:ph type="sldNum" sz="quarter" idx="12"/>
          </p:nvPr>
        </p:nvSpPr>
        <p:spPr/>
        <p:txBody>
          <a:bodyPr/>
          <a:lstStyle/>
          <a:p>
            <a:fld id="{2E239A93-5D5E-4798-80B0-904D2BCCAD25}" type="slidenum">
              <a:rPr lang="es-MX" smtClean="0"/>
              <a:t>‹Nº›</a:t>
            </a:fld>
            <a:endParaRPr lang="es-MX"/>
          </a:p>
        </p:txBody>
      </p:sp>
    </p:spTree>
    <p:extLst>
      <p:ext uri="{BB962C8B-B14F-4D97-AF65-F5344CB8AC3E}">
        <p14:creationId xmlns:p14="http://schemas.microsoft.com/office/powerpoint/2010/main" val="3296548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2" name="Date Placeholder 1"/>
          <p:cNvSpPr>
            <a:spLocks noGrp="1"/>
          </p:cNvSpPr>
          <p:nvPr>
            <p:ph type="dt" sz="half" idx="10"/>
          </p:nvPr>
        </p:nvSpPr>
        <p:spPr/>
        <p:txBody>
          <a:bodyPr/>
          <a:lstStyle/>
          <a:p>
            <a:fld id="{739A6214-58A7-4EAB-8170-1396EB1FC36C}" type="datetime1">
              <a:rPr lang="es-MX" smtClean="0"/>
              <a:t>10/02/21</a:t>
            </a:fld>
            <a:endParaRPr lang="es-MX"/>
          </a:p>
        </p:txBody>
      </p:sp>
      <p:sp>
        <p:nvSpPr>
          <p:cNvPr id="11" name="Footer Placeholder 10"/>
          <p:cNvSpPr>
            <a:spLocks noGrp="1"/>
          </p:cNvSpPr>
          <p:nvPr>
            <p:ph type="ftr" sz="quarter" idx="11"/>
          </p:nvPr>
        </p:nvSpPr>
        <p:spPr/>
        <p:txBody>
          <a:bodyPr/>
          <a:lstStyle/>
          <a:p>
            <a:endParaRPr lang="es-MX"/>
          </a:p>
        </p:txBody>
      </p:sp>
      <p:sp>
        <p:nvSpPr>
          <p:cNvPr id="12" name="Slide Number Placeholder 11"/>
          <p:cNvSpPr>
            <a:spLocks noGrp="1"/>
          </p:cNvSpPr>
          <p:nvPr>
            <p:ph type="sldNum" sz="quarter" idx="12"/>
          </p:nvPr>
        </p:nvSpPr>
        <p:spPr/>
        <p:txBody>
          <a:bodyPr/>
          <a:lstStyle/>
          <a:p>
            <a:fld id="{2E239A93-5D5E-4798-80B0-904D2BCCAD25}" type="slidenum">
              <a:rPr lang="es-MX" smtClean="0"/>
              <a:t>‹Nº›</a:t>
            </a:fld>
            <a:endParaRPr lang="es-MX"/>
          </a:p>
        </p:txBody>
      </p:sp>
    </p:spTree>
    <p:extLst>
      <p:ext uri="{BB962C8B-B14F-4D97-AF65-F5344CB8AC3E}">
        <p14:creationId xmlns:p14="http://schemas.microsoft.com/office/powerpoint/2010/main" val="7553768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a:t>Haga clic para modificar el estilo de título del patrón</a:t>
            </a:r>
            <a:endParaRPr lang="en-US" dirty="0"/>
          </a:p>
        </p:txBody>
      </p:sp>
      <p:sp>
        <p:nvSpPr>
          <p:cNvPr id="2" name="Date Placeholder 1"/>
          <p:cNvSpPr>
            <a:spLocks noGrp="1"/>
          </p:cNvSpPr>
          <p:nvPr>
            <p:ph type="dt" sz="half" idx="10"/>
          </p:nvPr>
        </p:nvSpPr>
        <p:spPr/>
        <p:txBody>
          <a:bodyPr/>
          <a:lstStyle/>
          <a:p>
            <a:fld id="{D6B9F178-B0CD-4A1E-AA68-3F01DB125705}" type="datetime1">
              <a:rPr lang="es-MX" smtClean="0"/>
              <a:t>10/02/21</a:t>
            </a:fld>
            <a:endParaRPr lang="es-MX"/>
          </a:p>
        </p:txBody>
      </p:sp>
      <p:sp>
        <p:nvSpPr>
          <p:cNvPr id="7" name="Footer Placeholder 6"/>
          <p:cNvSpPr>
            <a:spLocks noGrp="1"/>
          </p:cNvSpPr>
          <p:nvPr>
            <p:ph type="ftr" sz="quarter" idx="11"/>
          </p:nvPr>
        </p:nvSpPr>
        <p:spPr/>
        <p:txBody>
          <a:bodyPr/>
          <a:lstStyle/>
          <a:p>
            <a:endParaRPr lang="es-MX"/>
          </a:p>
        </p:txBody>
      </p:sp>
      <p:sp>
        <p:nvSpPr>
          <p:cNvPr id="8" name="Slide Number Placeholder 7"/>
          <p:cNvSpPr>
            <a:spLocks noGrp="1"/>
          </p:cNvSpPr>
          <p:nvPr>
            <p:ph type="sldNum" sz="quarter" idx="12"/>
          </p:nvPr>
        </p:nvSpPr>
        <p:spPr/>
        <p:txBody>
          <a:bodyPr/>
          <a:lstStyle/>
          <a:p>
            <a:fld id="{2E239A93-5D5E-4798-80B0-904D2BCCAD25}" type="slidenum">
              <a:rPr lang="es-MX" smtClean="0"/>
              <a:t>‹Nº›</a:t>
            </a:fld>
            <a:endParaRPr lang="es-MX"/>
          </a:p>
        </p:txBody>
      </p:sp>
    </p:spTree>
    <p:extLst>
      <p:ext uri="{BB962C8B-B14F-4D97-AF65-F5344CB8AC3E}">
        <p14:creationId xmlns:p14="http://schemas.microsoft.com/office/powerpoint/2010/main" val="3204023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42758924-EA16-467B-A6FD-3B60F93D77DE}" type="datetime1">
              <a:rPr lang="es-MX" smtClean="0"/>
              <a:t>10/02/21</a:t>
            </a:fld>
            <a:endParaRPr lang="es-MX"/>
          </a:p>
        </p:txBody>
      </p:sp>
      <p:sp>
        <p:nvSpPr>
          <p:cNvPr id="6" name="Footer Placeholder 5"/>
          <p:cNvSpPr>
            <a:spLocks noGrp="1"/>
          </p:cNvSpPr>
          <p:nvPr>
            <p:ph type="ftr" sz="quarter" idx="11"/>
          </p:nvPr>
        </p:nvSpPr>
        <p:spPr/>
        <p:txBody>
          <a:bodyPr/>
          <a:lstStyle/>
          <a:p>
            <a:endParaRPr lang="es-MX"/>
          </a:p>
        </p:txBody>
      </p:sp>
      <p:sp>
        <p:nvSpPr>
          <p:cNvPr id="7" name="Slide Number Placeholder 6"/>
          <p:cNvSpPr>
            <a:spLocks noGrp="1"/>
          </p:cNvSpPr>
          <p:nvPr>
            <p:ph type="sldNum" sz="quarter" idx="12"/>
          </p:nvPr>
        </p:nvSpPr>
        <p:spPr/>
        <p:txBody>
          <a:bodyPr/>
          <a:lstStyle/>
          <a:p>
            <a:fld id="{2E239A93-5D5E-4798-80B0-904D2BCCAD25}" type="slidenum">
              <a:rPr lang="es-MX" smtClean="0"/>
              <a:t>‹Nº›</a:t>
            </a:fld>
            <a:endParaRPr lang="es-MX"/>
          </a:p>
        </p:txBody>
      </p:sp>
    </p:spTree>
    <p:extLst>
      <p:ext uri="{BB962C8B-B14F-4D97-AF65-F5344CB8AC3E}">
        <p14:creationId xmlns:p14="http://schemas.microsoft.com/office/powerpoint/2010/main" val="757491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8" name="Date Placeholder 7"/>
          <p:cNvSpPr>
            <a:spLocks noGrp="1"/>
          </p:cNvSpPr>
          <p:nvPr>
            <p:ph type="dt" sz="half" idx="10"/>
          </p:nvPr>
        </p:nvSpPr>
        <p:spPr/>
        <p:txBody>
          <a:bodyPr/>
          <a:lstStyle/>
          <a:p>
            <a:fld id="{F46FE0F9-128E-43FC-8423-A9CF49E2B0ED}" type="datetime1">
              <a:rPr lang="es-MX" smtClean="0"/>
              <a:t>10/02/21</a:t>
            </a:fld>
            <a:endParaRPr lang="es-MX"/>
          </a:p>
        </p:txBody>
      </p:sp>
      <p:sp>
        <p:nvSpPr>
          <p:cNvPr id="9" name="Footer Placeholder 8"/>
          <p:cNvSpPr>
            <a:spLocks noGrp="1"/>
          </p:cNvSpPr>
          <p:nvPr>
            <p:ph type="ftr" sz="quarter" idx="11"/>
          </p:nvPr>
        </p:nvSpPr>
        <p:spPr/>
        <p:txBody>
          <a:bodyPr/>
          <a:lstStyle/>
          <a:p>
            <a:endParaRPr lang="es-MX"/>
          </a:p>
        </p:txBody>
      </p:sp>
      <p:sp>
        <p:nvSpPr>
          <p:cNvPr id="10" name="Slide Number Placeholder 9"/>
          <p:cNvSpPr>
            <a:spLocks noGrp="1"/>
          </p:cNvSpPr>
          <p:nvPr>
            <p:ph type="sldNum" sz="quarter" idx="12"/>
          </p:nvPr>
        </p:nvSpPr>
        <p:spPr/>
        <p:txBody>
          <a:bodyPr/>
          <a:lstStyle/>
          <a:p>
            <a:fld id="{2E239A93-5D5E-4798-80B0-904D2BCCAD25}" type="slidenum">
              <a:rPr lang="es-MX" smtClean="0"/>
              <a:t>‹Nº›</a:t>
            </a:fld>
            <a:endParaRPr lang="es-MX"/>
          </a:p>
        </p:txBody>
      </p:sp>
    </p:spTree>
    <p:extLst>
      <p:ext uri="{BB962C8B-B14F-4D97-AF65-F5344CB8AC3E}">
        <p14:creationId xmlns:p14="http://schemas.microsoft.com/office/powerpoint/2010/main" val="3040740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8" name="Date Placeholder 7"/>
          <p:cNvSpPr>
            <a:spLocks noGrp="1"/>
          </p:cNvSpPr>
          <p:nvPr>
            <p:ph type="dt" sz="half" idx="10"/>
          </p:nvPr>
        </p:nvSpPr>
        <p:spPr/>
        <p:txBody>
          <a:bodyPr/>
          <a:lstStyle/>
          <a:p>
            <a:fld id="{028D0194-6EEB-49FE-939C-BCA932091257}" type="datetime1">
              <a:rPr lang="es-MX" smtClean="0"/>
              <a:t>10/02/21</a:t>
            </a:fld>
            <a:endParaRPr lang="es-MX"/>
          </a:p>
        </p:txBody>
      </p:sp>
      <p:sp>
        <p:nvSpPr>
          <p:cNvPr id="9" name="Footer Placeholder 8"/>
          <p:cNvSpPr>
            <a:spLocks noGrp="1"/>
          </p:cNvSpPr>
          <p:nvPr>
            <p:ph type="ftr" sz="quarter" idx="11"/>
          </p:nvPr>
        </p:nvSpPr>
        <p:spPr>
          <a:xfrm>
            <a:off x="3499101" y="6356350"/>
            <a:ext cx="5911517" cy="365125"/>
          </a:xfrm>
        </p:spPr>
        <p:txBody>
          <a:bodyPr/>
          <a:lstStyle/>
          <a:p>
            <a:endParaRPr lang="es-MX"/>
          </a:p>
        </p:txBody>
      </p:sp>
      <p:sp>
        <p:nvSpPr>
          <p:cNvPr id="10" name="Slide Number Placeholder 9"/>
          <p:cNvSpPr>
            <a:spLocks noGrp="1"/>
          </p:cNvSpPr>
          <p:nvPr>
            <p:ph type="sldNum" sz="quarter" idx="12"/>
          </p:nvPr>
        </p:nvSpPr>
        <p:spPr/>
        <p:txBody>
          <a:bodyPr/>
          <a:lstStyle/>
          <a:p>
            <a:fld id="{2E239A93-5D5E-4798-80B0-904D2BCCAD25}" type="slidenum">
              <a:rPr lang="es-MX" smtClean="0"/>
              <a:t>‹Nº›</a:t>
            </a:fld>
            <a:endParaRPr lang="es-MX"/>
          </a:p>
        </p:txBody>
      </p:sp>
    </p:spTree>
    <p:extLst>
      <p:ext uri="{BB962C8B-B14F-4D97-AF65-F5344CB8AC3E}">
        <p14:creationId xmlns:p14="http://schemas.microsoft.com/office/powerpoint/2010/main" val="763574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BD4B4CA-0BA2-4E25-9E9E-0C8B4CBEA372}" type="datetime1">
              <a:rPr lang="es-MX" smtClean="0"/>
              <a:t>10/02/21</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2E239A93-5D5E-4798-80B0-904D2BCCAD25}" type="slidenum">
              <a:rPr lang="es-MX" smtClean="0"/>
              <a:t>‹Nº›</a:t>
            </a:fld>
            <a:endParaRPr lang="es-MX"/>
          </a:p>
        </p:txBody>
      </p:sp>
    </p:spTree>
    <p:extLst>
      <p:ext uri="{BB962C8B-B14F-4D97-AF65-F5344CB8AC3E}">
        <p14:creationId xmlns:p14="http://schemas.microsoft.com/office/powerpoint/2010/main" val="2538901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25E3B83F-5E0D-4059-9399-D7505B72B4B8}" type="datetime1">
              <a:rPr lang="es-MX" smtClean="0"/>
              <a:t>10/02/21</a:t>
            </a:fld>
            <a:endParaRPr lang="es-MX"/>
          </a:p>
        </p:txBody>
      </p:sp>
      <p:sp>
        <p:nvSpPr>
          <p:cNvPr id="8" name="Footer Placeholder 7"/>
          <p:cNvSpPr>
            <a:spLocks noGrp="1"/>
          </p:cNvSpPr>
          <p:nvPr>
            <p:ph type="ftr" sz="quarter" idx="11"/>
          </p:nvPr>
        </p:nvSpPr>
        <p:spPr/>
        <p:txBody>
          <a:bodyPr/>
          <a:lstStyle/>
          <a:p>
            <a:endParaRPr lang="es-MX"/>
          </a:p>
        </p:txBody>
      </p:sp>
      <p:sp>
        <p:nvSpPr>
          <p:cNvPr id="9" name="Slide Number Placeholder 8"/>
          <p:cNvSpPr>
            <a:spLocks noGrp="1"/>
          </p:cNvSpPr>
          <p:nvPr>
            <p:ph type="sldNum" sz="quarter" idx="12"/>
          </p:nvPr>
        </p:nvSpPr>
        <p:spPr/>
        <p:txBody>
          <a:bodyPr/>
          <a:lstStyle/>
          <a:p>
            <a:fld id="{2E239A93-5D5E-4798-80B0-904D2BCCAD25}" type="slidenum">
              <a:rPr lang="es-MX" smtClean="0"/>
              <a:t>‹Nº›</a:t>
            </a:fld>
            <a:endParaRPr lang="es-MX"/>
          </a:p>
        </p:txBody>
      </p:sp>
    </p:spTree>
    <p:extLst>
      <p:ext uri="{BB962C8B-B14F-4D97-AF65-F5344CB8AC3E}">
        <p14:creationId xmlns:p14="http://schemas.microsoft.com/office/powerpoint/2010/main" val="3891290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21A53FED-D2B3-4E94-9EE6-D0AB2CE45E9E}" type="datetime1">
              <a:rPr lang="es-MX" smtClean="0"/>
              <a:t>10/02/21</a:t>
            </a:fld>
            <a:endParaRPr lang="es-MX"/>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s-MX"/>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2E239A93-5D5E-4798-80B0-904D2BCCAD25}" type="slidenum">
              <a:rPr lang="es-MX" smtClean="0"/>
              <a:t>‹Nº›</a:t>
            </a:fld>
            <a:endParaRPr lang="es-MX"/>
          </a:p>
        </p:txBody>
      </p:sp>
    </p:spTree>
    <p:extLst>
      <p:ext uri="{BB962C8B-B14F-4D97-AF65-F5344CB8AC3E}">
        <p14:creationId xmlns:p14="http://schemas.microsoft.com/office/powerpoint/2010/main" val="394273552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018E49-5479-4DAB-9BF7-E25EE1831E60}"/>
              </a:ext>
            </a:extLst>
          </p:cNvPr>
          <p:cNvSpPr>
            <a:spLocks noGrp="1"/>
          </p:cNvSpPr>
          <p:nvPr>
            <p:ph type="ctrTitle"/>
          </p:nvPr>
        </p:nvSpPr>
        <p:spPr/>
        <p:txBody>
          <a:bodyPr>
            <a:normAutofit/>
          </a:bodyPr>
          <a:lstStyle/>
          <a:p>
            <a:r>
              <a:rPr lang="es-MX" sz="5400" dirty="0"/>
              <a:t>Estructura de los Sistemas Operativos (S.O.)</a:t>
            </a:r>
          </a:p>
        </p:txBody>
      </p:sp>
    </p:spTree>
    <p:extLst>
      <p:ext uri="{BB962C8B-B14F-4D97-AF65-F5344CB8AC3E}">
        <p14:creationId xmlns:p14="http://schemas.microsoft.com/office/powerpoint/2010/main" val="3903393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7EBF53-10BE-4A07-82B1-46333E675466}"/>
              </a:ext>
            </a:extLst>
          </p:cNvPr>
          <p:cNvSpPr>
            <a:spLocks noGrp="1"/>
          </p:cNvSpPr>
          <p:nvPr>
            <p:ph type="title"/>
          </p:nvPr>
        </p:nvSpPr>
        <p:spPr/>
        <p:txBody>
          <a:bodyPr>
            <a:normAutofit/>
          </a:bodyPr>
          <a:lstStyle/>
          <a:p>
            <a:pPr algn="ctr"/>
            <a:r>
              <a:rPr lang="es-MX" sz="3000" dirty="0"/>
              <a:t>Sistemas </a:t>
            </a:r>
            <a:br>
              <a:rPr lang="es-MX" sz="3000" dirty="0"/>
            </a:br>
            <a:r>
              <a:rPr lang="es-MX" sz="3000" dirty="0"/>
              <a:t>Monolíticos</a:t>
            </a:r>
          </a:p>
        </p:txBody>
      </p:sp>
      <p:sp>
        <p:nvSpPr>
          <p:cNvPr id="3" name="Marcador de contenido 2">
            <a:extLst>
              <a:ext uri="{FF2B5EF4-FFF2-40B4-BE49-F238E27FC236}">
                <a16:creationId xmlns:a16="http://schemas.microsoft.com/office/drawing/2014/main" id="{8DBF6009-E628-4091-97F7-C9FE3608E361}"/>
              </a:ext>
            </a:extLst>
          </p:cNvPr>
          <p:cNvSpPr>
            <a:spLocks noGrp="1"/>
          </p:cNvSpPr>
          <p:nvPr>
            <p:ph idx="1"/>
          </p:nvPr>
        </p:nvSpPr>
        <p:spPr/>
        <p:txBody>
          <a:bodyPr/>
          <a:lstStyle/>
          <a:p>
            <a:pPr algn="just"/>
            <a:r>
              <a:rPr lang="es-MX" sz="3000" dirty="0"/>
              <a:t>A la ejecución de los servicios del S.O. se le llama “Llamada al sistema” en la cual se realizan los siguientes procesos:</a:t>
            </a:r>
          </a:p>
          <a:p>
            <a:pPr marL="0" indent="0" algn="just">
              <a:buNone/>
            </a:pPr>
            <a:endParaRPr lang="es-MX" sz="3000" dirty="0"/>
          </a:p>
          <a:p>
            <a:pPr algn="just"/>
            <a:endParaRPr lang="es-MX" sz="3000" dirty="0"/>
          </a:p>
          <a:p>
            <a:pPr algn="just"/>
            <a:endParaRPr lang="es-MX" sz="3000" dirty="0"/>
          </a:p>
          <a:p>
            <a:pPr algn="just"/>
            <a:endParaRPr lang="es-MX" sz="3000" dirty="0"/>
          </a:p>
          <a:p>
            <a:pPr algn="just"/>
            <a:endParaRPr lang="es-MX" dirty="0"/>
          </a:p>
          <a:p>
            <a:endParaRPr lang="es-MX" dirty="0"/>
          </a:p>
        </p:txBody>
      </p:sp>
      <p:sp>
        <p:nvSpPr>
          <p:cNvPr id="4" name="Marcador de pie de página 3">
            <a:extLst>
              <a:ext uri="{FF2B5EF4-FFF2-40B4-BE49-F238E27FC236}">
                <a16:creationId xmlns:a16="http://schemas.microsoft.com/office/drawing/2014/main" id="{061BEA04-DBB1-48B9-8217-077B869EA8D7}"/>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A6E0CAF7-0241-42D6-8F3E-C096F2404779}"/>
              </a:ext>
            </a:extLst>
          </p:cNvPr>
          <p:cNvSpPr>
            <a:spLocks noGrp="1"/>
          </p:cNvSpPr>
          <p:nvPr>
            <p:ph type="sldNum" sz="quarter" idx="12"/>
          </p:nvPr>
        </p:nvSpPr>
        <p:spPr/>
        <p:txBody>
          <a:bodyPr/>
          <a:lstStyle/>
          <a:p>
            <a:fld id="{2E239A93-5D5E-4798-80B0-904D2BCCAD25}" type="slidenum">
              <a:rPr lang="es-MX" smtClean="0"/>
              <a:t>2</a:t>
            </a:fld>
            <a:endParaRPr lang="es-MX"/>
          </a:p>
        </p:txBody>
      </p:sp>
      <p:pic>
        <p:nvPicPr>
          <p:cNvPr id="7" name="Imagen 6">
            <a:extLst>
              <a:ext uri="{FF2B5EF4-FFF2-40B4-BE49-F238E27FC236}">
                <a16:creationId xmlns:a16="http://schemas.microsoft.com/office/drawing/2014/main" id="{C25068BF-286B-42C4-906B-DECE2CE2BA7C}"/>
              </a:ext>
            </a:extLst>
          </p:cNvPr>
          <p:cNvPicPr/>
          <p:nvPr/>
        </p:nvPicPr>
        <p:blipFill>
          <a:blip r:embed="rId3"/>
          <a:stretch>
            <a:fillRect/>
          </a:stretch>
        </p:blipFill>
        <p:spPr>
          <a:xfrm>
            <a:off x="3869268" y="2740990"/>
            <a:ext cx="7296797" cy="3083738"/>
          </a:xfrm>
          <a:prstGeom prst="rect">
            <a:avLst/>
          </a:prstGeom>
        </p:spPr>
      </p:pic>
    </p:spTree>
    <p:extLst>
      <p:ext uri="{BB962C8B-B14F-4D97-AF65-F5344CB8AC3E}">
        <p14:creationId xmlns:p14="http://schemas.microsoft.com/office/powerpoint/2010/main" val="14003520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7EBF53-10BE-4A07-82B1-46333E675466}"/>
              </a:ext>
            </a:extLst>
          </p:cNvPr>
          <p:cNvSpPr>
            <a:spLocks noGrp="1"/>
          </p:cNvSpPr>
          <p:nvPr>
            <p:ph type="title"/>
          </p:nvPr>
        </p:nvSpPr>
        <p:spPr/>
        <p:txBody>
          <a:bodyPr>
            <a:normAutofit/>
          </a:bodyPr>
          <a:lstStyle/>
          <a:p>
            <a:pPr algn="ctr"/>
            <a:r>
              <a:rPr lang="es-MX" sz="3000" dirty="0"/>
              <a:t>Sistemas </a:t>
            </a:r>
            <a:br>
              <a:rPr lang="es-MX" sz="3000" dirty="0"/>
            </a:br>
            <a:r>
              <a:rPr lang="es-MX" sz="3000" dirty="0"/>
              <a:t>Monolíticos</a:t>
            </a:r>
          </a:p>
        </p:txBody>
      </p:sp>
      <p:sp>
        <p:nvSpPr>
          <p:cNvPr id="3" name="Marcador de contenido 2">
            <a:extLst>
              <a:ext uri="{FF2B5EF4-FFF2-40B4-BE49-F238E27FC236}">
                <a16:creationId xmlns:a16="http://schemas.microsoft.com/office/drawing/2014/main" id="{8DBF6009-E628-4091-97F7-C9FE3608E361}"/>
              </a:ext>
            </a:extLst>
          </p:cNvPr>
          <p:cNvSpPr>
            <a:spLocks noGrp="1"/>
          </p:cNvSpPr>
          <p:nvPr>
            <p:ph idx="1"/>
          </p:nvPr>
        </p:nvSpPr>
        <p:spPr/>
        <p:txBody>
          <a:bodyPr/>
          <a:lstStyle/>
          <a:p>
            <a:pPr algn="just"/>
            <a:r>
              <a:rPr lang="es-MX" sz="3000" dirty="0"/>
              <a:t>Es un sistema operativo con una colección de procedimientos que se pueden llamar entre si, sin una estructura propiamente dicha.</a:t>
            </a:r>
          </a:p>
          <a:p>
            <a:pPr algn="just"/>
            <a:endParaRPr lang="es-MX" sz="3000" dirty="0"/>
          </a:p>
          <a:p>
            <a:pPr algn="just"/>
            <a:endParaRPr lang="es-MX" sz="3000" dirty="0"/>
          </a:p>
          <a:p>
            <a:pPr algn="just"/>
            <a:endParaRPr lang="es-MX" sz="3000" dirty="0"/>
          </a:p>
          <a:p>
            <a:pPr algn="just"/>
            <a:endParaRPr lang="es-MX" sz="3000" dirty="0"/>
          </a:p>
          <a:p>
            <a:pPr algn="just"/>
            <a:endParaRPr lang="es-MX" dirty="0"/>
          </a:p>
          <a:p>
            <a:endParaRPr lang="es-MX" dirty="0"/>
          </a:p>
        </p:txBody>
      </p:sp>
      <p:sp>
        <p:nvSpPr>
          <p:cNvPr id="5" name="Marcador de número de diapositiva 4">
            <a:extLst>
              <a:ext uri="{FF2B5EF4-FFF2-40B4-BE49-F238E27FC236}">
                <a16:creationId xmlns:a16="http://schemas.microsoft.com/office/drawing/2014/main" id="{A6E0CAF7-0241-42D6-8F3E-C096F2404779}"/>
              </a:ext>
            </a:extLst>
          </p:cNvPr>
          <p:cNvSpPr>
            <a:spLocks noGrp="1"/>
          </p:cNvSpPr>
          <p:nvPr>
            <p:ph type="sldNum" sz="quarter" idx="12"/>
          </p:nvPr>
        </p:nvSpPr>
        <p:spPr/>
        <p:txBody>
          <a:bodyPr/>
          <a:lstStyle/>
          <a:p>
            <a:fld id="{2E239A93-5D5E-4798-80B0-904D2BCCAD25}" type="slidenum">
              <a:rPr lang="es-MX" smtClean="0"/>
              <a:t>3</a:t>
            </a:fld>
            <a:endParaRPr lang="es-MX"/>
          </a:p>
        </p:txBody>
      </p:sp>
      <p:pic>
        <p:nvPicPr>
          <p:cNvPr id="6" name="Imagen 5">
            <a:extLst>
              <a:ext uri="{FF2B5EF4-FFF2-40B4-BE49-F238E27FC236}">
                <a16:creationId xmlns:a16="http://schemas.microsoft.com/office/drawing/2014/main" id="{363C558E-0FFE-426C-96F9-2B6E4D59D465}"/>
              </a:ext>
            </a:extLst>
          </p:cNvPr>
          <p:cNvPicPr>
            <a:picLocks noChangeAspect="1"/>
          </p:cNvPicPr>
          <p:nvPr/>
        </p:nvPicPr>
        <p:blipFill>
          <a:blip r:embed="rId3"/>
          <a:stretch>
            <a:fillRect/>
          </a:stretch>
        </p:blipFill>
        <p:spPr>
          <a:xfrm>
            <a:off x="4964643" y="2841498"/>
            <a:ext cx="5124450" cy="3143250"/>
          </a:xfrm>
          <a:prstGeom prst="rect">
            <a:avLst/>
          </a:prstGeom>
        </p:spPr>
      </p:pic>
    </p:spTree>
    <p:extLst>
      <p:ext uri="{BB962C8B-B14F-4D97-AF65-F5344CB8AC3E}">
        <p14:creationId xmlns:p14="http://schemas.microsoft.com/office/powerpoint/2010/main" val="17920282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CF0493-BB1E-4AA9-8CA4-E218827ADB39}"/>
              </a:ext>
            </a:extLst>
          </p:cNvPr>
          <p:cNvSpPr>
            <a:spLocks noGrp="1"/>
          </p:cNvSpPr>
          <p:nvPr>
            <p:ph type="title"/>
          </p:nvPr>
        </p:nvSpPr>
        <p:spPr/>
        <p:txBody>
          <a:bodyPr>
            <a:normAutofit/>
          </a:bodyPr>
          <a:lstStyle/>
          <a:p>
            <a:pPr algn="ctr"/>
            <a:r>
              <a:rPr lang="es-MX" sz="3000" dirty="0"/>
              <a:t>Sistemas con Capas</a:t>
            </a:r>
          </a:p>
        </p:txBody>
      </p:sp>
      <p:sp>
        <p:nvSpPr>
          <p:cNvPr id="3" name="Marcador de contenido 2">
            <a:extLst>
              <a:ext uri="{FF2B5EF4-FFF2-40B4-BE49-F238E27FC236}">
                <a16:creationId xmlns:a16="http://schemas.microsoft.com/office/drawing/2014/main" id="{53DCD459-3940-4B67-ABEE-13AC639CE2EB}"/>
              </a:ext>
            </a:extLst>
          </p:cNvPr>
          <p:cNvSpPr>
            <a:spLocks noGrp="1"/>
          </p:cNvSpPr>
          <p:nvPr>
            <p:ph idx="1"/>
          </p:nvPr>
        </p:nvSpPr>
        <p:spPr/>
        <p:txBody>
          <a:bodyPr/>
          <a:lstStyle/>
          <a:p>
            <a:pPr algn="just"/>
            <a:r>
              <a:rPr lang="es-MX" sz="3000" dirty="0"/>
              <a:t>Es una estructura simple generalizada para los sistemas monolíticos. Organiza el S.O con una jerarquía en capas de menos a más. Siendo el primero de esta clase el sistema “THE” (1968).</a:t>
            </a:r>
          </a:p>
          <a:p>
            <a:pPr algn="just"/>
            <a:endParaRPr lang="es-MX" sz="3000" dirty="0"/>
          </a:p>
          <a:p>
            <a:pPr algn="just"/>
            <a:endParaRPr lang="es-MX" sz="3000" dirty="0"/>
          </a:p>
          <a:p>
            <a:pPr algn="just"/>
            <a:endParaRPr lang="es-MX" sz="3000" dirty="0"/>
          </a:p>
          <a:p>
            <a:pPr algn="just"/>
            <a:endParaRPr lang="es-MX" sz="3000" dirty="0"/>
          </a:p>
          <a:p>
            <a:endParaRPr lang="es-MX" dirty="0"/>
          </a:p>
        </p:txBody>
      </p:sp>
      <p:sp>
        <p:nvSpPr>
          <p:cNvPr id="4" name="Marcador de pie de página 3">
            <a:extLst>
              <a:ext uri="{FF2B5EF4-FFF2-40B4-BE49-F238E27FC236}">
                <a16:creationId xmlns:a16="http://schemas.microsoft.com/office/drawing/2014/main" id="{70843E34-63BD-44D3-A679-14D9F724AA24}"/>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32528632-3F65-4329-AC61-D9C9580984C1}"/>
              </a:ext>
            </a:extLst>
          </p:cNvPr>
          <p:cNvSpPr>
            <a:spLocks noGrp="1"/>
          </p:cNvSpPr>
          <p:nvPr>
            <p:ph type="sldNum" sz="quarter" idx="12"/>
          </p:nvPr>
        </p:nvSpPr>
        <p:spPr/>
        <p:txBody>
          <a:bodyPr/>
          <a:lstStyle/>
          <a:p>
            <a:fld id="{2E239A93-5D5E-4798-80B0-904D2BCCAD25}" type="slidenum">
              <a:rPr lang="es-MX" smtClean="0"/>
              <a:t>4</a:t>
            </a:fld>
            <a:endParaRPr lang="es-MX"/>
          </a:p>
        </p:txBody>
      </p:sp>
      <p:pic>
        <p:nvPicPr>
          <p:cNvPr id="6" name="Imagen 5">
            <a:extLst>
              <a:ext uri="{FF2B5EF4-FFF2-40B4-BE49-F238E27FC236}">
                <a16:creationId xmlns:a16="http://schemas.microsoft.com/office/drawing/2014/main" id="{8BB2EDDC-3CC9-4F21-96BE-4BF2A613AA91}"/>
              </a:ext>
            </a:extLst>
          </p:cNvPr>
          <p:cNvPicPr/>
          <p:nvPr/>
        </p:nvPicPr>
        <p:blipFill>
          <a:blip r:embed="rId3"/>
          <a:stretch>
            <a:fillRect/>
          </a:stretch>
        </p:blipFill>
        <p:spPr>
          <a:xfrm>
            <a:off x="3869268" y="3358182"/>
            <a:ext cx="7315200" cy="2669106"/>
          </a:xfrm>
          <a:prstGeom prst="rect">
            <a:avLst/>
          </a:prstGeom>
        </p:spPr>
      </p:pic>
    </p:spTree>
    <p:extLst>
      <p:ext uri="{BB962C8B-B14F-4D97-AF65-F5344CB8AC3E}">
        <p14:creationId xmlns:p14="http://schemas.microsoft.com/office/powerpoint/2010/main" val="24549831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2BD7DA-5FE7-4071-8CA2-7F421C94782B}"/>
              </a:ext>
            </a:extLst>
          </p:cNvPr>
          <p:cNvSpPr>
            <a:spLocks noGrp="1"/>
          </p:cNvSpPr>
          <p:nvPr>
            <p:ph type="title"/>
          </p:nvPr>
        </p:nvSpPr>
        <p:spPr/>
        <p:txBody>
          <a:bodyPr>
            <a:normAutofit/>
          </a:bodyPr>
          <a:lstStyle/>
          <a:p>
            <a:pPr algn="ctr"/>
            <a:r>
              <a:rPr lang="es-MX" sz="3000" dirty="0"/>
              <a:t>Sistemas por Capas</a:t>
            </a:r>
          </a:p>
        </p:txBody>
      </p:sp>
      <p:sp>
        <p:nvSpPr>
          <p:cNvPr id="3" name="Marcador de contenido 2">
            <a:extLst>
              <a:ext uri="{FF2B5EF4-FFF2-40B4-BE49-F238E27FC236}">
                <a16:creationId xmlns:a16="http://schemas.microsoft.com/office/drawing/2014/main" id="{3A169B72-AA58-4423-B49C-0C332EB78999}"/>
              </a:ext>
            </a:extLst>
          </p:cNvPr>
          <p:cNvSpPr>
            <a:spLocks noGrp="1"/>
          </p:cNvSpPr>
          <p:nvPr>
            <p:ph idx="1"/>
          </p:nvPr>
        </p:nvSpPr>
        <p:spPr/>
        <p:txBody>
          <a:bodyPr>
            <a:normAutofit/>
          </a:bodyPr>
          <a:lstStyle/>
          <a:p>
            <a:endParaRPr lang="es-MX" sz="3000" dirty="0"/>
          </a:p>
          <a:p>
            <a:pPr algn="just"/>
            <a:r>
              <a:rPr lang="es-MX" sz="3000" dirty="0"/>
              <a:t>Capa 0</a:t>
            </a:r>
          </a:p>
          <a:p>
            <a:pPr lvl="1" algn="just"/>
            <a:r>
              <a:rPr lang="es-MX" sz="2800" dirty="0"/>
              <a:t>Trabaja con la asignación del procesador.</a:t>
            </a:r>
          </a:p>
          <a:p>
            <a:pPr lvl="1" algn="just"/>
            <a:r>
              <a:rPr lang="es-MX" sz="2800" dirty="0"/>
              <a:t>Alterna procesos.</a:t>
            </a:r>
          </a:p>
          <a:p>
            <a:pPr lvl="1" algn="just"/>
            <a:r>
              <a:rPr lang="es-MX" sz="2800" dirty="0"/>
              <a:t>Proporciona Multiprogramación.</a:t>
            </a:r>
          </a:p>
          <a:p>
            <a:pPr algn="just"/>
            <a:endParaRPr lang="es-MX" sz="3000" dirty="0"/>
          </a:p>
          <a:p>
            <a:pPr algn="just"/>
            <a:r>
              <a:rPr lang="es-MX" sz="3000" dirty="0"/>
              <a:t>Capa 1</a:t>
            </a:r>
          </a:p>
          <a:p>
            <a:pPr lvl="1" algn="just"/>
            <a:r>
              <a:rPr lang="es-MX" sz="2800" dirty="0"/>
              <a:t>Administra memoria.</a:t>
            </a:r>
          </a:p>
          <a:p>
            <a:pPr lvl="1" algn="just"/>
            <a:r>
              <a:rPr lang="es-MX" sz="2800" dirty="0"/>
              <a:t>Asegura que las paginas requeridas lleguen a los procesos de memoria.</a:t>
            </a:r>
          </a:p>
          <a:p>
            <a:pPr lvl="1" algn="just"/>
            <a:endParaRPr lang="es-MX" sz="2800" dirty="0"/>
          </a:p>
          <a:p>
            <a:pPr lvl="1"/>
            <a:endParaRPr lang="es-MX" sz="2800" dirty="0"/>
          </a:p>
        </p:txBody>
      </p:sp>
      <p:sp>
        <p:nvSpPr>
          <p:cNvPr id="5" name="Marcador de número de diapositiva 4">
            <a:extLst>
              <a:ext uri="{FF2B5EF4-FFF2-40B4-BE49-F238E27FC236}">
                <a16:creationId xmlns:a16="http://schemas.microsoft.com/office/drawing/2014/main" id="{AE1BEA52-7FCC-4F6C-8DD1-746E3F236BE2}"/>
              </a:ext>
            </a:extLst>
          </p:cNvPr>
          <p:cNvSpPr>
            <a:spLocks noGrp="1"/>
          </p:cNvSpPr>
          <p:nvPr>
            <p:ph type="sldNum" sz="quarter" idx="12"/>
          </p:nvPr>
        </p:nvSpPr>
        <p:spPr/>
        <p:txBody>
          <a:bodyPr/>
          <a:lstStyle/>
          <a:p>
            <a:fld id="{2E239A93-5D5E-4798-80B0-904D2BCCAD25}" type="slidenum">
              <a:rPr lang="es-MX" smtClean="0"/>
              <a:t>5</a:t>
            </a:fld>
            <a:endParaRPr lang="es-MX"/>
          </a:p>
        </p:txBody>
      </p:sp>
    </p:spTree>
    <p:extLst>
      <p:ext uri="{BB962C8B-B14F-4D97-AF65-F5344CB8AC3E}">
        <p14:creationId xmlns:p14="http://schemas.microsoft.com/office/powerpoint/2010/main" val="273499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64AB3B-8203-49FC-AEB9-B322FFB3A335}"/>
              </a:ext>
            </a:extLst>
          </p:cNvPr>
          <p:cNvSpPr>
            <a:spLocks noGrp="1"/>
          </p:cNvSpPr>
          <p:nvPr>
            <p:ph type="title"/>
          </p:nvPr>
        </p:nvSpPr>
        <p:spPr/>
        <p:txBody>
          <a:bodyPr>
            <a:normAutofit/>
          </a:bodyPr>
          <a:lstStyle/>
          <a:p>
            <a:pPr algn="ctr"/>
            <a:r>
              <a:rPr lang="es-MX" sz="3000" dirty="0"/>
              <a:t>Sistemas por Capas</a:t>
            </a:r>
          </a:p>
        </p:txBody>
      </p:sp>
      <p:sp>
        <p:nvSpPr>
          <p:cNvPr id="3" name="Marcador de contenido 2">
            <a:extLst>
              <a:ext uri="{FF2B5EF4-FFF2-40B4-BE49-F238E27FC236}">
                <a16:creationId xmlns:a16="http://schemas.microsoft.com/office/drawing/2014/main" id="{AA897CE1-56B7-462E-B1F8-3B4A079364A4}"/>
              </a:ext>
            </a:extLst>
          </p:cNvPr>
          <p:cNvSpPr>
            <a:spLocks noGrp="1"/>
          </p:cNvSpPr>
          <p:nvPr>
            <p:ph idx="1"/>
          </p:nvPr>
        </p:nvSpPr>
        <p:spPr/>
        <p:txBody>
          <a:bodyPr>
            <a:normAutofit/>
          </a:bodyPr>
          <a:lstStyle/>
          <a:p>
            <a:r>
              <a:rPr lang="es-MX" sz="3000" dirty="0"/>
              <a:t>Capa 2</a:t>
            </a:r>
          </a:p>
          <a:p>
            <a:pPr lvl="1"/>
            <a:r>
              <a:rPr lang="es-MX" sz="2800" dirty="0"/>
              <a:t>Administra la comunicación entre cada proceso y la consola.</a:t>
            </a:r>
          </a:p>
          <a:p>
            <a:endParaRPr lang="es-MX" dirty="0"/>
          </a:p>
          <a:p>
            <a:endParaRPr lang="es-MX" dirty="0"/>
          </a:p>
          <a:p>
            <a:r>
              <a:rPr lang="es-MX" sz="3000" dirty="0"/>
              <a:t>Capa 3</a:t>
            </a:r>
          </a:p>
          <a:p>
            <a:pPr lvl="1"/>
            <a:r>
              <a:rPr lang="es-MX" sz="2800" dirty="0"/>
              <a:t>Controla dispositivos E/S.</a:t>
            </a:r>
          </a:p>
          <a:p>
            <a:pPr marL="0" indent="0">
              <a:buNone/>
            </a:pPr>
            <a:endParaRPr lang="es-MX" dirty="0"/>
          </a:p>
        </p:txBody>
      </p:sp>
      <p:sp>
        <p:nvSpPr>
          <p:cNvPr id="4" name="Marcador de pie de página 3">
            <a:extLst>
              <a:ext uri="{FF2B5EF4-FFF2-40B4-BE49-F238E27FC236}">
                <a16:creationId xmlns:a16="http://schemas.microsoft.com/office/drawing/2014/main" id="{E846F0F4-6D49-4542-A83E-EEC980179F56}"/>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441A7093-82A3-426F-A081-A148FC2A4988}"/>
              </a:ext>
            </a:extLst>
          </p:cNvPr>
          <p:cNvSpPr>
            <a:spLocks noGrp="1"/>
          </p:cNvSpPr>
          <p:nvPr>
            <p:ph type="sldNum" sz="quarter" idx="12"/>
          </p:nvPr>
        </p:nvSpPr>
        <p:spPr/>
        <p:txBody>
          <a:bodyPr/>
          <a:lstStyle/>
          <a:p>
            <a:fld id="{2E239A93-5D5E-4798-80B0-904D2BCCAD25}" type="slidenum">
              <a:rPr lang="es-MX" smtClean="0"/>
              <a:t>6</a:t>
            </a:fld>
            <a:endParaRPr lang="es-MX"/>
          </a:p>
        </p:txBody>
      </p:sp>
    </p:spTree>
    <p:extLst>
      <p:ext uri="{BB962C8B-B14F-4D97-AF65-F5344CB8AC3E}">
        <p14:creationId xmlns:p14="http://schemas.microsoft.com/office/powerpoint/2010/main" val="2634473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10C8A8-0F12-4522-8071-C79EEF167948}"/>
              </a:ext>
            </a:extLst>
          </p:cNvPr>
          <p:cNvSpPr>
            <a:spLocks noGrp="1"/>
          </p:cNvSpPr>
          <p:nvPr>
            <p:ph type="title"/>
          </p:nvPr>
        </p:nvSpPr>
        <p:spPr/>
        <p:txBody>
          <a:bodyPr>
            <a:normAutofit/>
          </a:bodyPr>
          <a:lstStyle/>
          <a:p>
            <a:pPr algn="ctr"/>
            <a:r>
              <a:rPr lang="es-MX" sz="3000" dirty="0"/>
              <a:t>Sistemas por Capas</a:t>
            </a:r>
          </a:p>
        </p:txBody>
      </p:sp>
      <p:sp>
        <p:nvSpPr>
          <p:cNvPr id="3" name="Marcador de contenido 2">
            <a:extLst>
              <a:ext uri="{FF2B5EF4-FFF2-40B4-BE49-F238E27FC236}">
                <a16:creationId xmlns:a16="http://schemas.microsoft.com/office/drawing/2014/main" id="{912470D3-0291-41DC-AC3F-9E047BD4A9DE}"/>
              </a:ext>
            </a:extLst>
          </p:cNvPr>
          <p:cNvSpPr>
            <a:spLocks noGrp="1"/>
          </p:cNvSpPr>
          <p:nvPr>
            <p:ph idx="1"/>
          </p:nvPr>
        </p:nvSpPr>
        <p:spPr/>
        <p:txBody>
          <a:bodyPr/>
          <a:lstStyle/>
          <a:p>
            <a:r>
              <a:rPr lang="es-MX" sz="3000" dirty="0"/>
              <a:t>Capa 4</a:t>
            </a:r>
          </a:p>
          <a:p>
            <a:pPr lvl="1"/>
            <a:r>
              <a:rPr lang="es-MX" sz="2800" dirty="0"/>
              <a:t>Aloja los programas del usuario.</a:t>
            </a:r>
          </a:p>
          <a:p>
            <a:endParaRPr lang="es-MX" dirty="0"/>
          </a:p>
          <a:p>
            <a:endParaRPr lang="es-MX" dirty="0"/>
          </a:p>
          <a:p>
            <a:r>
              <a:rPr lang="es-MX" sz="3000" dirty="0"/>
              <a:t>Capa 5</a:t>
            </a:r>
          </a:p>
          <a:p>
            <a:pPr lvl="1"/>
            <a:r>
              <a:rPr lang="es-MX" sz="2800" dirty="0"/>
              <a:t>Localiza el proceso utilizado del sistema.</a:t>
            </a:r>
          </a:p>
          <a:p>
            <a:endParaRPr lang="es-MX" dirty="0"/>
          </a:p>
        </p:txBody>
      </p:sp>
      <p:sp>
        <p:nvSpPr>
          <p:cNvPr id="4" name="Marcador de pie de página 3">
            <a:extLst>
              <a:ext uri="{FF2B5EF4-FFF2-40B4-BE49-F238E27FC236}">
                <a16:creationId xmlns:a16="http://schemas.microsoft.com/office/drawing/2014/main" id="{027F295D-96FF-4F77-86FA-33F78A625B77}"/>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F0A055F2-C371-4376-A633-B2091E0A7D2E}"/>
              </a:ext>
            </a:extLst>
          </p:cNvPr>
          <p:cNvSpPr>
            <a:spLocks noGrp="1"/>
          </p:cNvSpPr>
          <p:nvPr>
            <p:ph type="sldNum" sz="quarter" idx="12"/>
          </p:nvPr>
        </p:nvSpPr>
        <p:spPr/>
        <p:txBody>
          <a:bodyPr/>
          <a:lstStyle/>
          <a:p>
            <a:fld id="{2E239A93-5D5E-4798-80B0-904D2BCCAD25}" type="slidenum">
              <a:rPr lang="es-MX" smtClean="0"/>
              <a:t>7</a:t>
            </a:fld>
            <a:endParaRPr lang="es-MX"/>
          </a:p>
        </p:txBody>
      </p:sp>
    </p:spTree>
    <p:extLst>
      <p:ext uri="{BB962C8B-B14F-4D97-AF65-F5344CB8AC3E}">
        <p14:creationId xmlns:p14="http://schemas.microsoft.com/office/powerpoint/2010/main" val="8003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1355E2-2DDD-4245-98E4-339805A4BB5C}"/>
              </a:ext>
            </a:extLst>
          </p:cNvPr>
          <p:cNvSpPr>
            <a:spLocks noGrp="1"/>
          </p:cNvSpPr>
          <p:nvPr>
            <p:ph type="title"/>
          </p:nvPr>
        </p:nvSpPr>
        <p:spPr/>
        <p:txBody>
          <a:bodyPr/>
          <a:lstStyle/>
          <a:p>
            <a:pPr algn="ctr"/>
            <a:r>
              <a:rPr lang="es-MX" dirty="0"/>
              <a:t>“Multics” </a:t>
            </a:r>
            <a:br>
              <a:rPr lang="es-MX" dirty="0"/>
            </a:br>
            <a:r>
              <a:rPr lang="es-MX" dirty="0"/>
              <a:t>Generación más avanzada de capas</a:t>
            </a:r>
          </a:p>
        </p:txBody>
      </p:sp>
      <p:sp>
        <p:nvSpPr>
          <p:cNvPr id="3" name="Marcador de contenido 2">
            <a:extLst>
              <a:ext uri="{FF2B5EF4-FFF2-40B4-BE49-F238E27FC236}">
                <a16:creationId xmlns:a16="http://schemas.microsoft.com/office/drawing/2014/main" id="{5922A9F0-F041-B44F-BDE1-D5631ABC4FB1}"/>
              </a:ext>
            </a:extLst>
          </p:cNvPr>
          <p:cNvSpPr>
            <a:spLocks noGrp="1"/>
          </p:cNvSpPr>
          <p:nvPr>
            <p:ph idx="1"/>
          </p:nvPr>
        </p:nvSpPr>
        <p:spPr/>
        <p:txBody>
          <a:bodyPr anchor="t"/>
          <a:lstStyle/>
          <a:p>
            <a:r>
              <a:rPr lang="es-MX" dirty="0">
                <a:solidFill>
                  <a:schemeClr val="tx1"/>
                </a:solidFill>
              </a:rPr>
              <a:t>(MIT, Bell Labs y General Electric): </a:t>
            </a:r>
          </a:p>
          <a:p>
            <a:endParaRPr lang="es-MX" dirty="0"/>
          </a:p>
        </p:txBody>
      </p:sp>
      <p:sp>
        <p:nvSpPr>
          <p:cNvPr id="4" name="Marcador de pie de página 3">
            <a:extLst>
              <a:ext uri="{FF2B5EF4-FFF2-40B4-BE49-F238E27FC236}">
                <a16:creationId xmlns:a16="http://schemas.microsoft.com/office/drawing/2014/main" id="{F4DEAF48-F127-044A-9F37-1C03A5559A8D}"/>
              </a:ext>
            </a:extLst>
          </p:cNvPr>
          <p:cNvSpPr>
            <a:spLocks noGrp="1"/>
          </p:cNvSpPr>
          <p:nvPr>
            <p:ph type="ftr" sz="quarter" idx="11"/>
          </p:nvPr>
        </p:nvSpPr>
        <p:spPr/>
        <p:txBody>
          <a:bodyPr/>
          <a:lstStyle/>
          <a:p>
            <a:r>
              <a:rPr lang="es-MX" sz="1800" dirty="0">
                <a:solidFill>
                  <a:schemeClr val="tx1"/>
                </a:solidFill>
              </a:rPr>
              <a:t>https://images.app.goo.gl/shz4MdqQAbCoRT8j6</a:t>
            </a:r>
          </a:p>
        </p:txBody>
      </p:sp>
      <p:sp>
        <p:nvSpPr>
          <p:cNvPr id="5" name="Marcador de número de diapositiva 4">
            <a:extLst>
              <a:ext uri="{FF2B5EF4-FFF2-40B4-BE49-F238E27FC236}">
                <a16:creationId xmlns:a16="http://schemas.microsoft.com/office/drawing/2014/main" id="{99834A1B-D6E3-F245-AF80-8C0BB7CF72BB}"/>
              </a:ext>
            </a:extLst>
          </p:cNvPr>
          <p:cNvSpPr>
            <a:spLocks noGrp="1"/>
          </p:cNvSpPr>
          <p:nvPr>
            <p:ph type="sldNum" sz="quarter" idx="12"/>
          </p:nvPr>
        </p:nvSpPr>
        <p:spPr/>
        <p:txBody>
          <a:bodyPr/>
          <a:lstStyle/>
          <a:p>
            <a:fld id="{2E239A93-5D5E-4798-80B0-904D2BCCAD25}" type="slidenum">
              <a:rPr lang="es-MX" smtClean="0"/>
              <a:t>8</a:t>
            </a:fld>
            <a:endParaRPr lang="es-MX"/>
          </a:p>
        </p:txBody>
      </p:sp>
      <p:pic>
        <p:nvPicPr>
          <p:cNvPr id="6" name="Imagen 5">
            <a:extLst>
              <a:ext uri="{FF2B5EF4-FFF2-40B4-BE49-F238E27FC236}">
                <a16:creationId xmlns:a16="http://schemas.microsoft.com/office/drawing/2014/main" id="{BE221D2F-5A16-6D49-8E47-D353B340B13C}"/>
              </a:ext>
            </a:extLst>
          </p:cNvPr>
          <p:cNvPicPr>
            <a:picLocks noChangeAspect="1"/>
          </p:cNvPicPr>
          <p:nvPr/>
        </p:nvPicPr>
        <p:blipFill>
          <a:blip r:embed="rId3"/>
          <a:stretch>
            <a:fillRect/>
          </a:stretch>
        </p:blipFill>
        <p:spPr>
          <a:xfrm>
            <a:off x="5621535" y="1565770"/>
            <a:ext cx="4159250" cy="4159250"/>
          </a:xfrm>
          <a:prstGeom prst="rect">
            <a:avLst/>
          </a:prstGeom>
        </p:spPr>
      </p:pic>
    </p:spTree>
    <p:extLst>
      <p:ext uri="{BB962C8B-B14F-4D97-AF65-F5344CB8AC3E}">
        <p14:creationId xmlns:p14="http://schemas.microsoft.com/office/powerpoint/2010/main" val="3283050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8E855B-2026-4D5B-9B79-6E7BECBA4670}"/>
              </a:ext>
            </a:extLst>
          </p:cNvPr>
          <p:cNvSpPr>
            <a:spLocks noGrp="1"/>
          </p:cNvSpPr>
          <p:nvPr>
            <p:ph type="title"/>
          </p:nvPr>
        </p:nvSpPr>
        <p:spPr/>
        <p:txBody>
          <a:bodyPr>
            <a:normAutofit/>
          </a:bodyPr>
          <a:lstStyle/>
          <a:p>
            <a:pPr algn="ctr"/>
            <a:r>
              <a:rPr lang="es-MX" sz="3000" dirty="0"/>
              <a:t>Máquinas Virtuales</a:t>
            </a:r>
          </a:p>
        </p:txBody>
      </p:sp>
      <p:sp>
        <p:nvSpPr>
          <p:cNvPr id="3" name="Marcador de contenido 2">
            <a:extLst>
              <a:ext uri="{FF2B5EF4-FFF2-40B4-BE49-F238E27FC236}">
                <a16:creationId xmlns:a16="http://schemas.microsoft.com/office/drawing/2014/main" id="{A1AA2602-7F92-4814-A903-E2D6A726C2F4}"/>
              </a:ext>
            </a:extLst>
          </p:cNvPr>
          <p:cNvSpPr>
            <a:spLocks noGrp="1"/>
          </p:cNvSpPr>
          <p:nvPr>
            <p:ph idx="1"/>
          </p:nvPr>
        </p:nvSpPr>
        <p:spPr/>
        <p:txBody>
          <a:bodyPr/>
          <a:lstStyle/>
          <a:p>
            <a:pPr algn="just"/>
            <a:r>
              <a:rPr lang="es-MX" sz="3000" dirty="0"/>
              <a:t>Separa las funciones multiprogramación de la máquina extendida. El monitor de máquina virtual se ejecuta en el hardware y realiza la multiprogramación soportando periféricos virtuales.</a:t>
            </a:r>
          </a:p>
        </p:txBody>
      </p:sp>
      <p:sp>
        <p:nvSpPr>
          <p:cNvPr id="4" name="Marcador de pie de página 3">
            <a:extLst>
              <a:ext uri="{FF2B5EF4-FFF2-40B4-BE49-F238E27FC236}">
                <a16:creationId xmlns:a16="http://schemas.microsoft.com/office/drawing/2014/main" id="{95659B60-DFD7-4512-932C-644D179703DE}"/>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4F8C1423-52DA-48E9-BA14-458E21412120}"/>
              </a:ext>
            </a:extLst>
          </p:cNvPr>
          <p:cNvSpPr>
            <a:spLocks noGrp="1"/>
          </p:cNvSpPr>
          <p:nvPr>
            <p:ph type="sldNum" sz="quarter" idx="12"/>
          </p:nvPr>
        </p:nvSpPr>
        <p:spPr/>
        <p:txBody>
          <a:bodyPr/>
          <a:lstStyle/>
          <a:p>
            <a:fld id="{2E239A93-5D5E-4798-80B0-904D2BCCAD25}" type="slidenum">
              <a:rPr lang="es-MX" smtClean="0"/>
              <a:t>9</a:t>
            </a:fld>
            <a:endParaRPr lang="es-MX"/>
          </a:p>
        </p:txBody>
      </p:sp>
    </p:spTree>
    <p:extLst>
      <p:ext uri="{BB962C8B-B14F-4D97-AF65-F5344CB8AC3E}">
        <p14:creationId xmlns:p14="http://schemas.microsoft.com/office/powerpoint/2010/main" val="3660198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245087-7096-4939-A7DF-9588E1F504FD}"/>
              </a:ext>
            </a:extLst>
          </p:cNvPr>
          <p:cNvSpPr>
            <a:spLocks noGrp="1"/>
          </p:cNvSpPr>
          <p:nvPr>
            <p:ph type="title"/>
          </p:nvPr>
        </p:nvSpPr>
        <p:spPr/>
        <p:txBody>
          <a:bodyPr>
            <a:normAutofit/>
          </a:bodyPr>
          <a:lstStyle/>
          <a:p>
            <a:pPr algn="ctr"/>
            <a:r>
              <a:rPr lang="es-MX" sz="3000" dirty="0"/>
              <a:t>Máquinas Virtuales</a:t>
            </a:r>
          </a:p>
        </p:txBody>
      </p:sp>
      <p:sp>
        <p:nvSpPr>
          <p:cNvPr id="4" name="Marcador de pie de página 3">
            <a:extLst>
              <a:ext uri="{FF2B5EF4-FFF2-40B4-BE49-F238E27FC236}">
                <a16:creationId xmlns:a16="http://schemas.microsoft.com/office/drawing/2014/main" id="{2D6A7FB6-667B-4665-82CF-879D84AADF43}"/>
              </a:ext>
            </a:extLst>
          </p:cNvPr>
          <p:cNvSpPr>
            <a:spLocks noGrp="1"/>
          </p:cNvSpPr>
          <p:nvPr>
            <p:ph type="ftr" sz="quarter" idx="11"/>
          </p:nvPr>
        </p:nvSpPr>
        <p:spPr/>
        <p:txBody>
          <a:bodyPr/>
          <a:lstStyle/>
          <a:p>
            <a:pPr algn="r"/>
            <a:r>
              <a:rPr lang="es-MX" sz="2800" dirty="0">
                <a:solidFill>
                  <a:schemeClr val="tx1"/>
                </a:solidFill>
              </a:rPr>
              <a:t>[23, Tanenbaum]</a:t>
            </a:r>
            <a:endParaRPr lang="es-MX" sz="2800" dirty="0"/>
          </a:p>
        </p:txBody>
      </p:sp>
      <p:sp>
        <p:nvSpPr>
          <p:cNvPr id="5" name="Marcador de número de diapositiva 4">
            <a:extLst>
              <a:ext uri="{FF2B5EF4-FFF2-40B4-BE49-F238E27FC236}">
                <a16:creationId xmlns:a16="http://schemas.microsoft.com/office/drawing/2014/main" id="{5E906323-9062-4A41-AD63-3E5A45AD345F}"/>
              </a:ext>
            </a:extLst>
          </p:cNvPr>
          <p:cNvSpPr>
            <a:spLocks noGrp="1"/>
          </p:cNvSpPr>
          <p:nvPr>
            <p:ph type="sldNum" sz="quarter" idx="12"/>
          </p:nvPr>
        </p:nvSpPr>
        <p:spPr/>
        <p:txBody>
          <a:bodyPr/>
          <a:lstStyle/>
          <a:p>
            <a:fld id="{2E239A93-5D5E-4798-80B0-904D2BCCAD25}" type="slidenum">
              <a:rPr lang="es-MX" smtClean="0"/>
              <a:t>10</a:t>
            </a:fld>
            <a:endParaRPr lang="es-MX"/>
          </a:p>
        </p:txBody>
      </p:sp>
      <p:pic>
        <p:nvPicPr>
          <p:cNvPr id="6" name="Marcador de contenido 5">
            <a:extLst>
              <a:ext uri="{FF2B5EF4-FFF2-40B4-BE49-F238E27FC236}">
                <a16:creationId xmlns:a16="http://schemas.microsoft.com/office/drawing/2014/main" id="{E354779B-CBBF-4CD0-BFFA-87E19409459A}"/>
              </a:ext>
            </a:extLst>
          </p:cNvPr>
          <p:cNvPicPr>
            <a:picLocks noGrp="1"/>
          </p:cNvPicPr>
          <p:nvPr>
            <p:ph idx="1"/>
          </p:nvPr>
        </p:nvPicPr>
        <p:blipFill>
          <a:blip r:embed="rId3"/>
          <a:stretch>
            <a:fillRect/>
          </a:stretch>
        </p:blipFill>
        <p:spPr>
          <a:xfrm>
            <a:off x="4068819" y="1828800"/>
            <a:ext cx="7025980" cy="2795805"/>
          </a:xfrm>
          <a:prstGeom prst="rect">
            <a:avLst/>
          </a:prstGeom>
        </p:spPr>
      </p:pic>
    </p:spTree>
    <p:extLst>
      <p:ext uri="{BB962C8B-B14F-4D97-AF65-F5344CB8AC3E}">
        <p14:creationId xmlns:p14="http://schemas.microsoft.com/office/powerpoint/2010/main" val="35813215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464FFD-CC6E-464C-97B1-6F2993E1830F}"/>
              </a:ext>
            </a:extLst>
          </p:cNvPr>
          <p:cNvSpPr>
            <a:spLocks noGrp="1"/>
          </p:cNvSpPr>
          <p:nvPr>
            <p:ph type="title"/>
          </p:nvPr>
        </p:nvSpPr>
        <p:spPr/>
        <p:txBody>
          <a:bodyPr>
            <a:normAutofit/>
          </a:bodyPr>
          <a:lstStyle/>
          <a:p>
            <a:pPr algn="ctr"/>
            <a:r>
              <a:rPr lang="es-MX" sz="3000" dirty="0"/>
              <a:t>Modelo Cliente </a:t>
            </a:r>
            <a:br>
              <a:rPr lang="es-MX" sz="3000" dirty="0"/>
            </a:br>
            <a:r>
              <a:rPr lang="es-MX" sz="3000" dirty="0"/>
              <a:t>–</a:t>
            </a:r>
            <a:br>
              <a:rPr lang="es-MX" sz="3000" dirty="0"/>
            </a:br>
            <a:r>
              <a:rPr lang="es-MX" sz="3000" dirty="0"/>
              <a:t>Servidor</a:t>
            </a:r>
          </a:p>
        </p:txBody>
      </p:sp>
      <p:sp>
        <p:nvSpPr>
          <p:cNvPr id="3" name="Marcador de contenido 2">
            <a:extLst>
              <a:ext uri="{FF2B5EF4-FFF2-40B4-BE49-F238E27FC236}">
                <a16:creationId xmlns:a16="http://schemas.microsoft.com/office/drawing/2014/main" id="{41B87F52-E88D-4D7C-83E7-A385DAA5B4D9}"/>
              </a:ext>
            </a:extLst>
          </p:cNvPr>
          <p:cNvSpPr>
            <a:spLocks noGrp="1"/>
          </p:cNvSpPr>
          <p:nvPr>
            <p:ph idx="1"/>
          </p:nvPr>
        </p:nvSpPr>
        <p:spPr/>
        <p:txBody>
          <a:bodyPr>
            <a:normAutofit/>
          </a:bodyPr>
          <a:lstStyle/>
          <a:p>
            <a:pPr algn="just"/>
            <a:r>
              <a:rPr lang="es-MX" sz="3000" dirty="0"/>
              <a:t>Los S.O modernos explotan la idea de mover el código a las capas superiores y mantener un núcleo mínimo. La mayoría de las funciones del S.O se implantan en los procesos del usuario.</a:t>
            </a:r>
          </a:p>
          <a:p>
            <a:pPr algn="just"/>
            <a:endParaRPr lang="es-MX" sz="3000" dirty="0"/>
          </a:p>
          <a:p>
            <a:pPr algn="just"/>
            <a:endParaRPr lang="es-MX" sz="3000" dirty="0"/>
          </a:p>
          <a:p>
            <a:pPr algn="just"/>
            <a:endParaRPr lang="es-MX" sz="3000" dirty="0"/>
          </a:p>
          <a:p>
            <a:pPr algn="just"/>
            <a:endParaRPr lang="es-MX" sz="3000" dirty="0"/>
          </a:p>
          <a:p>
            <a:pPr algn="just"/>
            <a:endParaRPr lang="es-MX" sz="3000" dirty="0"/>
          </a:p>
        </p:txBody>
      </p:sp>
      <p:sp>
        <p:nvSpPr>
          <p:cNvPr id="4" name="Marcador de pie de página 3">
            <a:extLst>
              <a:ext uri="{FF2B5EF4-FFF2-40B4-BE49-F238E27FC236}">
                <a16:creationId xmlns:a16="http://schemas.microsoft.com/office/drawing/2014/main" id="{A682E3D1-AAD7-4C46-916D-2B13A9E55DBD}"/>
              </a:ext>
            </a:extLst>
          </p:cNvPr>
          <p:cNvSpPr>
            <a:spLocks noGrp="1"/>
          </p:cNvSpPr>
          <p:nvPr>
            <p:ph type="ftr" sz="quarter" idx="11"/>
          </p:nvPr>
        </p:nvSpPr>
        <p:spPr/>
        <p:txBody>
          <a:bodyPr/>
          <a:lstStyle/>
          <a:p>
            <a:r>
              <a:rPr lang="es-MX" sz="2400" dirty="0">
                <a:solidFill>
                  <a:srgbClr val="0000FF"/>
                </a:solidFill>
                <a:latin typeface="TimesNewRomanPSMT" panose="02020603050405020304" pitchFamily="18" charset="0"/>
              </a:rPr>
              <a:t>[23, Tanenbaum]</a:t>
            </a:r>
            <a:endParaRPr lang="es-MX" sz="2400" dirty="0"/>
          </a:p>
        </p:txBody>
      </p:sp>
      <p:sp>
        <p:nvSpPr>
          <p:cNvPr id="5" name="Marcador de número de diapositiva 4">
            <a:extLst>
              <a:ext uri="{FF2B5EF4-FFF2-40B4-BE49-F238E27FC236}">
                <a16:creationId xmlns:a16="http://schemas.microsoft.com/office/drawing/2014/main" id="{E174AF80-B221-476C-9122-6F3E0401727B}"/>
              </a:ext>
            </a:extLst>
          </p:cNvPr>
          <p:cNvSpPr>
            <a:spLocks noGrp="1"/>
          </p:cNvSpPr>
          <p:nvPr>
            <p:ph type="sldNum" sz="quarter" idx="12"/>
          </p:nvPr>
        </p:nvSpPr>
        <p:spPr/>
        <p:txBody>
          <a:bodyPr/>
          <a:lstStyle/>
          <a:p>
            <a:fld id="{2E239A93-5D5E-4798-80B0-904D2BCCAD25}" type="slidenum">
              <a:rPr lang="es-MX" smtClean="0"/>
              <a:t>11</a:t>
            </a:fld>
            <a:endParaRPr lang="es-MX"/>
          </a:p>
        </p:txBody>
      </p:sp>
      <p:pic>
        <p:nvPicPr>
          <p:cNvPr id="6" name="Imagen 5">
            <a:extLst>
              <a:ext uri="{FF2B5EF4-FFF2-40B4-BE49-F238E27FC236}">
                <a16:creationId xmlns:a16="http://schemas.microsoft.com/office/drawing/2014/main" id="{9170A2B7-DEBF-43BB-A133-05A1F96544DE}"/>
              </a:ext>
            </a:extLst>
          </p:cNvPr>
          <p:cNvPicPr>
            <a:picLocks noChangeAspect="1"/>
          </p:cNvPicPr>
          <p:nvPr/>
        </p:nvPicPr>
        <p:blipFill>
          <a:blip r:embed="rId3"/>
          <a:stretch>
            <a:fillRect/>
          </a:stretch>
        </p:blipFill>
        <p:spPr>
          <a:xfrm>
            <a:off x="3869268" y="3600824"/>
            <a:ext cx="7315200" cy="2124196"/>
          </a:xfrm>
          <a:prstGeom prst="rect">
            <a:avLst/>
          </a:prstGeom>
        </p:spPr>
      </p:pic>
    </p:spTree>
    <p:extLst>
      <p:ext uri="{BB962C8B-B14F-4D97-AF65-F5344CB8AC3E}">
        <p14:creationId xmlns:p14="http://schemas.microsoft.com/office/powerpoint/2010/main" val="19515348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0F1FAC7-A551-4EA7-8150-AED833A2CEF2}"/>
              </a:ext>
            </a:extLst>
          </p:cNvPr>
          <p:cNvSpPr>
            <a:spLocks noGrp="1"/>
          </p:cNvSpPr>
          <p:nvPr>
            <p:ph type="title"/>
          </p:nvPr>
        </p:nvSpPr>
        <p:spPr/>
        <p:txBody>
          <a:bodyPr>
            <a:normAutofit/>
          </a:bodyPr>
          <a:lstStyle/>
          <a:p>
            <a:pPr algn="ctr"/>
            <a:r>
              <a:rPr lang="es-MX" sz="3000" dirty="0"/>
              <a:t>Modelo Cliente </a:t>
            </a:r>
            <a:br>
              <a:rPr lang="es-MX" sz="3000" dirty="0"/>
            </a:br>
            <a:r>
              <a:rPr lang="es-MX" sz="3000" dirty="0"/>
              <a:t>–</a:t>
            </a:r>
            <a:br>
              <a:rPr lang="es-MX" sz="3000" dirty="0"/>
            </a:br>
            <a:r>
              <a:rPr lang="es-MX" sz="3000" dirty="0"/>
              <a:t>Servidor</a:t>
            </a:r>
          </a:p>
        </p:txBody>
      </p:sp>
      <p:sp>
        <p:nvSpPr>
          <p:cNvPr id="3" name="Marcador de contenido 2">
            <a:extLst>
              <a:ext uri="{FF2B5EF4-FFF2-40B4-BE49-F238E27FC236}">
                <a16:creationId xmlns:a16="http://schemas.microsoft.com/office/drawing/2014/main" id="{162939D4-6B9A-4E3A-A55F-3B032BD1F7EE}"/>
              </a:ext>
            </a:extLst>
          </p:cNvPr>
          <p:cNvSpPr>
            <a:spLocks noGrp="1"/>
          </p:cNvSpPr>
          <p:nvPr>
            <p:ph idx="1"/>
          </p:nvPr>
        </p:nvSpPr>
        <p:spPr/>
        <p:txBody>
          <a:bodyPr/>
          <a:lstStyle/>
          <a:p>
            <a:pPr algn="just"/>
            <a:r>
              <a:rPr lang="es-MX" sz="3000" dirty="0"/>
              <a:t>El S.O se fracciona en 4 partes así haciendo cada parte más pequeña y aún más controlable. </a:t>
            </a:r>
          </a:p>
          <a:p>
            <a:pPr algn="just"/>
            <a:endParaRPr lang="es-MX" sz="1000" dirty="0"/>
          </a:p>
          <a:p>
            <a:pPr lvl="0" algn="just"/>
            <a:r>
              <a:rPr lang="es-MX" sz="3000" dirty="0"/>
              <a:t>Servicio a archivos</a:t>
            </a:r>
          </a:p>
          <a:p>
            <a:pPr lvl="0" algn="just"/>
            <a:r>
              <a:rPr lang="es-MX" sz="3000" dirty="0"/>
              <a:t>Servicio a procesos</a:t>
            </a:r>
          </a:p>
          <a:p>
            <a:pPr lvl="0" algn="just"/>
            <a:r>
              <a:rPr lang="es-MX" sz="3000" dirty="0"/>
              <a:t>Servicio a terminales</a:t>
            </a:r>
          </a:p>
          <a:p>
            <a:pPr lvl="0" algn="just"/>
            <a:r>
              <a:rPr lang="es-MX" sz="3000" dirty="0"/>
              <a:t>Servicio a memoria</a:t>
            </a:r>
          </a:p>
        </p:txBody>
      </p:sp>
      <p:sp>
        <p:nvSpPr>
          <p:cNvPr id="4" name="Marcador de pie de página 3">
            <a:extLst>
              <a:ext uri="{FF2B5EF4-FFF2-40B4-BE49-F238E27FC236}">
                <a16:creationId xmlns:a16="http://schemas.microsoft.com/office/drawing/2014/main" id="{6EEE905C-904A-48E6-85E3-94E0E9E4F006}"/>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D9E8D6F0-A594-4759-985F-32B4F030836E}"/>
              </a:ext>
            </a:extLst>
          </p:cNvPr>
          <p:cNvSpPr>
            <a:spLocks noGrp="1"/>
          </p:cNvSpPr>
          <p:nvPr>
            <p:ph type="sldNum" sz="quarter" idx="12"/>
          </p:nvPr>
        </p:nvSpPr>
        <p:spPr/>
        <p:txBody>
          <a:bodyPr/>
          <a:lstStyle/>
          <a:p>
            <a:fld id="{2E239A93-5D5E-4798-80B0-904D2BCCAD25}" type="slidenum">
              <a:rPr lang="es-MX" smtClean="0"/>
              <a:t>12</a:t>
            </a:fld>
            <a:endParaRPr lang="es-MX"/>
          </a:p>
        </p:txBody>
      </p:sp>
    </p:spTree>
    <p:extLst>
      <p:ext uri="{BB962C8B-B14F-4D97-AF65-F5344CB8AC3E}">
        <p14:creationId xmlns:p14="http://schemas.microsoft.com/office/powerpoint/2010/main" val="151189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9ECC52-DC2E-9B45-93A9-DE02DA631F79}"/>
              </a:ext>
            </a:extLst>
          </p:cNvPr>
          <p:cNvSpPr>
            <a:spLocks noGrp="1"/>
          </p:cNvSpPr>
          <p:nvPr>
            <p:ph type="title"/>
          </p:nvPr>
        </p:nvSpPr>
        <p:spPr/>
        <p:txBody>
          <a:bodyPr/>
          <a:lstStyle/>
          <a:p>
            <a:pPr algn="ctr"/>
            <a:r>
              <a:rPr lang="es-MX" dirty="0"/>
              <a:t>Adaptable para Sistemas Distribuidos</a:t>
            </a:r>
          </a:p>
        </p:txBody>
      </p:sp>
      <p:pic>
        <p:nvPicPr>
          <p:cNvPr id="7" name="Marcador de contenido 6">
            <a:extLst>
              <a:ext uri="{FF2B5EF4-FFF2-40B4-BE49-F238E27FC236}">
                <a16:creationId xmlns:a16="http://schemas.microsoft.com/office/drawing/2014/main" id="{92D06077-EA8C-894B-98F1-89573869A46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518575" y="1600200"/>
            <a:ext cx="7893883" cy="3067050"/>
          </a:xfrm>
        </p:spPr>
      </p:pic>
      <p:sp>
        <p:nvSpPr>
          <p:cNvPr id="4" name="Marcador de pie de página 3">
            <a:extLst>
              <a:ext uri="{FF2B5EF4-FFF2-40B4-BE49-F238E27FC236}">
                <a16:creationId xmlns:a16="http://schemas.microsoft.com/office/drawing/2014/main" id="{C54F32E2-D51E-4B43-B4AC-45625680BBDB}"/>
              </a:ext>
            </a:extLst>
          </p:cNvPr>
          <p:cNvSpPr>
            <a:spLocks noGrp="1"/>
          </p:cNvSpPr>
          <p:nvPr>
            <p:ph type="ftr" sz="quarter" idx="11"/>
          </p:nvPr>
        </p:nvSpPr>
        <p:spPr/>
        <p:txBody>
          <a:bodyPr/>
          <a:lstStyle/>
          <a:p>
            <a:r>
              <a:rPr lang="es-MX" sz="2000" dirty="0">
                <a:solidFill>
                  <a:schemeClr val="tx1"/>
                </a:solidFill>
              </a:rPr>
              <a:t>Modelo Cliente-Servidor en un sistema distribuido</a:t>
            </a:r>
          </a:p>
        </p:txBody>
      </p:sp>
      <p:sp>
        <p:nvSpPr>
          <p:cNvPr id="5" name="Marcador de número de diapositiva 4">
            <a:extLst>
              <a:ext uri="{FF2B5EF4-FFF2-40B4-BE49-F238E27FC236}">
                <a16:creationId xmlns:a16="http://schemas.microsoft.com/office/drawing/2014/main" id="{7FFA81CC-681E-254C-ACFF-695869EB1EC2}"/>
              </a:ext>
            </a:extLst>
          </p:cNvPr>
          <p:cNvSpPr>
            <a:spLocks noGrp="1"/>
          </p:cNvSpPr>
          <p:nvPr>
            <p:ph type="sldNum" sz="quarter" idx="12"/>
          </p:nvPr>
        </p:nvSpPr>
        <p:spPr/>
        <p:txBody>
          <a:bodyPr/>
          <a:lstStyle/>
          <a:p>
            <a:fld id="{2E239A93-5D5E-4798-80B0-904D2BCCAD25}" type="slidenum">
              <a:rPr lang="es-MX" smtClean="0"/>
              <a:t>13</a:t>
            </a:fld>
            <a:endParaRPr lang="es-MX"/>
          </a:p>
        </p:txBody>
      </p:sp>
    </p:spTree>
    <p:extLst>
      <p:ext uri="{BB962C8B-B14F-4D97-AF65-F5344CB8AC3E}">
        <p14:creationId xmlns:p14="http://schemas.microsoft.com/office/powerpoint/2010/main" val="2264882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6FE389-CCF6-6440-9607-9A0330EFDEC1}"/>
              </a:ext>
            </a:extLst>
          </p:cNvPr>
          <p:cNvSpPr>
            <a:spLocks noGrp="1"/>
          </p:cNvSpPr>
          <p:nvPr>
            <p:ph type="title"/>
          </p:nvPr>
        </p:nvSpPr>
        <p:spPr/>
        <p:txBody>
          <a:bodyPr/>
          <a:lstStyle/>
          <a:p>
            <a:pPr algn="ctr"/>
            <a:r>
              <a:rPr lang="es-MX" dirty="0"/>
              <a:t>Tendencias </a:t>
            </a:r>
          </a:p>
        </p:txBody>
      </p:sp>
      <p:sp>
        <p:nvSpPr>
          <p:cNvPr id="3" name="Marcador de contenido 2">
            <a:extLst>
              <a:ext uri="{FF2B5EF4-FFF2-40B4-BE49-F238E27FC236}">
                <a16:creationId xmlns:a16="http://schemas.microsoft.com/office/drawing/2014/main" id="{67942C2B-DD88-3440-84D7-A30DB60C1124}"/>
              </a:ext>
            </a:extLst>
          </p:cNvPr>
          <p:cNvSpPr>
            <a:spLocks noGrp="1"/>
          </p:cNvSpPr>
          <p:nvPr>
            <p:ph idx="1"/>
          </p:nvPr>
        </p:nvSpPr>
        <p:spPr/>
        <p:txBody>
          <a:bodyPr/>
          <a:lstStyle/>
          <a:p>
            <a:r>
              <a:rPr lang="es-MX" dirty="0"/>
              <a:t>Soporte multiprocesamiento</a:t>
            </a:r>
          </a:p>
          <a:p>
            <a:r>
              <a:rPr lang="es-MX" dirty="0"/>
              <a:t>Migración </a:t>
            </a:r>
          </a:p>
          <a:p>
            <a:r>
              <a:rPr lang="es-MX" dirty="0"/>
              <a:t>Distribución</a:t>
            </a:r>
          </a:p>
          <a:p>
            <a:r>
              <a:rPr lang="es-MX" dirty="0"/>
              <a:t>Mejora</a:t>
            </a:r>
          </a:p>
          <a:p>
            <a:r>
              <a:rPr lang="es-MX" dirty="0"/>
              <a:t>Soporte del paralelismo</a:t>
            </a:r>
          </a:p>
          <a:p>
            <a:r>
              <a:rPr lang="es-MX" dirty="0"/>
              <a:t>Profundización</a:t>
            </a:r>
          </a:p>
          <a:p>
            <a:r>
              <a:rPr lang="es-MX" dirty="0"/>
              <a:t>Continuación esquema de S.O.</a:t>
            </a:r>
          </a:p>
          <a:p>
            <a:r>
              <a:rPr lang="es-MX" dirty="0"/>
              <a:t>Compatibilidad nuevas generaciones </a:t>
            </a:r>
          </a:p>
          <a:p>
            <a:r>
              <a:rPr lang="es-MX" dirty="0"/>
              <a:t>Desarrollo en la Ingeniería</a:t>
            </a:r>
          </a:p>
          <a:p>
            <a:r>
              <a:rPr lang="es-MX" dirty="0"/>
              <a:t>Proliferación</a:t>
            </a:r>
          </a:p>
          <a:p>
            <a:r>
              <a:rPr lang="es-MX" dirty="0"/>
              <a:t>Permanencia</a:t>
            </a:r>
          </a:p>
          <a:p>
            <a:r>
              <a:rPr lang="es-MX" dirty="0"/>
              <a:t>S.O. con funciones distribuidas </a:t>
            </a:r>
          </a:p>
        </p:txBody>
      </p:sp>
      <p:sp>
        <p:nvSpPr>
          <p:cNvPr id="4" name="Marcador de pie de página 3">
            <a:extLst>
              <a:ext uri="{FF2B5EF4-FFF2-40B4-BE49-F238E27FC236}">
                <a16:creationId xmlns:a16="http://schemas.microsoft.com/office/drawing/2014/main" id="{B4DB5E3A-BF2B-554F-BA56-CF86AF7D608A}"/>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CD41F32C-13BD-5B41-9DCE-9A5B55A84DD2}"/>
              </a:ext>
            </a:extLst>
          </p:cNvPr>
          <p:cNvSpPr>
            <a:spLocks noGrp="1"/>
          </p:cNvSpPr>
          <p:nvPr>
            <p:ph type="sldNum" sz="quarter" idx="12"/>
          </p:nvPr>
        </p:nvSpPr>
        <p:spPr/>
        <p:txBody>
          <a:bodyPr/>
          <a:lstStyle/>
          <a:p>
            <a:fld id="{2E239A93-5D5E-4798-80B0-904D2BCCAD25}" type="slidenum">
              <a:rPr lang="es-MX" smtClean="0"/>
              <a:t>14</a:t>
            </a:fld>
            <a:endParaRPr lang="es-MX"/>
          </a:p>
        </p:txBody>
      </p:sp>
    </p:spTree>
    <p:extLst>
      <p:ext uri="{BB962C8B-B14F-4D97-AF65-F5344CB8AC3E}">
        <p14:creationId xmlns:p14="http://schemas.microsoft.com/office/powerpoint/2010/main" val="41316590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018E49-5479-4DAB-9BF7-E25EE1831E60}"/>
              </a:ext>
            </a:extLst>
          </p:cNvPr>
          <p:cNvSpPr>
            <a:spLocks noGrp="1"/>
          </p:cNvSpPr>
          <p:nvPr>
            <p:ph type="ctrTitle"/>
          </p:nvPr>
        </p:nvSpPr>
        <p:spPr>
          <a:xfrm>
            <a:off x="209550" y="1047750"/>
            <a:ext cx="11544300" cy="4819650"/>
          </a:xfrm>
        </p:spPr>
        <p:txBody>
          <a:bodyPr>
            <a:normAutofit/>
          </a:bodyPr>
          <a:lstStyle/>
          <a:p>
            <a:pPr lvl="0">
              <a:lnSpc>
                <a:spcPct val="100000"/>
              </a:lnSpc>
              <a:spcBef>
                <a:spcPts val="0"/>
              </a:spcBef>
            </a:pPr>
            <a:r>
              <a:rPr lang="es-MX" sz="2000" spc="0" dirty="0">
                <a:solidFill>
                  <a:prstClr val="black"/>
                </a:solidFill>
                <a:latin typeface="Calibri" panose="020F0502020204030204"/>
                <a:ea typeface="+mn-ea"/>
                <a:cs typeface="+mn-cs"/>
              </a:rPr>
              <a:t>1.- A la ejecución de los servicios del Sistema Operativo se le llama:</a:t>
            </a:r>
            <a:br>
              <a:rPr lang="es-MX" sz="2000" spc="0" dirty="0">
                <a:solidFill>
                  <a:prstClr val="black"/>
                </a:solidFill>
                <a:latin typeface="Calibri" panose="020F0502020204030204"/>
                <a:ea typeface="+mn-ea"/>
                <a:cs typeface="+mn-cs"/>
              </a:rPr>
            </a:br>
            <a:r>
              <a:rPr lang="es-MX" sz="2000" spc="0" dirty="0">
                <a:solidFill>
                  <a:prstClr val="black"/>
                </a:solidFill>
                <a:latin typeface="Calibri" panose="020F0502020204030204"/>
                <a:ea typeface="+mn-ea"/>
                <a:cs typeface="+mn-cs"/>
              </a:rPr>
              <a:t> R = Llamada al Sistema Operativo.</a:t>
            </a:r>
            <a:br>
              <a:rPr lang="es-MX" sz="2000" spc="0" dirty="0">
                <a:solidFill>
                  <a:prstClr val="black"/>
                </a:solidFill>
                <a:latin typeface="Calibri" panose="020F0502020204030204"/>
                <a:ea typeface="+mn-ea"/>
                <a:cs typeface="+mn-cs"/>
              </a:rPr>
            </a:br>
            <a:r>
              <a:rPr lang="es-MX" sz="2000" spc="0" dirty="0">
                <a:solidFill>
                  <a:prstClr val="black"/>
                </a:solidFill>
                <a:latin typeface="Calibri" panose="020F0502020204030204"/>
                <a:ea typeface="+mn-ea"/>
                <a:cs typeface="+mn-cs"/>
              </a:rPr>
              <a:t>2.- Jerarquía del Sistema con Capas (En orden) y como trabaja cada una.</a:t>
            </a:r>
            <a:br>
              <a:rPr lang="es-MX" sz="2000" spc="0" dirty="0">
                <a:solidFill>
                  <a:prstClr val="black"/>
                </a:solidFill>
                <a:latin typeface="Calibri" panose="020F0502020204030204"/>
                <a:ea typeface="+mn-ea"/>
                <a:cs typeface="+mn-cs"/>
              </a:rPr>
            </a:br>
            <a:r>
              <a:rPr lang="es-MX" sz="2000" spc="0" dirty="0">
                <a:solidFill>
                  <a:prstClr val="black"/>
                </a:solidFill>
                <a:latin typeface="Calibri" panose="020F0502020204030204"/>
                <a:ea typeface="+mn-ea"/>
                <a:cs typeface="+mn-cs"/>
              </a:rPr>
              <a:t>Capa 0:Trabaja con la asignación del procesador. Alterna procesos. Proporciona Multiprogramación.</a:t>
            </a:r>
            <a:br>
              <a:rPr lang="es-MX" sz="2000" spc="0" dirty="0">
                <a:solidFill>
                  <a:prstClr val="black"/>
                </a:solidFill>
                <a:latin typeface="Calibri" panose="020F0502020204030204"/>
                <a:ea typeface="+mn-ea"/>
                <a:cs typeface="+mn-cs"/>
              </a:rPr>
            </a:br>
            <a:r>
              <a:rPr lang="es-MX" sz="2000" spc="0" dirty="0">
                <a:solidFill>
                  <a:prstClr val="black"/>
                </a:solidFill>
                <a:latin typeface="Calibri" panose="020F0502020204030204"/>
                <a:ea typeface="+mn-ea"/>
                <a:cs typeface="+mn-cs"/>
              </a:rPr>
              <a:t>Capa1:Administra memoria. Asegura que las paginas requeridas lleguen a los procesos de memoria.</a:t>
            </a:r>
            <a:br>
              <a:rPr lang="es-MX" sz="2000" spc="0" dirty="0">
                <a:solidFill>
                  <a:prstClr val="black"/>
                </a:solidFill>
                <a:latin typeface="Calibri" panose="020F0502020204030204"/>
                <a:ea typeface="+mn-ea"/>
                <a:cs typeface="+mn-cs"/>
              </a:rPr>
            </a:br>
            <a:r>
              <a:rPr lang="es-MX" sz="2000" spc="0" dirty="0">
                <a:solidFill>
                  <a:prstClr val="black"/>
                </a:solidFill>
                <a:latin typeface="Calibri" panose="020F0502020204030204"/>
                <a:ea typeface="+mn-ea"/>
                <a:cs typeface="+mn-cs"/>
              </a:rPr>
              <a:t>Capa 2: Administra la comunicación entre cada proceso y la consola.</a:t>
            </a:r>
            <a:br>
              <a:rPr lang="es-MX" sz="2000" spc="0" dirty="0">
                <a:solidFill>
                  <a:prstClr val="black"/>
                </a:solidFill>
                <a:latin typeface="Calibri" panose="020F0502020204030204"/>
                <a:ea typeface="+mn-ea"/>
                <a:cs typeface="+mn-cs"/>
              </a:rPr>
            </a:br>
            <a:r>
              <a:rPr lang="es-MX" sz="2000" spc="0" dirty="0">
                <a:solidFill>
                  <a:prstClr val="black"/>
                </a:solidFill>
                <a:latin typeface="Calibri" panose="020F0502020204030204"/>
                <a:ea typeface="+mn-ea"/>
                <a:cs typeface="+mn-cs"/>
              </a:rPr>
              <a:t>Capa 3: Controla dispositivos E/S.</a:t>
            </a:r>
            <a:br>
              <a:rPr lang="es-MX" sz="2000" spc="0" dirty="0">
                <a:solidFill>
                  <a:prstClr val="black"/>
                </a:solidFill>
                <a:latin typeface="Calibri" panose="020F0502020204030204"/>
                <a:ea typeface="+mn-ea"/>
                <a:cs typeface="+mn-cs"/>
              </a:rPr>
            </a:br>
            <a:r>
              <a:rPr lang="es-MX" sz="2000" spc="0" dirty="0">
                <a:solidFill>
                  <a:prstClr val="black"/>
                </a:solidFill>
                <a:latin typeface="Calibri" panose="020F0502020204030204"/>
                <a:ea typeface="+mn-ea"/>
                <a:cs typeface="+mn-cs"/>
              </a:rPr>
              <a:t>Capa 4: Aloja los programas del usuario.</a:t>
            </a:r>
            <a:br>
              <a:rPr lang="es-MX" sz="2000" spc="0" dirty="0">
                <a:solidFill>
                  <a:prstClr val="black"/>
                </a:solidFill>
                <a:latin typeface="Calibri" panose="020F0502020204030204"/>
                <a:ea typeface="+mn-ea"/>
                <a:cs typeface="+mn-cs"/>
              </a:rPr>
            </a:br>
            <a:r>
              <a:rPr lang="es-MX" sz="2000" spc="0" dirty="0">
                <a:solidFill>
                  <a:prstClr val="black"/>
                </a:solidFill>
                <a:latin typeface="Calibri" panose="020F0502020204030204"/>
                <a:ea typeface="+mn-ea"/>
                <a:cs typeface="+mn-cs"/>
              </a:rPr>
              <a:t>Capa 5: Localiza el proceso utilizado del sistema.</a:t>
            </a:r>
            <a:br>
              <a:rPr lang="es-MX" sz="2000" spc="0" dirty="0">
                <a:solidFill>
                  <a:prstClr val="black"/>
                </a:solidFill>
                <a:latin typeface="Calibri" panose="020F0502020204030204"/>
                <a:ea typeface="+mn-ea"/>
                <a:cs typeface="+mn-cs"/>
              </a:rPr>
            </a:br>
            <a:r>
              <a:rPr lang="es-MX" sz="2000" spc="0" dirty="0">
                <a:solidFill>
                  <a:prstClr val="black"/>
                </a:solidFill>
                <a:latin typeface="Calibri" panose="020F0502020204030204"/>
                <a:ea typeface="+mn-ea"/>
                <a:cs typeface="+mn-cs"/>
              </a:rPr>
              <a:t>3 </a:t>
            </a:r>
            <a:r>
              <a:rPr lang="es-MX" sz="2000" spc="0" dirty="0">
                <a:solidFill>
                  <a:prstClr val="black"/>
                </a:solidFill>
                <a:latin typeface="Calibri" panose="020F0502020204030204"/>
              </a:rPr>
              <a:t>.- ¿En donde se ejecuta el monitor de maquina virtual?</a:t>
            </a:r>
            <a:br>
              <a:rPr lang="es-MX" sz="2000" spc="0" dirty="0">
                <a:solidFill>
                  <a:prstClr val="black"/>
                </a:solidFill>
                <a:latin typeface="Calibri" panose="020F0502020204030204"/>
              </a:rPr>
            </a:br>
            <a:r>
              <a:rPr lang="es-MX" sz="2000" spc="0" dirty="0">
                <a:solidFill>
                  <a:prstClr val="black"/>
                </a:solidFill>
                <a:latin typeface="Calibri" panose="020F0502020204030204"/>
              </a:rPr>
              <a:t>R = En el hardware.</a:t>
            </a:r>
            <a:br>
              <a:rPr lang="es-MX" sz="2000" spc="0" dirty="0">
                <a:solidFill>
                  <a:prstClr val="black"/>
                </a:solidFill>
                <a:latin typeface="Calibri" panose="020F0502020204030204"/>
              </a:rPr>
            </a:br>
            <a:r>
              <a:rPr lang="es-MX" sz="2000" spc="0" dirty="0">
                <a:solidFill>
                  <a:prstClr val="black"/>
                </a:solidFill>
                <a:latin typeface="Calibri" panose="020F0502020204030204"/>
              </a:rPr>
              <a:t>4.- ¿En que se especializan los S.O. Modelo Cliente – Servidor?</a:t>
            </a:r>
            <a:br>
              <a:rPr lang="es-MX" sz="2000" spc="0" dirty="0">
                <a:solidFill>
                  <a:prstClr val="black"/>
                </a:solidFill>
                <a:latin typeface="Calibri" panose="020F0502020204030204"/>
              </a:rPr>
            </a:br>
            <a:r>
              <a:rPr lang="es-MX" sz="2000" spc="0" dirty="0">
                <a:solidFill>
                  <a:prstClr val="black"/>
                </a:solidFill>
                <a:latin typeface="Calibri" panose="020F0502020204030204"/>
              </a:rPr>
              <a:t>R = En mover el código a las capas superiores y mantener un núcleo mínimo.  </a:t>
            </a:r>
            <a:br>
              <a:rPr lang="es-MX" sz="2000" spc="0" dirty="0">
                <a:solidFill>
                  <a:prstClr val="black"/>
                </a:solidFill>
                <a:latin typeface="Calibri" panose="020F0502020204030204"/>
              </a:rPr>
            </a:br>
            <a:r>
              <a:rPr lang="es-MX" sz="2000" spc="0" dirty="0">
                <a:solidFill>
                  <a:prstClr val="black"/>
                </a:solidFill>
                <a:latin typeface="Calibri" panose="020F0502020204030204"/>
              </a:rPr>
              <a:t>5.- ¿En cuantas partes se fracciona el S.O. Modelo Cliente – Servidor? y ¿Cuáles son?</a:t>
            </a:r>
            <a:br>
              <a:rPr lang="es-MX" sz="2000" spc="0" dirty="0">
                <a:solidFill>
                  <a:prstClr val="black"/>
                </a:solidFill>
                <a:latin typeface="Calibri" panose="020F0502020204030204"/>
              </a:rPr>
            </a:br>
            <a:r>
              <a:rPr lang="es-MX" sz="2000" spc="0" dirty="0">
                <a:solidFill>
                  <a:prstClr val="black"/>
                </a:solidFill>
                <a:latin typeface="Calibri" panose="020F0502020204030204"/>
              </a:rPr>
              <a:t>R = 4, Servicio a archivos, Servicio a procesos, Servicio a terminales, Servicio a memoria.</a:t>
            </a:r>
            <a:endParaRPr lang="es-MX" sz="2000" dirty="0"/>
          </a:p>
        </p:txBody>
      </p:sp>
      <p:sp>
        <p:nvSpPr>
          <p:cNvPr id="7" name="CuadroTexto 6">
            <a:extLst>
              <a:ext uri="{FF2B5EF4-FFF2-40B4-BE49-F238E27FC236}">
                <a16:creationId xmlns:a16="http://schemas.microsoft.com/office/drawing/2014/main" id="{2DD6E8CB-01B6-AA4D-8D16-3D9A1600C12C}"/>
              </a:ext>
            </a:extLst>
          </p:cNvPr>
          <p:cNvSpPr txBox="1"/>
          <p:nvPr/>
        </p:nvSpPr>
        <p:spPr>
          <a:xfrm>
            <a:off x="419100" y="209550"/>
            <a:ext cx="1548822" cy="461665"/>
          </a:xfrm>
          <a:prstGeom prst="rect">
            <a:avLst/>
          </a:prstGeom>
          <a:noFill/>
        </p:spPr>
        <p:txBody>
          <a:bodyPr wrap="none" rtlCol="0">
            <a:spAutoFit/>
          </a:bodyPr>
          <a:lstStyle/>
          <a:p>
            <a:r>
              <a:rPr lang="es-MX" sz="2400" b="1" dirty="0"/>
              <a:t>Preguntas</a:t>
            </a:r>
          </a:p>
        </p:txBody>
      </p:sp>
    </p:spTree>
    <p:extLst>
      <p:ext uri="{BB962C8B-B14F-4D97-AF65-F5344CB8AC3E}">
        <p14:creationId xmlns:p14="http://schemas.microsoft.com/office/powerpoint/2010/main" val="742298334"/>
      </p:ext>
    </p:extLst>
  </p:cSld>
  <p:clrMapOvr>
    <a:masterClrMapping/>
  </p:clrMapOvr>
</p:sld>
</file>

<file path=ppt/theme/theme1.xml><?xml version="1.0" encoding="utf-8"?>
<a:theme xmlns:a="http://schemas.openxmlformats.org/drawingml/2006/main" name="Marco">
  <a:themeElements>
    <a:clrScheme name="Marco">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Marco">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arco">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Marco</Template>
  <TotalTime>593</TotalTime>
  <Words>2021</Words>
  <Application>Microsoft Macintosh PowerPoint</Application>
  <PresentationFormat>Panorámica</PresentationFormat>
  <Paragraphs>204</Paragraphs>
  <Slides>15</Slides>
  <Notes>14</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15</vt:i4>
      </vt:variant>
    </vt:vector>
  </HeadingPairs>
  <TitlesOfParts>
    <vt:vector size="24" baseType="lpstr">
      <vt:lpstr>Arial</vt:lpstr>
      <vt:lpstr>Calibri</vt:lpstr>
      <vt:lpstr>Corbel</vt:lpstr>
      <vt:lpstr>CourierNewPSMT</vt:lpstr>
      <vt:lpstr>SymbolMT</vt:lpstr>
      <vt:lpstr>TimesNewRomanPS</vt:lpstr>
      <vt:lpstr>TimesNewRomanPSMT</vt:lpstr>
      <vt:lpstr>Wingdings 2</vt:lpstr>
      <vt:lpstr>Marco</vt:lpstr>
      <vt:lpstr>Estructura de los Sistemas Operativos (S.O.)</vt:lpstr>
      <vt:lpstr>Sistemas  Monolíticos</vt:lpstr>
      <vt:lpstr>Sistemas  Monolíticos</vt:lpstr>
      <vt:lpstr>Sistemas con Capas</vt:lpstr>
      <vt:lpstr>Sistemas por Capas</vt:lpstr>
      <vt:lpstr>Sistemas por Capas</vt:lpstr>
      <vt:lpstr>Sistemas por Capas</vt:lpstr>
      <vt:lpstr>“Multics”  Generación más avanzada de capas</vt:lpstr>
      <vt:lpstr>Máquinas Virtuales</vt:lpstr>
      <vt:lpstr>Máquinas Virtuales</vt:lpstr>
      <vt:lpstr>Modelo Cliente  – Servidor</vt:lpstr>
      <vt:lpstr>Modelo Cliente  – Servidor</vt:lpstr>
      <vt:lpstr>Adaptable para Sistemas Distribuidos</vt:lpstr>
      <vt:lpstr>Tendencias </vt:lpstr>
      <vt:lpstr>1.- A la ejecución de los servicios del Sistema Operativo se le llama:  R = Llamada al Sistema Operativo. 2.- Jerarquía del Sistema con Capas (En orden) y como trabaja cada una. Capa 0:Trabaja con la asignación del procesador. Alterna procesos. Proporciona Multiprogramación. Capa1:Administra memoria. Asegura que las paginas requeridas lleguen a los procesos de memoria. Capa 2: Administra la comunicación entre cada proceso y la consola. Capa 3: Controla dispositivos E/S. Capa 4: Aloja los programas del usuario. Capa 5: Localiza el proceso utilizado del sistema. 3 .- ¿En donde se ejecuta el monitor de maquina virtual? R = En el hardware. 4.- ¿En que se especializan los S.O. Modelo Cliente – Servidor? R = En mover el código a las capas superiores y mantener un núcleo mínimo.   5.- ¿En cuantas partes se fracciona el S.O. Modelo Cliente – Servidor? y ¿Cuáles son? R = 4, Servicio a archivos, Servicio a procesos, Servicio a terminales, Servicio a memoria.</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Estructura de los Sistemas Operativos (S.O.)</dc:title>
  <dc:creator>Herrera Lule</dc:creator>
  <cp:lastModifiedBy>RENE EDMUNDO CUEVAS VALENCIA</cp:lastModifiedBy>
  <cp:revision>24</cp:revision>
  <dcterms:created xsi:type="dcterms:W3CDTF">2017-09-01T15:42:56Z</dcterms:created>
  <dcterms:modified xsi:type="dcterms:W3CDTF">2021-02-10T19:38:11Z</dcterms:modified>
</cp:coreProperties>
</file>