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6"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0"/>
    <p:restoredTop sz="71880"/>
  </p:normalViewPr>
  <p:slideViewPr>
    <p:cSldViewPr snapToGrid="0" snapToObjects="1">
      <p:cViewPr varScale="1">
        <p:scale>
          <a:sx n="81" d="100"/>
          <a:sy n="81" d="100"/>
        </p:scale>
        <p:origin x="712"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538C3-EE46-E44E-9D87-1ECF266E927D}" type="datetimeFigureOut">
              <a:rPr lang="es-ES_tradnl" smtClean="0"/>
              <a:t>23/2/21</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60EE6D-A3EA-7C44-9E37-E5C756C6250F}" type="slidenum">
              <a:rPr lang="es-ES_tradnl" smtClean="0"/>
              <a:t>‹Nº›</a:t>
            </a:fld>
            <a:endParaRPr lang="es-ES_tradnl"/>
          </a:p>
        </p:txBody>
      </p:sp>
    </p:spTree>
    <p:extLst>
      <p:ext uri="{BB962C8B-B14F-4D97-AF65-F5344CB8AC3E}">
        <p14:creationId xmlns:p14="http://schemas.microsoft.com/office/powerpoint/2010/main" val="1085059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Una de las </a:t>
            </a:r>
            <a:r>
              <a:rPr lang="es-MX" sz="1200" b="1" kern="1200" dirty="0">
                <a:solidFill>
                  <a:schemeClr val="tx1"/>
                </a:solidFill>
                <a:effectLst/>
                <a:latin typeface="+mn-lt"/>
                <a:ea typeface="+mn-ea"/>
                <a:cs typeface="+mn-cs"/>
              </a:rPr>
              <a:t>principales funciones del S. O. </a:t>
            </a:r>
            <a:r>
              <a:rPr lang="es-MX" sz="1200" kern="1200" dirty="0">
                <a:solidFill>
                  <a:schemeClr val="tx1"/>
                </a:solidFill>
                <a:effectLst/>
                <a:latin typeface="+mn-lt"/>
                <a:ea typeface="+mn-ea"/>
                <a:cs typeface="+mn-cs"/>
              </a:rPr>
              <a:t>es ocultar toda esta complejidad y brindar al programador un conjunto más conveniente de instrucciones para trabajar. </a:t>
            </a:r>
            <a:endParaRPr lang="es-MX" dirty="0">
              <a:effectLst/>
            </a:endParaRPr>
          </a:p>
          <a:p>
            <a:r>
              <a:rPr lang="es-MX" sz="1200" kern="1200" dirty="0">
                <a:solidFill>
                  <a:schemeClr val="tx1"/>
                </a:solidFill>
                <a:effectLst/>
                <a:latin typeface="+mn-lt"/>
                <a:ea typeface="+mn-ea"/>
                <a:cs typeface="+mn-cs"/>
              </a:rPr>
              <a:t>El S. O. se ejecuta en modo central o modo de supervisión, con máxima prioridad y generalmente con protección por hardware. </a:t>
            </a:r>
            <a:endParaRPr lang="es-MX" dirty="0">
              <a:effectLst/>
            </a:endParaRPr>
          </a:p>
          <a:p>
            <a:r>
              <a:rPr lang="es-MX" sz="1200" kern="1200" dirty="0">
                <a:solidFill>
                  <a:schemeClr val="tx1"/>
                </a:solidFill>
                <a:effectLst/>
                <a:latin typeface="+mn-lt"/>
                <a:ea typeface="+mn-ea"/>
                <a:cs typeface="+mn-cs"/>
              </a:rPr>
              <a:t>Los compiladores, editores y demás programas se ejecutan en modo usuario. </a:t>
            </a:r>
            <a:endParaRPr lang="es-MX" dirty="0">
              <a:effectLst/>
            </a:endParaRPr>
          </a:p>
          <a:p>
            <a:r>
              <a:rPr lang="es-MX" sz="1200" kern="1200" dirty="0">
                <a:solidFill>
                  <a:schemeClr val="tx1"/>
                </a:solidFill>
                <a:effectLst/>
                <a:latin typeface="+mn-lt"/>
                <a:ea typeface="+mn-ea"/>
                <a:cs typeface="+mn-cs"/>
              </a:rPr>
              <a:t>El S. O. es la serie de programas, dispuestos ya sea en el software o en la memoria fija (microcódigo), que hacen al hardware utilizable.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Los S. O. ponen el </a:t>
            </a:r>
            <a:r>
              <a:rPr lang="es-MX" sz="1200" i="1" kern="1200" dirty="0">
                <a:solidFill>
                  <a:schemeClr val="tx1"/>
                </a:solidFill>
                <a:effectLst/>
                <a:latin typeface="+mn-lt"/>
                <a:ea typeface="+mn-ea"/>
                <a:cs typeface="+mn-cs"/>
              </a:rPr>
              <a:t>“poder computacional básico” </a:t>
            </a:r>
            <a:r>
              <a:rPr lang="es-MX" sz="1200" kern="1200" dirty="0">
                <a:solidFill>
                  <a:schemeClr val="tx1"/>
                </a:solidFill>
                <a:effectLst/>
                <a:latin typeface="+mn-lt"/>
                <a:ea typeface="+mn-ea"/>
                <a:cs typeface="+mn-cs"/>
              </a:rPr>
              <a:t>del hardware convenientemente a disposición del usuario, pero </a:t>
            </a:r>
            <a:r>
              <a:rPr lang="es-MX" sz="1200" i="1" kern="1200" dirty="0">
                <a:solidFill>
                  <a:schemeClr val="tx1"/>
                </a:solidFill>
                <a:effectLst/>
                <a:latin typeface="+mn-lt"/>
                <a:ea typeface="+mn-ea"/>
                <a:cs typeface="+mn-cs"/>
              </a:rPr>
              <a:t>consumen parte de ese poder computacional </a:t>
            </a:r>
            <a:r>
              <a:rPr lang="es-MX" sz="1200" kern="1200" dirty="0">
                <a:solidFill>
                  <a:schemeClr val="tx1"/>
                </a:solidFill>
                <a:effectLst/>
                <a:latin typeface="+mn-lt"/>
                <a:ea typeface="+mn-ea"/>
                <a:cs typeface="+mn-cs"/>
              </a:rPr>
              <a:t>para funcionar [7, Deitel]. </a:t>
            </a:r>
            <a:endParaRPr lang="es-MX"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Los S. O. son, en primer lugar, </a:t>
            </a:r>
            <a:r>
              <a:rPr lang="es-MX" sz="1200" b="1" kern="1200" dirty="0">
                <a:solidFill>
                  <a:schemeClr val="tx1"/>
                </a:solidFill>
                <a:effectLst/>
                <a:latin typeface="+mn-lt"/>
                <a:ea typeface="+mn-ea"/>
                <a:cs typeface="+mn-cs"/>
              </a:rPr>
              <a:t>administradores de recursos</a:t>
            </a:r>
            <a:r>
              <a:rPr lang="es-MX" sz="1200" kern="1200" dirty="0">
                <a:solidFill>
                  <a:schemeClr val="tx1"/>
                </a:solidFill>
                <a:effectLst/>
                <a:latin typeface="+mn-lt"/>
                <a:ea typeface="+mn-ea"/>
                <a:cs typeface="+mn-cs"/>
              </a:rPr>
              <a:t>, siendo el recurso primario el hardware del sistema </a:t>
            </a:r>
            <a:endParaRPr lang="es-MX" dirty="0">
              <a:effectLst/>
            </a:endParaRPr>
          </a:p>
          <a:p>
            <a:endParaRPr lang="es-MX" dirty="0">
              <a:effectLst/>
            </a:endParaRPr>
          </a:p>
          <a:p>
            <a:endParaRPr lang="es-ES_tradnl"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1</a:t>
            </a:fld>
            <a:endParaRPr lang="es-ES_tradnl"/>
          </a:p>
        </p:txBody>
      </p:sp>
    </p:spTree>
    <p:extLst>
      <p:ext uri="{BB962C8B-B14F-4D97-AF65-F5344CB8AC3E}">
        <p14:creationId xmlns:p14="http://schemas.microsoft.com/office/powerpoint/2010/main" val="170575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Procesador</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Controla la operación del computador y lleva a cabo las funciones de procesamiento de datos. El procesamiento de instrucciones consta de dos pasos:</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1</a:t>
            </a:r>
            <a:r>
              <a:rPr lang="es-ES" sz="1200" kern="1200" dirty="0">
                <a:solidFill>
                  <a:schemeClr val="tx1"/>
                </a:solidFill>
                <a:effectLst/>
                <a:latin typeface="+mn-lt"/>
                <a:ea typeface="+mn-ea"/>
                <a:cs typeface="+mn-cs"/>
              </a:rPr>
              <a:t>.- Trae las instrucciones desde la memoria, una cada vez</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2</a:t>
            </a:r>
            <a:r>
              <a:rPr lang="es-ES" sz="1200" kern="1200" dirty="0">
                <a:solidFill>
                  <a:schemeClr val="tx1"/>
                </a:solidFill>
                <a:effectLst/>
                <a:latin typeface="+mn-lt"/>
                <a:ea typeface="+mn-ea"/>
                <a:cs typeface="+mn-cs"/>
              </a:rPr>
              <a:t>.-Ejecuta cada instrucción.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La ejecución del programa consiste en la repetición del proceso de lectura y ejecución de la instrucción. </a:t>
            </a:r>
          </a:p>
          <a:p>
            <a:r>
              <a:rPr lang="es-ES" sz="1200" kern="1200" dirty="0">
                <a:solidFill>
                  <a:schemeClr val="tx1"/>
                </a:solidFill>
                <a:effectLst/>
                <a:latin typeface="+mn-lt"/>
                <a:ea typeface="+mn-ea"/>
                <a:cs typeface="+mn-cs"/>
              </a:rPr>
              <a:t>La instrucción leída se carga en un registro del procesador conocido como </a:t>
            </a:r>
            <a:r>
              <a:rPr lang="es-ES" sz="1200" i="1" kern="1200" dirty="0">
                <a:solidFill>
                  <a:schemeClr val="tx1"/>
                </a:solidFill>
                <a:effectLst/>
                <a:latin typeface="+mn-lt"/>
                <a:ea typeface="+mn-ea"/>
                <a:cs typeface="+mn-cs"/>
              </a:rPr>
              <a:t>registro de instrucción</a:t>
            </a:r>
            <a:r>
              <a:rPr lang="es-ES" sz="1200" kern="1200" dirty="0">
                <a:solidFill>
                  <a:schemeClr val="tx1"/>
                </a:solidFill>
                <a:effectLst/>
                <a:latin typeface="+mn-lt"/>
                <a:ea typeface="+mn-ea"/>
                <a:cs typeface="+mn-cs"/>
              </a:rPr>
              <a:t>, el procesador interpreta la instrucción y realiza la acción requerida. </a:t>
            </a:r>
          </a:p>
          <a:p>
            <a:r>
              <a:rPr lang="es-ES" sz="1200" kern="1200" dirty="0">
                <a:solidFill>
                  <a:schemeClr val="tx1"/>
                </a:solidFill>
                <a:effectLst/>
                <a:latin typeface="+mn-lt"/>
                <a:ea typeface="+mn-ea"/>
                <a:cs typeface="+mn-cs"/>
              </a:rPr>
              <a:t>Estas </a:t>
            </a:r>
            <a:r>
              <a:rPr lang="es-ES" sz="1200" i="1" kern="1200" dirty="0">
                <a:solidFill>
                  <a:schemeClr val="tx1"/>
                </a:solidFill>
                <a:effectLst/>
                <a:latin typeface="+mn-lt"/>
                <a:ea typeface="+mn-ea"/>
                <a:cs typeface="+mn-cs"/>
              </a:rPr>
              <a:t>acciones de procesamiento</a:t>
            </a:r>
            <a:r>
              <a:rPr lang="es-ES" sz="1200" kern="1200" dirty="0">
                <a:solidFill>
                  <a:schemeClr val="tx1"/>
                </a:solidFill>
                <a:effectLst/>
                <a:latin typeface="+mn-lt"/>
                <a:ea typeface="+mn-ea"/>
                <a:cs typeface="+mn-cs"/>
              </a:rPr>
              <a:t> pueden clasificarse así:</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1.-Procesados-memoria: transferencia de datos del procesador a la memoria o viceversa.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2.-Procesador-E/S: transferencia de datos desde o hacia un dispositivo periférico, haciendo transferencia entre procesador y modulo I/O.</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3.-Tratamiento de datos: realización de alguna operación aritmética o lógica.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4.-Control: la instrucción pide que se altere la secuencia de ejecución. </a:t>
            </a:r>
            <a:endParaRPr lang="es-ES_tradnl" sz="1200" kern="1200" dirty="0">
              <a:solidFill>
                <a:schemeClr val="tx1"/>
              </a:solidFill>
              <a:effectLst/>
              <a:latin typeface="+mn-lt"/>
              <a:ea typeface="+mn-ea"/>
              <a:cs typeface="+mn-cs"/>
            </a:endParaRPr>
          </a:p>
          <a:p>
            <a:endParaRPr lang="es-ES_tradnl"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3</a:t>
            </a:fld>
            <a:endParaRPr lang="es-ES_tradnl"/>
          </a:p>
        </p:txBody>
      </p:sp>
    </p:spTree>
    <p:extLst>
      <p:ext uri="{BB962C8B-B14F-4D97-AF65-F5344CB8AC3E}">
        <p14:creationId xmlns:p14="http://schemas.microsoft.com/office/powerpoint/2010/main" val="18580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b="1" kern="1200" dirty="0">
                <a:solidFill>
                  <a:schemeClr val="tx1"/>
                </a:solidFill>
                <a:effectLst/>
                <a:latin typeface="+mn-lt"/>
                <a:ea typeface="+mn-ea"/>
                <a:cs typeface="+mn-cs"/>
              </a:rPr>
              <a:t>Medios de almacenamiento: </a:t>
            </a:r>
            <a:r>
              <a:rPr lang="es-ES" sz="1200" kern="1200" dirty="0">
                <a:solidFill>
                  <a:schemeClr val="tx1"/>
                </a:solidFill>
                <a:effectLst/>
                <a:latin typeface="+mn-lt"/>
                <a:ea typeface="+mn-ea"/>
                <a:cs typeface="+mn-cs"/>
              </a:rPr>
              <a:t>la organización y administración de la memoria principal es uno de los factores más importantes en el diseño de un SO, los programas y datos deben estar almacenados en la memoria principal para poderlos ejecutar o referenciarlos directamente. </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memoria secundaria soportada en discos. El administrador de memoria lleva un registro de las partes de memoria que se están utilizando y aquellas que no, así como asignar espacio en memoria cuando algún proceso lo necesita, y libera espacio en memoria de procesos finalizados. </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Los programas y datos, deben estar en la memoria principal (MP) para ser ejecutados o referenciados (es de acceso más rápido, pero consume más recursos), aquellos que no son necesarios inmediatamente pueden mantenerse en el almacenamiento secundario.  </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El cache o memoria de alta velocidad es más rápida y costosa que la MP, los programas almacenados aquí se ejecutan más rápido que en la MP.</a:t>
            </a:r>
            <a:endParaRPr lang="es-ES_tradnl" sz="1200" kern="1200" dirty="0">
              <a:solidFill>
                <a:schemeClr val="tx1"/>
              </a:solidFill>
              <a:effectLst/>
              <a:latin typeface="+mn-lt"/>
              <a:ea typeface="+mn-ea"/>
              <a:cs typeface="+mn-cs"/>
            </a:endParaRPr>
          </a:p>
          <a:p>
            <a:endParaRPr lang="es-ES_tradnl"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4</a:t>
            </a:fld>
            <a:endParaRPr lang="es-ES_tradnl"/>
          </a:p>
        </p:txBody>
      </p:sp>
    </p:spTree>
    <p:extLst>
      <p:ext uri="{BB962C8B-B14F-4D97-AF65-F5344CB8AC3E}">
        <p14:creationId xmlns:p14="http://schemas.microsoft.com/office/powerpoint/2010/main" val="411530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Dispositivos I/O - Facilitar el manejo de dispositivos I/O:	</a:t>
            </a:r>
            <a:r>
              <a:rPr lang="es-ES" sz="1200" kern="1200" dirty="0">
                <a:solidFill>
                  <a:schemeClr val="tx1"/>
                </a:solidFill>
                <a:effectLst/>
                <a:latin typeface="+mn-lt"/>
                <a:ea typeface="+mn-ea"/>
                <a:cs typeface="+mn-cs"/>
              </a:rPr>
              <a:t>pueden intercambiar datos directamente con el procesador. El procesador puede iniciar una lectura o escritura en la memoria, o leer datos de un módulo I/O y escribir datos en dicho modulo.  </a:t>
            </a:r>
          </a:p>
          <a:p>
            <a:r>
              <a:rPr lang="es-ES" sz="1200" kern="1200" dirty="0">
                <a:solidFill>
                  <a:schemeClr val="tx1"/>
                </a:solidFill>
                <a:effectLst/>
                <a:latin typeface="+mn-lt"/>
                <a:ea typeface="+mn-ea"/>
                <a:cs typeface="+mn-cs"/>
              </a:rPr>
              <a:t>En ocasiones los módulos I/O tienen acceso (escritura o lectura) a la memoria en dichos casos, se conoce como </a:t>
            </a:r>
            <a:r>
              <a:rPr lang="es-ES" sz="1200" i="1" kern="1200" dirty="0">
                <a:solidFill>
                  <a:schemeClr val="tx1"/>
                </a:solidFill>
                <a:effectLst/>
                <a:latin typeface="+mn-lt"/>
                <a:ea typeface="+mn-ea"/>
                <a:cs typeface="+mn-cs"/>
              </a:rPr>
              <a:t>acceso directo a la memoria. </a:t>
            </a:r>
            <a:r>
              <a:rPr lang="es-ES" sz="1200" kern="1200" dirty="0">
                <a:solidFill>
                  <a:schemeClr val="tx1"/>
                </a:solidFill>
                <a:effectLst/>
                <a:latin typeface="+mn-lt"/>
                <a:ea typeface="+mn-ea"/>
                <a:cs typeface="+mn-cs"/>
              </a:rPr>
              <a:t>Estos módulos tienen mecanismos por el cual pueden interrumpir la ejecución normal del procesador, como una vía para mejorar la eficiencia del procesamiento. </a:t>
            </a:r>
          </a:p>
          <a:p>
            <a:r>
              <a:rPr lang="es-ES" sz="1200" kern="1200" dirty="0">
                <a:solidFill>
                  <a:schemeClr val="tx1"/>
                </a:solidFill>
                <a:effectLst/>
                <a:latin typeface="+mn-lt"/>
                <a:ea typeface="+mn-ea"/>
                <a:cs typeface="+mn-cs"/>
              </a:rPr>
              <a:t>Con las interrupciones el procesador se puede dedicar a la ejecución de otras instrucciones mientras una operación I/O está en proceso. </a:t>
            </a:r>
          </a:p>
          <a:p>
            <a:r>
              <a:rPr lang="es-ES" sz="1200" kern="1200" dirty="0">
                <a:solidFill>
                  <a:schemeClr val="tx1"/>
                </a:solidFill>
                <a:effectLst/>
                <a:latin typeface="+mn-lt"/>
                <a:ea typeface="+mn-ea"/>
                <a:cs typeface="+mn-cs"/>
              </a:rPr>
              <a:t>Las interrupciones inician una serie de pasos tanto en el hardware del procesador como en el software.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1.</a:t>
            </a:r>
            <a:r>
              <a:rPr lang="es-ES" sz="1200" kern="1200" dirty="0">
                <a:solidFill>
                  <a:schemeClr val="tx1"/>
                </a:solidFill>
                <a:effectLst/>
                <a:latin typeface="+mn-lt"/>
                <a:ea typeface="+mn-ea"/>
                <a:cs typeface="+mn-cs"/>
              </a:rPr>
              <a:t>- El dispositivo emite una señal de </a:t>
            </a:r>
            <a:r>
              <a:rPr lang="es-ES" sz="1200" i="1" kern="1200" dirty="0">
                <a:solidFill>
                  <a:schemeClr val="tx1"/>
                </a:solidFill>
                <a:effectLst/>
                <a:latin typeface="+mn-lt"/>
                <a:ea typeface="+mn-ea"/>
                <a:cs typeface="+mn-cs"/>
              </a:rPr>
              <a:t>interrupción al procesador.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2.- </a:t>
            </a:r>
            <a:r>
              <a:rPr lang="es-ES" sz="1200" kern="1200" dirty="0">
                <a:solidFill>
                  <a:schemeClr val="tx1"/>
                </a:solidFill>
                <a:effectLst/>
                <a:latin typeface="+mn-lt"/>
                <a:ea typeface="+mn-ea"/>
                <a:cs typeface="+mn-cs"/>
              </a:rPr>
              <a:t>El procesador finaliza la ejecución de la instrucción en curso antes de atender la interrupción.</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3.</a:t>
            </a:r>
            <a:r>
              <a:rPr lang="es-ES" sz="1200" kern="1200" dirty="0">
                <a:solidFill>
                  <a:schemeClr val="tx1"/>
                </a:solidFill>
                <a:effectLst/>
                <a:latin typeface="+mn-lt"/>
                <a:ea typeface="+mn-ea"/>
                <a:cs typeface="+mn-cs"/>
              </a:rPr>
              <a:t>- el procesador pregunta por la interrupción, comprueba la existencia y envía una señal de reconocimiento al módulo I/O, esto permite suspender la señal de interrupción.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4.</a:t>
            </a:r>
            <a:r>
              <a:rPr lang="es-ES" sz="1200" kern="1200" dirty="0">
                <a:solidFill>
                  <a:schemeClr val="tx1"/>
                </a:solidFill>
                <a:effectLst/>
                <a:latin typeface="+mn-lt"/>
                <a:ea typeface="+mn-ea"/>
                <a:cs typeface="+mn-cs"/>
              </a:rPr>
              <a:t>- El procesador se prepara para transferir el control a la rutina de interrupción. Salva la información necesaria para reanudar la ejecución que se suspenderá en el punto indicado. Estos se meten a la pila de control del sistema.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5.</a:t>
            </a:r>
            <a:r>
              <a:rPr lang="es-ES" sz="1200" kern="1200" dirty="0">
                <a:solidFill>
                  <a:schemeClr val="tx1"/>
                </a:solidFill>
                <a:effectLst/>
                <a:latin typeface="+mn-lt"/>
                <a:ea typeface="+mn-ea"/>
                <a:cs typeface="+mn-cs"/>
              </a:rPr>
              <a:t>- El procesador carga el contador de programa con </a:t>
            </a:r>
            <a:r>
              <a:rPr lang="es-ES" sz="1200" i="1" kern="1200" dirty="0">
                <a:solidFill>
                  <a:schemeClr val="tx1"/>
                </a:solidFill>
                <a:effectLst/>
                <a:latin typeface="+mn-lt"/>
                <a:ea typeface="+mn-ea"/>
                <a:cs typeface="+mn-cs"/>
              </a:rPr>
              <a:t>la ubicación de entrada de la instrucción en interrupción</a:t>
            </a:r>
            <a:r>
              <a:rPr lang="es-ES" sz="1200" kern="1200" dirty="0">
                <a:solidFill>
                  <a:schemeClr val="tx1"/>
                </a:solidFill>
                <a:effectLst/>
                <a:latin typeface="+mn-lt"/>
                <a:ea typeface="+mn-ea"/>
                <a:cs typeface="+mn-cs"/>
              </a:rPr>
              <a:t>, posteriormente procede con el próximo ciclo de instrucción. </a:t>
            </a:r>
          </a:p>
          <a:p>
            <a:r>
              <a:rPr lang="es-ES" sz="1200" kern="1200" dirty="0">
                <a:solidFill>
                  <a:schemeClr val="tx1"/>
                </a:solidFill>
                <a:effectLst/>
                <a:latin typeface="+mn-lt"/>
                <a:ea typeface="+mn-ea"/>
                <a:cs typeface="+mn-cs"/>
              </a:rPr>
              <a:t>Se traduce en las operaciones siguientes: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6.</a:t>
            </a:r>
            <a:r>
              <a:rPr lang="es-ES" sz="1200" kern="1200" dirty="0">
                <a:solidFill>
                  <a:schemeClr val="tx1"/>
                </a:solidFill>
                <a:effectLst/>
                <a:latin typeface="+mn-lt"/>
                <a:ea typeface="+mn-ea"/>
                <a:cs typeface="+mn-cs"/>
              </a:rPr>
              <a:t>- el contador y la palabra estado del programa interrumpido se salvaron en la pila del sistema. </a:t>
            </a:r>
          </a:p>
          <a:p>
            <a:r>
              <a:rPr lang="es-ES" sz="1200" kern="1200" dirty="0">
                <a:solidFill>
                  <a:schemeClr val="tx1"/>
                </a:solidFill>
                <a:effectLst/>
                <a:latin typeface="+mn-lt"/>
                <a:ea typeface="+mn-ea"/>
                <a:cs typeface="+mn-cs"/>
              </a:rPr>
              <a:t>                    Se guarda el puntero de la próxima instrucción (N+1) en la pila.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7.</a:t>
            </a:r>
            <a:r>
              <a:rPr lang="es-ES" sz="1200" kern="1200" dirty="0">
                <a:solidFill>
                  <a:schemeClr val="tx1"/>
                </a:solidFill>
                <a:effectLst/>
                <a:latin typeface="+mn-lt"/>
                <a:ea typeface="+mn-ea"/>
                <a:cs typeface="+mn-cs"/>
              </a:rPr>
              <a:t>- la rutina de </a:t>
            </a:r>
            <a:r>
              <a:rPr lang="es-ES" sz="1200" i="1" kern="1200" dirty="0">
                <a:solidFill>
                  <a:schemeClr val="tx1"/>
                </a:solidFill>
                <a:effectLst/>
                <a:latin typeface="+mn-lt"/>
                <a:ea typeface="+mn-ea"/>
                <a:cs typeface="+mn-cs"/>
              </a:rPr>
              <a:t>tratamiento de interrupción </a:t>
            </a:r>
            <a:r>
              <a:rPr lang="es-ES" sz="1200" kern="1200" dirty="0">
                <a:solidFill>
                  <a:schemeClr val="tx1"/>
                </a:solidFill>
                <a:effectLst/>
                <a:latin typeface="+mn-lt"/>
                <a:ea typeface="+mn-ea"/>
                <a:cs typeface="+mn-cs"/>
              </a:rPr>
              <a:t>puede proceder a procesar</a:t>
            </a:r>
            <a:r>
              <a:rPr lang="es-ES" sz="1200" i="1"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a la interrupción.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	8.</a:t>
            </a:r>
            <a:r>
              <a:rPr lang="es-ES" sz="1200" kern="1200" dirty="0">
                <a:solidFill>
                  <a:schemeClr val="tx1"/>
                </a:solidFill>
                <a:effectLst/>
                <a:latin typeface="+mn-lt"/>
                <a:ea typeface="+mn-ea"/>
                <a:cs typeface="+mn-cs"/>
              </a:rPr>
              <a:t>- cuando se completa el tratamiento de la interrupción, se recuperan de la pila los registros de la próxima instrucción.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Este proceso puede ser también con interrupciones múltiples, en el que interfieren diferentes procesos a interrumpir y ejecutar en orden de solicitud. </a:t>
            </a:r>
            <a:endParaRPr lang="es-ES_tradnl" sz="1200" kern="1200" dirty="0">
              <a:solidFill>
                <a:schemeClr val="tx1"/>
              </a:solidFill>
              <a:effectLst/>
              <a:latin typeface="+mn-lt"/>
              <a:ea typeface="+mn-ea"/>
              <a:cs typeface="+mn-cs"/>
            </a:endParaRPr>
          </a:p>
          <a:p>
            <a:endParaRPr lang="es-ES_tradnl"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5</a:t>
            </a:fld>
            <a:endParaRPr lang="es-ES_tradnl"/>
          </a:p>
        </p:txBody>
      </p:sp>
    </p:spTree>
    <p:extLst>
      <p:ext uri="{BB962C8B-B14F-4D97-AF65-F5344CB8AC3E}">
        <p14:creationId xmlns:p14="http://schemas.microsoft.com/office/powerpoint/2010/main" val="1693635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Sistemas operativos como interfaz de usuario - </a:t>
            </a:r>
            <a:r>
              <a:rPr lang="es-ES" sz="1200" b="1" kern="1200" dirty="0" err="1">
                <a:solidFill>
                  <a:schemeClr val="tx1"/>
                </a:solidFill>
                <a:effectLst/>
                <a:latin typeface="+mn-lt"/>
                <a:ea typeface="+mn-ea"/>
                <a:cs typeface="+mn-cs"/>
              </a:rPr>
              <a:t>User</a:t>
            </a:r>
            <a:r>
              <a:rPr lang="es-ES" sz="1200" b="1" kern="1200" dirty="0">
                <a:solidFill>
                  <a:schemeClr val="tx1"/>
                </a:solidFill>
                <a:effectLst/>
                <a:latin typeface="+mn-lt"/>
                <a:ea typeface="+mn-ea"/>
                <a:cs typeface="+mn-cs"/>
              </a:rPr>
              <a:t> Interface: </a:t>
            </a:r>
            <a:r>
              <a:rPr lang="es-ES" sz="1200" kern="1200" dirty="0">
                <a:solidFill>
                  <a:schemeClr val="tx1"/>
                </a:solidFill>
                <a:effectLst/>
                <a:latin typeface="+mn-lt"/>
                <a:ea typeface="+mn-ea"/>
                <a:cs typeface="+mn-cs"/>
              </a:rPr>
              <a:t>el módulo del sistema operativo que permite la comunicación de manera interactiva con el sistema, es el intérprete de mandatos o </a:t>
            </a:r>
            <a:r>
              <a:rPr lang="es-ES" sz="1200" i="1" kern="1200" dirty="0">
                <a:solidFill>
                  <a:schemeClr val="tx1"/>
                </a:solidFill>
                <a:effectLst/>
                <a:latin typeface="+mn-lt"/>
                <a:ea typeface="+mn-ea"/>
                <a:cs typeface="+mn-cs"/>
              </a:rPr>
              <a:t>Shell. </a:t>
            </a:r>
            <a:r>
              <a:rPr lang="es-ES" sz="1200" kern="1200" dirty="0">
                <a:solidFill>
                  <a:schemeClr val="tx1"/>
                </a:solidFill>
                <a:effectLst/>
                <a:latin typeface="+mn-lt"/>
                <a:ea typeface="+mn-ea"/>
                <a:cs typeface="+mn-cs"/>
              </a:rPr>
              <a:t>Este, se comporta como un ciclo infinito que repite las siguientes instrucciones:</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1.-</a:t>
            </a:r>
            <a:r>
              <a:rPr lang="es-ES" sz="1200" kern="1200" dirty="0">
                <a:solidFill>
                  <a:schemeClr val="tx1"/>
                </a:solidFill>
                <a:effectLst/>
                <a:latin typeface="+mn-lt"/>
                <a:ea typeface="+mn-ea"/>
                <a:cs typeface="+mn-cs"/>
              </a:rPr>
              <a:t>Espera la orden del usuario: en el caso de interfaz textual, el </a:t>
            </a:r>
            <a:r>
              <a:rPr lang="es-ES" sz="1200" i="1" kern="1200" dirty="0">
                <a:solidFill>
                  <a:schemeClr val="tx1"/>
                </a:solidFill>
                <a:effectLst/>
                <a:latin typeface="+mn-lt"/>
                <a:ea typeface="+mn-ea"/>
                <a:cs typeface="+mn-cs"/>
              </a:rPr>
              <a:t>Shell</a:t>
            </a:r>
            <a:r>
              <a:rPr lang="es-ES" sz="1200" kern="1200" dirty="0">
                <a:solidFill>
                  <a:schemeClr val="tx1"/>
                </a:solidFill>
                <a:effectLst/>
                <a:latin typeface="+mn-lt"/>
                <a:ea typeface="+mn-ea"/>
                <a:cs typeface="+mn-cs"/>
              </a:rPr>
              <a:t> está al pendiente de lo que el usuario escribe en la línea de mandatos. En las interfaces gráficas, está pendiente de los eventos del mouse que el usuario manipula además de los del teclado.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2.-Analiza la orden, y en caso de ser correcta, la ejecuta, para o cual utiliza servicios del sistema operativo.</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3.-Concluida la orden, regresa al punto de espera.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a:t>
            </a:r>
            <a:endParaRPr lang="es-ES_tradnl" sz="1200"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Archivos de mandatos: </a:t>
            </a:r>
            <a:r>
              <a:rPr lang="es-ES" sz="1200" kern="1200" dirty="0">
                <a:solidFill>
                  <a:schemeClr val="tx1"/>
                </a:solidFill>
                <a:effectLst/>
                <a:latin typeface="+mn-lt"/>
                <a:ea typeface="+mn-ea"/>
                <a:cs typeface="+mn-cs"/>
              </a:rPr>
              <a:t>la mayoría de los interpretes de mandatos, pueden ejecutar archivos de mandatos, llamados </a:t>
            </a:r>
            <a:r>
              <a:rPr lang="es-ES" sz="1200" i="1" kern="1200" dirty="0">
                <a:solidFill>
                  <a:schemeClr val="tx1"/>
                </a:solidFill>
                <a:effectLst/>
                <a:latin typeface="+mn-lt"/>
                <a:ea typeface="+mn-ea"/>
                <a:cs typeface="+mn-cs"/>
              </a:rPr>
              <a:t>Shell scripts. </a:t>
            </a:r>
            <a:r>
              <a:rPr lang="es-ES" sz="1200" kern="1200" dirty="0">
                <a:solidFill>
                  <a:schemeClr val="tx1"/>
                </a:solidFill>
                <a:effectLst/>
                <a:latin typeface="+mn-lt"/>
                <a:ea typeface="+mn-ea"/>
                <a:cs typeface="+mn-cs"/>
              </a:rPr>
              <a:t>Estos incluyen varios mandatos totalmente equivalentes a los mandatos introducidos en terminal. Además, para las funciones más complejas, incluyen mandatos especiales de control de flujo de ejecución, así como etiquetas para identificar líneas de mandatos.</a:t>
            </a:r>
            <a:endParaRPr lang="es-ES_tradnl" sz="1200" kern="1200" dirty="0">
              <a:solidFill>
                <a:schemeClr val="tx1"/>
              </a:solidFill>
              <a:effectLst/>
              <a:latin typeface="+mn-lt"/>
              <a:ea typeface="+mn-ea"/>
              <a:cs typeface="+mn-cs"/>
            </a:endParaRPr>
          </a:p>
          <a:p>
            <a:endParaRPr lang="es-ES_tradnl" dirty="0"/>
          </a:p>
          <a:p>
            <a:endParaRPr lang="es-ES_tradnl" b="0"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6</a:t>
            </a:fld>
            <a:endParaRPr lang="es-ES_tradnl"/>
          </a:p>
        </p:txBody>
      </p:sp>
    </p:spTree>
    <p:extLst>
      <p:ext uri="{BB962C8B-B14F-4D97-AF65-F5344CB8AC3E}">
        <p14:creationId xmlns:p14="http://schemas.microsoft.com/office/powerpoint/2010/main" val="2006629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Compartición de datos y hardware entre usuarios: </a:t>
            </a:r>
            <a:r>
              <a:rPr lang="es-ES" sz="1200" kern="1200" dirty="0">
                <a:solidFill>
                  <a:schemeClr val="tx1"/>
                </a:solidFill>
                <a:effectLst/>
                <a:latin typeface="+mn-lt"/>
                <a:ea typeface="+mn-ea"/>
                <a:cs typeface="+mn-cs"/>
              </a:rPr>
              <a:t>Existen dos características principales para esta función del SO: los derechos de acceso y la gestión de accesos simultáneos.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Derechos de acceso</a:t>
            </a:r>
            <a:r>
              <a:rPr lang="es-ES" sz="1200" kern="1200" dirty="0">
                <a:solidFill>
                  <a:schemeClr val="tx1"/>
                </a:solidFill>
                <a:effectLst/>
                <a:latin typeface="+mn-lt"/>
                <a:ea typeface="+mn-ea"/>
                <a:cs typeface="+mn-cs"/>
              </a:rPr>
              <a:t>: debe ofrecer una herramienta flexible para permitir la compartición general de archivos entre los usuarios. Normalmente a los usuarios o grupos de usuarios, les son concedidos ciertos derechos de acceso a cada archivo.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a:t>
            </a:r>
          </a:p>
          <a:p>
            <a:r>
              <a:rPr lang="es-ES" sz="1200" i="1" kern="1200" dirty="0">
                <a:solidFill>
                  <a:schemeClr val="tx1"/>
                </a:solidFill>
                <a:effectLst/>
                <a:latin typeface="+mn-lt"/>
                <a:ea typeface="+mn-ea"/>
                <a:cs typeface="+mn-cs"/>
              </a:rPr>
              <a:t>Ninguno: </a:t>
            </a:r>
            <a:r>
              <a:rPr lang="es-ES" sz="1200" kern="1200" dirty="0">
                <a:solidFill>
                  <a:schemeClr val="tx1"/>
                </a:solidFill>
                <a:effectLst/>
                <a:latin typeface="+mn-lt"/>
                <a:ea typeface="+mn-ea"/>
                <a:cs typeface="+mn-cs"/>
              </a:rPr>
              <a:t>el usuario no puede siquiera conocer la existencia del archivo o acceder al mismo. Para esto, no se permita la lectura del directorio de usuario que incluya el archivo.</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Conocimiento:</a:t>
            </a:r>
            <a:r>
              <a:rPr lang="es-ES" sz="1200" kern="1200" dirty="0">
                <a:solidFill>
                  <a:schemeClr val="tx1"/>
                </a:solidFill>
                <a:effectLst/>
                <a:latin typeface="+mn-lt"/>
                <a:ea typeface="+mn-ea"/>
                <a:cs typeface="+mn-cs"/>
              </a:rPr>
              <a:t> el usuario puede determinar que el archivo existe, y quien es el propietario. Es posible que el usuario pueda solicitar acceso adicional al propietario.</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Ejecución:</a:t>
            </a:r>
            <a:r>
              <a:rPr lang="es-ES" sz="1200" kern="1200" dirty="0">
                <a:solidFill>
                  <a:schemeClr val="tx1"/>
                </a:solidFill>
                <a:effectLst/>
                <a:latin typeface="+mn-lt"/>
                <a:ea typeface="+mn-ea"/>
                <a:cs typeface="+mn-cs"/>
              </a:rPr>
              <a:t> el usuario puede cargar y ejecutar un programa, pero no copiar dicho programa. Los programas comerciales a menudo se fabrican con esta restricción.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Lectura:</a:t>
            </a:r>
            <a:r>
              <a:rPr lang="es-ES" sz="1200" kern="1200" dirty="0">
                <a:solidFill>
                  <a:schemeClr val="tx1"/>
                </a:solidFill>
                <a:effectLst/>
                <a:latin typeface="+mn-lt"/>
                <a:ea typeface="+mn-ea"/>
                <a:cs typeface="+mn-cs"/>
              </a:rPr>
              <a:t> el usuario puede leer el archivo par cualquier propósito, incluyendo copia y ejecución. Algunos distinguen entre </a:t>
            </a:r>
            <a:r>
              <a:rPr lang="es-ES" sz="1200" i="1" kern="1200" dirty="0">
                <a:solidFill>
                  <a:schemeClr val="tx1"/>
                </a:solidFill>
                <a:effectLst/>
                <a:latin typeface="+mn-lt"/>
                <a:ea typeface="+mn-ea"/>
                <a:cs typeface="+mn-cs"/>
              </a:rPr>
              <a:t>visualización y copia. </a:t>
            </a:r>
            <a:r>
              <a:rPr lang="es-ES" sz="1200" kern="1200" dirty="0">
                <a:solidFill>
                  <a:schemeClr val="tx1"/>
                </a:solidFill>
                <a:effectLst/>
                <a:latin typeface="+mn-lt"/>
                <a:ea typeface="+mn-ea"/>
                <a:cs typeface="+mn-cs"/>
              </a:rPr>
              <a:t>En el primer caso, el contenido puede mostrarse al usuario, pero este no tiene medios para realizar una copia.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Adición:</a:t>
            </a:r>
            <a:r>
              <a:rPr lang="es-ES" sz="1200" kern="1200" dirty="0">
                <a:solidFill>
                  <a:schemeClr val="tx1"/>
                </a:solidFill>
                <a:effectLst/>
                <a:latin typeface="+mn-lt"/>
                <a:ea typeface="+mn-ea"/>
                <a:cs typeface="+mn-cs"/>
              </a:rPr>
              <a:t> el usuario puede añadir datos al archivo, generalmente al final, pero no modificar o borrar el contenido del archivo. Característica útil en la recopilación de datos a partir de un conjunto de fuentes.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Actualización:</a:t>
            </a:r>
            <a:r>
              <a:rPr lang="es-ES" sz="1200" kern="1200" dirty="0">
                <a:solidFill>
                  <a:schemeClr val="tx1"/>
                </a:solidFill>
                <a:effectLst/>
                <a:latin typeface="+mn-lt"/>
                <a:ea typeface="+mn-ea"/>
                <a:cs typeface="+mn-cs"/>
              </a:rPr>
              <a:t> el usuario puede modificar, borrar y añadir datos al archivo. Incluye la eliminación de todos los datos, o parte de ellos.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Cambio de protección:</a:t>
            </a:r>
            <a:r>
              <a:rPr lang="es-ES" sz="1200" kern="1200" dirty="0">
                <a:solidFill>
                  <a:schemeClr val="tx1"/>
                </a:solidFill>
                <a:effectLst/>
                <a:latin typeface="+mn-lt"/>
                <a:ea typeface="+mn-ea"/>
                <a:cs typeface="+mn-cs"/>
              </a:rPr>
              <a:t> el usuario puede modificar los derechos de acceso otorgados a otros usuarios. Normalmente esta característica está disponible para el propietario del archivo. El propietario puede elegir qué derechos otorgarles a otros usuarios.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Borrado:</a:t>
            </a:r>
            <a:r>
              <a:rPr lang="es-ES" sz="1200" kern="1200" dirty="0">
                <a:solidFill>
                  <a:schemeClr val="tx1"/>
                </a:solidFill>
                <a:effectLst/>
                <a:latin typeface="+mn-lt"/>
                <a:ea typeface="+mn-ea"/>
                <a:cs typeface="+mn-cs"/>
              </a:rPr>
              <a:t> el usuario puede borrar el archivo del sistema de archivos.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Usuario específico:</a:t>
            </a:r>
            <a:r>
              <a:rPr lang="es-ES" sz="1200" kern="1200" dirty="0">
                <a:solidFill>
                  <a:schemeClr val="tx1"/>
                </a:solidFill>
                <a:effectLst/>
                <a:latin typeface="+mn-lt"/>
                <a:ea typeface="+mn-ea"/>
                <a:cs typeface="+mn-cs"/>
              </a:rPr>
              <a:t> usuarios individualmente designados por su ID de usuario.</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Grupos de usuarios:</a:t>
            </a:r>
            <a:r>
              <a:rPr lang="es-ES" sz="1200" kern="1200" dirty="0">
                <a:solidFill>
                  <a:schemeClr val="tx1"/>
                </a:solidFill>
                <a:effectLst/>
                <a:latin typeface="+mn-lt"/>
                <a:ea typeface="+mn-ea"/>
                <a:cs typeface="+mn-cs"/>
              </a:rPr>
              <a:t> conjunto de usuarios no definidos individualmente.</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Todos:</a:t>
            </a:r>
            <a:r>
              <a:rPr lang="es-ES" sz="1200" kern="1200" dirty="0">
                <a:solidFill>
                  <a:schemeClr val="tx1"/>
                </a:solidFill>
                <a:effectLst/>
                <a:latin typeface="+mn-lt"/>
                <a:ea typeface="+mn-ea"/>
                <a:cs typeface="+mn-cs"/>
              </a:rPr>
              <a:t> archivos públicos, es decir, todos los usuarios que tengan acceso al sistema. </a:t>
            </a:r>
          </a:p>
          <a:p>
            <a:endParaRPr lang="es-ES" sz="120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7</a:t>
            </a:fld>
            <a:endParaRPr lang="es-ES_tradnl"/>
          </a:p>
        </p:txBody>
      </p:sp>
    </p:spTree>
    <p:extLst>
      <p:ext uri="{BB962C8B-B14F-4D97-AF65-F5344CB8AC3E}">
        <p14:creationId xmlns:p14="http://schemas.microsoft.com/office/powerpoint/2010/main" val="38981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Administrador de SO: </a:t>
            </a:r>
            <a:r>
              <a:rPr lang="es-ES" sz="1200" kern="1200" dirty="0">
                <a:solidFill>
                  <a:schemeClr val="tx1"/>
                </a:solidFill>
                <a:effectLst/>
                <a:latin typeface="+mn-lt"/>
                <a:ea typeface="+mn-ea"/>
                <a:cs typeface="+mn-cs"/>
              </a:rPr>
              <a:t>conjunto de instrucciones ampliadas que proporciona el SO y son las llamadas al sistema. Crean, eliminan y utilizan objetos del software controlados por el SO (procesos y archivos).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Procesos:</a:t>
            </a:r>
            <a:r>
              <a:rPr lang="es-ES" sz="1200" kern="1200" dirty="0">
                <a:solidFill>
                  <a:schemeClr val="tx1"/>
                </a:solidFill>
                <a:effectLst/>
                <a:latin typeface="+mn-lt"/>
                <a:ea typeface="+mn-ea"/>
                <a:cs typeface="+mn-cs"/>
              </a:rPr>
              <a:t> es básicamente un programa en ejecución. Consta del programa ejecutable, sus datos y pila, contador y otros registros además de la información necesaria para ser ejecutados. Esta información se almacena en la </a:t>
            </a:r>
            <a:r>
              <a:rPr lang="es-ES" sz="1200" i="1" kern="1200" dirty="0">
                <a:solidFill>
                  <a:schemeClr val="tx1"/>
                </a:solidFill>
                <a:effectLst/>
                <a:latin typeface="+mn-lt"/>
                <a:ea typeface="+mn-ea"/>
                <a:cs typeface="+mn-cs"/>
              </a:rPr>
              <a:t>tabla de procesos </a:t>
            </a:r>
            <a:r>
              <a:rPr lang="es-ES" sz="1200" kern="1200" dirty="0">
                <a:solidFill>
                  <a:schemeClr val="tx1"/>
                </a:solidFill>
                <a:effectLst/>
                <a:latin typeface="+mn-lt"/>
                <a:ea typeface="+mn-ea"/>
                <a:cs typeface="+mn-cs"/>
              </a:rPr>
              <a:t>que administra el SO y posee un arreglo de estructuras por cada proceso existente en ese momento.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Archivos:</a:t>
            </a:r>
            <a:r>
              <a:rPr lang="es-ES" sz="1200" kern="1200" dirty="0">
                <a:solidFill>
                  <a:schemeClr val="tx1"/>
                </a:solidFill>
                <a:effectLst/>
                <a:latin typeface="+mn-lt"/>
                <a:ea typeface="+mn-ea"/>
                <a:cs typeface="+mn-cs"/>
              </a:rPr>
              <a:t> los SO soportan el concepto de directorio como forma de agrupar archivos. Los directorios se estructuran jerárquicamente, por lo que cada archivo posee una ruta de acceso. </a:t>
            </a:r>
            <a:endParaRPr lang="es-ES_tradnl"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Llamadas al sistema:</a:t>
            </a:r>
            <a:r>
              <a:rPr lang="es-ES" sz="1200" kern="1200" dirty="0">
                <a:solidFill>
                  <a:schemeClr val="tx1"/>
                </a:solidFill>
                <a:effectLst/>
                <a:latin typeface="+mn-lt"/>
                <a:ea typeface="+mn-ea"/>
                <a:cs typeface="+mn-cs"/>
              </a:rPr>
              <a:t> permiten a los programas comunicarse con el SO y solicitarle servicios. A cada llamada le corresponde un procedimiento: </a:t>
            </a:r>
            <a:endParaRPr lang="es-ES_tradnl"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Pone los parámetros de la llamada en un lugar específico para luego ejecutar una instrucción tipo “</a:t>
            </a:r>
            <a:r>
              <a:rPr lang="es-ES" sz="1200" kern="1200" dirty="0" err="1">
                <a:solidFill>
                  <a:schemeClr val="tx1"/>
                </a:solidFill>
                <a:effectLst/>
                <a:latin typeface="+mn-lt"/>
                <a:ea typeface="+mn-ea"/>
                <a:cs typeface="+mn-cs"/>
              </a:rPr>
              <a:t>trap</a:t>
            </a:r>
            <a:r>
              <a:rPr lang="es-ES" sz="1200" kern="1200" dirty="0">
                <a:solidFill>
                  <a:schemeClr val="tx1"/>
                </a:solidFill>
                <a:effectLst/>
                <a:latin typeface="+mn-lt"/>
                <a:ea typeface="+mn-ea"/>
                <a:cs typeface="+mn-cs"/>
              </a:rPr>
              <a:t>” de llamada a procedimiento protegido para iniciar el S. O.  </a:t>
            </a:r>
            <a:endParaRPr lang="es-ES_tradnl"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Luego de “</a:t>
            </a:r>
            <a:r>
              <a:rPr lang="es-ES" sz="1200" kern="1200" dirty="0" err="1">
                <a:solidFill>
                  <a:schemeClr val="tx1"/>
                </a:solidFill>
                <a:effectLst/>
                <a:latin typeface="+mn-lt"/>
                <a:ea typeface="+mn-ea"/>
                <a:cs typeface="+mn-cs"/>
              </a:rPr>
              <a:t>trap</a:t>
            </a:r>
            <a:r>
              <a:rPr lang="es-ES" sz="1200" kern="1200" dirty="0">
                <a:solidFill>
                  <a:schemeClr val="tx1"/>
                </a:solidFill>
                <a:effectLst/>
                <a:latin typeface="+mn-lt"/>
                <a:ea typeface="+mn-ea"/>
                <a:cs typeface="+mn-cs"/>
              </a:rPr>
              <a:t>” el S. O. recupera el control, examina los parámetros y si son válidos ejecuta el trabajo solicitado.  </a:t>
            </a:r>
            <a:endParaRPr lang="es-ES_tradnl"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Luego de terminar, el S. O. coloca un código de estado en un registro indicando si tuvo éxito o fracaso y ejecuta una instrucción del tipo “</a:t>
            </a:r>
            <a:r>
              <a:rPr lang="es-ES" sz="1200" kern="1200" dirty="0" err="1">
                <a:solidFill>
                  <a:schemeClr val="tx1"/>
                </a:solidFill>
                <a:effectLst/>
                <a:latin typeface="+mn-lt"/>
                <a:ea typeface="+mn-ea"/>
                <a:cs typeface="+mn-cs"/>
              </a:rPr>
              <a:t>return</a:t>
            </a:r>
            <a:r>
              <a:rPr lang="es-ES" sz="1200" kern="1200" dirty="0">
                <a:solidFill>
                  <a:schemeClr val="tx1"/>
                </a:solidFill>
                <a:effectLst/>
                <a:latin typeface="+mn-lt"/>
                <a:ea typeface="+mn-ea"/>
                <a:cs typeface="+mn-cs"/>
              </a:rPr>
              <a:t> </a:t>
            </a:r>
            <a:r>
              <a:rPr lang="es-ES" sz="1200" kern="1200" dirty="0" err="1">
                <a:solidFill>
                  <a:schemeClr val="tx1"/>
                </a:solidFill>
                <a:effectLst/>
                <a:latin typeface="+mn-lt"/>
                <a:ea typeface="+mn-ea"/>
                <a:cs typeface="+mn-cs"/>
              </a:rPr>
              <a:t>from</a:t>
            </a:r>
            <a:r>
              <a:rPr lang="es-ES" sz="1200" kern="1200" dirty="0">
                <a:solidFill>
                  <a:schemeClr val="tx1"/>
                </a:solidFill>
                <a:effectLst/>
                <a:latin typeface="+mn-lt"/>
                <a:ea typeface="+mn-ea"/>
                <a:cs typeface="+mn-cs"/>
              </a:rPr>
              <a:t> </a:t>
            </a:r>
            <a:r>
              <a:rPr lang="es-ES" sz="1200" kern="1200" dirty="0" err="1">
                <a:solidFill>
                  <a:schemeClr val="tx1"/>
                </a:solidFill>
                <a:effectLst/>
                <a:latin typeface="+mn-lt"/>
                <a:ea typeface="+mn-ea"/>
                <a:cs typeface="+mn-cs"/>
              </a:rPr>
              <a:t>trap</a:t>
            </a:r>
            <a:r>
              <a:rPr lang="es-ES" sz="1200" kern="1200" dirty="0">
                <a:solidFill>
                  <a:schemeClr val="tx1"/>
                </a:solidFill>
                <a:effectLst/>
                <a:latin typeface="+mn-lt"/>
                <a:ea typeface="+mn-ea"/>
                <a:cs typeface="+mn-cs"/>
              </a:rPr>
              <a:t>” para regresar el control al procedimiento.  </a:t>
            </a:r>
            <a:endParaRPr lang="es-ES_tradnl"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El procedimiento regresa al programa llamador con un código de estado como un valor de función; dentro de los parámetros pueden regresar valores adicionales.  </a:t>
            </a:r>
          </a:p>
          <a:p>
            <a:pPr lvl="0"/>
            <a:endParaRPr lang="es-ES" sz="120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8</a:t>
            </a:fld>
            <a:endParaRPr lang="es-ES_tradnl"/>
          </a:p>
        </p:txBody>
      </p:sp>
    </p:spTree>
    <p:extLst>
      <p:ext uri="{BB962C8B-B14F-4D97-AF65-F5344CB8AC3E}">
        <p14:creationId xmlns:p14="http://schemas.microsoft.com/office/powerpoint/2010/main" val="179759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Usuarios: </a:t>
            </a:r>
            <a:r>
              <a:rPr lang="es-ES" sz="1200" kern="1200" dirty="0">
                <a:solidFill>
                  <a:schemeClr val="tx1"/>
                </a:solidFill>
                <a:effectLst/>
                <a:latin typeface="+mn-lt"/>
                <a:ea typeface="+mn-ea"/>
                <a:cs typeface="+mn-cs"/>
              </a:rPr>
              <a:t>persona autorizada para utilizar un sistema informático. Puede contar con métodos de autenticación para el uso del SO. El SO no asocia el concepto de usuario con el de una persona física, sino con el concepto de “nombre de cuenta”. Una persona puede tener más de una cuenta y una cuenta puede ser utilizada por más de una persona. Internamente el sistema asigna a cada usuario (cuenta) un identificador </a:t>
            </a:r>
            <a:r>
              <a:rPr lang="es-ES" sz="1200" i="1" kern="1200" dirty="0" err="1">
                <a:solidFill>
                  <a:schemeClr val="tx1"/>
                </a:solidFill>
                <a:effectLst/>
                <a:latin typeface="+mn-lt"/>
                <a:ea typeface="+mn-ea"/>
                <a:cs typeface="+mn-cs"/>
              </a:rPr>
              <a:t>uid</a:t>
            </a:r>
            <a:r>
              <a:rPr lang="es-ES" sz="1200" i="1"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a:t>
            </a:r>
            <a:r>
              <a:rPr lang="es-ES" sz="1200" kern="1200" dirty="0" err="1">
                <a:solidFill>
                  <a:schemeClr val="tx1"/>
                </a:solidFill>
                <a:effectLst/>
                <a:latin typeface="+mn-lt"/>
                <a:ea typeface="+mn-ea"/>
                <a:cs typeface="+mn-cs"/>
              </a:rPr>
              <a:t>user</a:t>
            </a:r>
            <a:r>
              <a:rPr lang="es-ES" sz="1200" kern="1200" dirty="0">
                <a:solidFill>
                  <a:schemeClr val="tx1"/>
                </a:solidFill>
                <a:effectLst/>
                <a:latin typeface="+mn-lt"/>
                <a:ea typeface="+mn-ea"/>
                <a:cs typeface="+mn-cs"/>
              </a:rPr>
              <a:t> </a:t>
            </a:r>
            <a:r>
              <a:rPr lang="es-ES" sz="1200" kern="1200" dirty="0" err="1">
                <a:solidFill>
                  <a:schemeClr val="tx1"/>
                </a:solidFill>
                <a:effectLst/>
                <a:latin typeface="+mn-lt"/>
                <a:ea typeface="+mn-ea"/>
                <a:cs typeface="+mn-cs"/>
              </a:rPr>
              <a:t>identifier</a:t>
            </a:r>
            <a:r>
              <a:rPr lang="es-ES" sz="1200" kern="1200" dirty="0">
                <a:solidFill>
                  <a:schemeClr val="tx1"/>
                </a:solidFill>
                <a:effectLst/>
                <a:latin typeface="+mn-lt"/>
                <a:ea typeface="+mn-ea"/>
                <a:cs typeface="+mn-cs"/>
              </a:rPr>
              <a:t>) y un perfil.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El sistema de seguridad está basado en la identidad usuario. Cada usuario tiene asociados derechos, que definen el punto de interacción con el SO, es decir, que acciones puede o no realizar el usuario.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Dentro de esta última definición existe el denominado </a:t>
            </a:r>
            <a:r>
              <a:rPr lang="es-ES" sz="1200" i="1" kern="1200" dirty="0">
                <a:solidFill>
                  <a:schemeClr val="tx1"/>
                </a:solidFill>
                <a:effectLst/>
                <a:latin typeface="+mn-lt"/>
                <a:ea typeface="+mn-ea"/>
                <a:cs typeface="+mn-cs"/>
              </a:rPr>
              <a:t>súper usuario o administrador</a:t>
            </a:r>
            <a:r>
              <a:rPr lang="es-ES" sz="1200" kern="1200" dirty="0">
                <a:solidFill>
                  <a:schemeClr val="tx1"/>
                </a:solidFill>
                <a:effectLst/>
                <a:latin typeface="+mn-lt"/>
                <a:ea typeface="+mn-ea"/>
                <a:cs typeface="+mn-cs"/>
              </a:rPr>
              <a:t>, este no posee ninguna restricción, es decir, puede realizar todas las operaciones sin ninguna excepción. </a:t>
            </a:r>
          </a:p>
          <a:p>
            <a:endParaRPr lang="es-ES" sz="120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9</a:t>
            </a:fld>
            <a:endParaRPr lang="es-ES_tradnl"/>
          </a:p>
        </p:txBody>
      </p:sp>
    </p:spTree>
    <p:extLst>
      <p:ext uri="{BB962C8B-B14F-4D97-AF65-F5344CB8AC3E}">
        <p14:creationId xmlns:p14="http://schemas.microsoft.com/office/powerpoint/2010/main" val="1861774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kern="1200" dirty="0">
                <a:solidFill>
                  <a:schemeClr val="tx1"/>
                </a:solidFill>
                <a:effectLst/>
                <a:latin typeface="+mn-lt"/>
                <a:ea typeface="+mn-ea"/>
                <a:cs typeface="+mn-cs"/>
              </a:rPr>
              <a:t>Máquina extendida: </a:t>
            </a:r>
            <a:r>
              <a:rPr lang="es-ES" sz="1200" kern="1200" dirty="0">
                <a:solidFill>
                  <a:schemeClr val="tx1"/>
                </a:solidFill>
                <a:effectLst/>
                <a:latin typeface="+mn-lt"/>
                <a:ea typeface="+mn-ea"/>
                <a:cs typeface="+mn-cs"/>
              </a:rPr>
              <a:t>el SO ofrece a los programas un conjunto de servicios, o “llamadas al sistema”, que pueden solicitar cuando lo necesiten, proporcionando una visión de maquina extendida. El modelo de programación que ofrece el hardware se complementa con estos servicios de software, que permiten la ejecución cómoda y protegida algunas operaciones. La alternativa sería complicar los programas de usuario y no tener protección frente a otros usuarios. </a:t>
            </a:r>
            <a:endParaRPr lang="es-ES_tradnl"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Los servicios se agrupan en cuatro clases: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Ejecución de programas: </a:t>
            </a:r>
            <a:r>
              <a:rPr lang="es-ES" sz="1200" kern="1200" dirty="0">
                <a:solidFill>
                  <a:schemeClr val="tx1"/>
                </a:solidFill>
                <a:effectLst/>
                <a:latin typeface="+mn-lt"/>
                <a:ea typeface="+mn-ea"/>
                <a:cs typeface="+mn-cs"/>
              </a:rPr>
              <a:t>lanza la ejecución, detiene o aborta un programa. Esto da lugar al concepto de </a:t>
            </a:r>
            <a:r>
              <a:rPr lang="es-ES" sz="1200" b="1" kern="1200" dirty="0">
                <a:solidFill>
                  <a:schemeClr val="tx1"/>
                </a:solidFill>
                <a:effectLst/>
                <a:latin typeface="+mn-lt"/>
                <a:ea typeface="+mn-ea"/>
                <a:cs typeface="+mn-cs"/>
              </a:rPr>
              <a:t>proceso </a:t>
            </a:r>
            <a:r>
              <a:rPr lang="es-ES" sz="1200" kern="1200" dirty="0">
                <a:solidFill>
                  <a:schemeClr val="tx1"/>
                </a:solidFill>
                <a:effectLst/>
                <a:latin typeface="+mn-lt"/>
                <a:ea typeface="+mn-ea"/>
                <a:cs typeface="+mn-cs"/>
              </a:rPr>
              <a:t>(programa en ejecución)</a:t>
            </a:r>
            <a:r>
              <a:rPr lang="es-ES" sz="1200" b="1"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Para que un programa sea convertido en un proceso, este se debe haber traducido a código máquina y estar almacenado en un dispositivo de almacenamiento como el disco.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Ordenes I/O:</a:t>
            </a:r>
            <a:r>
              <a:rPr lang="es-ES" sz="1200" b="1"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ofrecen comodidad y protección al proveer a los programas las operaciones de lectura, escritura y modificación del estado de los periféricos.  La programación de estos módulos I/O es compleja y depende del hardware especifico de cada periférico.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Operaciones sobre archivos:</a:t>
            </a:r>
            <a:r>
              <a:rPr lang="es-ES" sz="1200" kern="1200" dirty="0">
                <a:solidFill>
                  <a:schemeClr val="tx1"/>
                </a:solidFill>
                <a:effectLst/>
                <a:latin typeface="+mn-lt"/>
                <a:ea typeface="+mn-ea"/>
                <a:cs typeface="+mn-cs"/>
              </a:rPr>
              <a:t> estos ofrecen un nivel de abstracción mayor al de las ordenes de I/O permitiendo operaciones como </a:t>
            </a:r>
            <a:r>
              <a:rPr lang="es-ES" sz="1200" i="1" kern="1200" dirty="0">
                <a:solidFill>
                  <a:schemeClr val="tx1"/>
                </a:solidFill>
                <a:effectLst/>
                <a:latin typeface="+mn-lt"/>
                <a:ea typeface="+mn-ea"/>
                <a:cs typeface="+mn-cs"/>
              </a:rPr>
              <a:t>creación, borrado, renombrado, apertura, escritura y lectura </a:t>
            </a:r>
            <a:r>
              <a:rPr lang="es-ES" sz="1200" kern="1200" dirty="0">
                <a:solidFill>
                  <a:schemeClr val="tx1"/>
                </a:solidFill>
                <a:effectLst/>
                <a:latin typeface="+mn-lt"/>
                <a:ea typeface="+mn-ea"/>
                <a:cs typeface="+mn-cs"/>
              </a:rPr>
              <a:t>de archivos. </a:t>
            </a:r>
            <a:endParaRPr lang="es-ES_tradnl" sz="1200" kern="1200" dirty="0">
              <a:solidFill>
                <a:schemeClr val="tx1"/>
              </a:solidFill>
              <a:effectLst/>
              <a:latin typeface="+mn-lt"/>
              <a:ea typeface="+mn-ea"/>
              <a:cs typeface="+mn-cs"/>
            </a:endParaRPr>
          </a:p>
          <a:p>
            <a:endParaRPr lang="es-ES" sz="1200" i="1" kern="1200" dirty="0">
              <a:solidFill>
                <a:schemeClr val="tx1"/>
              </a:solidFill>
              <a:effectLst/>
              <a:latin typeface="+mn-lt"/>
              <a:ea typeface="+mn-ea"/>
              <a:cs typeface="+mn-cs"/>
            </a:endParaRPr>
          </a:p>
          <a:p>
            <a:r>
              <a:rPr lang="es-ES" sz="1200" i="1" kern="1200" dirty="0">
                <a:solidFill>
                  <a:schemeClr val="tx1"/>
                </a:solidFill>
                <a:effectLst/>
                <a:latin typeface="+mn-lt"/>
                <a:ea typeface="+mn-ea"/>
                <a:cs typeface="+mn-cs"/>
              </a:rPr>
              <a:t>Detección y tratamiento de errores:</a:t>
            </a:r>
            <a:r>
              <a:rPr lang="es-ES" sz="1200" kern="1200" dirty="0">
                <a:solidFill>
                  <a:schemeClr val="tx1"/>
                </a:solidFill>
                <a:effectLst/>
                <a:latin typeface="+mn-lt"/>
                <a:ea typeface="+mn-ea"/>
                <a:cs typeface="+mn-cs"/>
              </a:rPr>
              <a:t> analiza a detalle las ordenes que recibe, para comprobar que son realizables, el SO trata todas y cada una de las condiciones de error que detecte el hardware. Se destacan: errores en las operaciones de I/O, errores en accesos de memoria, errores de ejecución de programas, códigos de instrucción prohibidos, etc.</a:t>
            </a:r>
          </a:p>
          <a:p>
            <a:endParaRPr lang="es-ES" sz="120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10</a:t>
            </a:fld>
            <a:endParaRPr lang="es-ES_tradnl"/>
          </a:p>
        </p:txBody>
      </p:sp>
    </p:spTree>
    <p:extLst>
      <p:ext uri="{BB962C8B-B14F-4D97-AF65-F5344CB8AC3E}">
        <p14:creationId xmlns:p14="http://schemas.microsoft.com/office/powerpoint/2010/main" val="1334393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b="1" kern="1200" dirty="0">
                <a:solidFill>
                  <a:schemeClr val="tx1"/>
                </a:solidFill>
                <a:effectLst/>
                <a:latin typeface="+mn-lt"/>
                <a:ea typeface="+mn-ea"/>
                <a:cs typeface="+mn-cs"/>
              </a:rPr>
              <a:t>Máquina Virtual:</a:t>
            </a:r>
            <a:r>
              <a:rPr lang="es-ES" sz="1200" kern="1200" dirty="0">
                <a:solidFill>
                  <a:schemeClr val="tx1"/>
                </a:solidFill>
                <a:effectLst/>
                <a:latin typeface="+mn-lt"/>
                <a:ea typeface="+mn-ea"/>
                <a:cs typeface="+mn-cs"/>
              </a:rPr>
              <a:t> separan totalmente las funciones de multiprogramación y maquina extendida. Existe un elemento central llamado monitor de la máquina virtual que se ejecuta en el hardware, realiza la multiprogramación y proporciona varias máquinas virtuales a la capa superior. Estas crean copias “exactas” del hardware simple con los componentes que posee una maquina real. Pueden ejecutar cualquier SO que se ejecute de manera directa sobre el hardware.</a:t>
            </a:r>
            <a:endParaRPr lang="es-ES_tradnl" sz="1200" kern="1200" dirty="0">
              <a:solidFill>
                <a:schemeClr val="tx1"/>
              </a:solidFill>
              <a:effectLst/>
              <a:latin typeface="+mn-lt"/>
              <a:ea typeface="+mn-ea"/>
              <a:cs typeface="+mn-cs"/>
            </a:endParaRPr>
          </a:p>
          <a:p>
            <a:endParaRPr lang="es-ES_tradnl" dirty="0"/>
          </a:p>
        </p:txBody>
      </p:sp>
      <p:sp>
        <p:nvSpPr>
          <p:cNvPr id="4" name="Marcador de número de diapositiva 3"/>
          <p:cNvSpPr>
            <a:spLocks noGrp="1"/>
          </p:cNvSpPr>
          <p:nvPr>
            <p:ph type="sldNum" sz="quarter" idx="10"/>
          </p:nvPr>
        </p:nvSpPr>
        <p:spPr/>
        <p:txBody>
          <a:bodyPr/>
          <a:lstStyle/>
          <a:p>
            <a:fld id="{8A60EE6D-A3EA-7C44-9E37-E5C756C6250F}" type="slidenum">
              <a:rPr lang="es-ES_tradnl" smtClean="0"/>
              <a:t>11</a:t>
            </a:fld>
            <a:endParaRPr lang="es-ES_tradnl"/>
          </a:p>
        </p:txBody>
      </p:sp>
    </p:spTree>
    <p:extLst>
      <p:ext uri="{BB962C8B-B14F-4D97-AF65-F5344CB8AC3E}">
        <p14:creationId xmlns:p14="http://schemas.microsoft.com/office/powerpoint/2010/main" val="984383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_tradnl"/>
              <a:t>Clic para editar título</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a:t>Haga clic para modificar el estilo de subtítulo del patrón</a:t>
            </a:r>
          </a:p>
        </p:txBody>
      </p:sp>
      <p:sp>
        <p:nvSpPr>
          <p:cNvPr id="4" name="Marcador de fecha 3"/>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781043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2116924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_tradnl"/>
              <a:t>Clic para editar título</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19515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sz="half" idx="1"/>
          </p:nvPr>
        </p:nvSpPr>
        <p:spPr>
          <a:xfrm>
            <a:off x="838200" y="1825625"/>
            <a:ext cx="51816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fecha 4"/>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55109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_tradnl"/>
              <a:t>Clic para editar título</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7" name="Marcador de fecha 6"/>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992716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fecha 2"/>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790703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720126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_tradnl"/>
              <a:t>Clic para editar título</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2101936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_tradnl"/>
              <a:t>Clic para editar título</a:t>
            </a:r>
          </a:p>
        </p:txBody>
      </p:sp>
      <p:sp>
        <p:nvSpPr>
          <p:cNvPr id="3" name="Marcador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139720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872703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_tradnl"/>
              <a:t>Clic para editar título</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00603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6163DE-7024-3D45-B3F5-07B5B46AC31C}" type="datetimeFigureOut">
              <a:rPr lang="es-ES_tradnl" smtClean="0"/>
              <a:t>23/2/21</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C358-626D-8543-B3E6-7DCB6ED40F01}" type="slidenum">
              <a:rPr lang="es-ES_tradnl" smtClean="0"/>
              <a:t>‹Nº›</a:t>
            </a:fld>
            <a:endParaRPr lang="es-ES_tradnl"/>
          </a:p>
        </p:txBody>
      </p:sp>
    </p:spTree>
    <p:extLst>
      <p:ext uri="{BB962C8B-B14F-4D97-AF65-F5344CB8AC3E}">
        <p14:creationId xmlns:p14="http://schemas.microsoft.com/office/powerpoint/2010/main" val="1427204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936658" y="0"/>
            <a:ext cx="10679609" cy="1376363"/>
          </a:xfrm>
        </p:spPr>
        <p:txBody>
          <a:bodyPr>
            <a:normAutofit fontScale="90000"/>
          </a:bodyPr>
          <a:lstStyle/>
          <a:p>
            <a:r>
              <a:rPr lang="es-ES" sz="4800" dirty="0"/>
              <a:t>Principales Características de los sistemas operativos. </a:t>
            </a:r>
            <a:endParaRPr lang="es-ES_tradnl" sz="4800" dirty="0"/>
          </a:p>
        </p:txBody>
      </p:sp>
      <p:sp>
        <p:nvSpPr>
          <p:cNvPr id="6" name="CuadroTexto 5">
            <a:extLst>
              <a:ext uri="{FF2B5EF4-FFF2-40B4-BE49-F238E27FC236}">
                <a16:creationId xmlns:a16="http://schemas.microsoft.com/office/drawing/2014/main" id="{8EFB0C1E-BBCF-8548-938A-2EDD52919E4C}"/>
              </a:ext>
            </a:extLst>
          </p:cNvPr>
          <p:cNvSpPr txBox="1"/>
          <p:nvPr/>
        </p:nvSpPr>
        <p:spPr>
          <a:xfrm>
            <a:off x="6841067" y="5909733"/>
            <a:ext cx="4523674" cy="369332"/>
          </a:xfrm>
          <a:prstGeom prst="rect">
            <a:avLst/>
          </a:prstGeom>
          <a:noFill/>
        </p:spPr>
        <p:txBody>
          <a:bodyPr wrap="none" rtlCol="0">
            <a:spAutoFit/>
          </a:bodyPr>
          <a:lstStyle/>
          <a:p>
            <a:r>
              <a:rPr lang="es-MX" dirty="0"/>
              <a:t>https://images.app.goo.gl/4Ey7JR6jygn2JRvCA</a:t>
            </a:r>
          </a:p>
        </p:txBody>
      </p:sp>
      <p:pic>
        <p:nvPicPr>
          <p:cNvPr id="9" name="Imagen 8">
            <a:extLst>
              <a:ext uri="{FF2B5EF4-FFF2-40B4-BE49-F238E27FC236}">
                <a16:creationId xmlns:a16="http://schemas.microsoft.com/office/drawing/2014/main" id="{A3F1E57E-FAE4-274A-9920-CDFA590FC78B}"/>
              </a:ext>
            </a:extLst>
          </p:cNvPr>
          <p:cNvPicPr>
            <a:picLocks noChangeAspect="1"/>
          </p:cNvPicPr>
          <p:nvPr/>
        </p:nvPicPr>
        <p:blipFill>
          <a:blip r:embed="rId3"/>
          <a:stretch>
            <a:fillRect/>
          </a:stretch>
        </p:blipFill>
        <p:spPr>
          <a:xfrm>
            <a:off x="936658" y="1415698"/>
            <a:ext cx="4363475" cy="4863367"/>
          </a:xfrm>
          <a:prstGeom prst="rect">
            <a:avLst/>
          </a:prstGeom>
        </p:spPr>
      </p:pic>
      <p:sp>
        <p:nvSpPr>
          <p:cNvPr id="10" name="CuadroTexto 9">
            <a:extLst>
              <a:ext uri="{FF2B5EF4-FFF2-40B4-BE49-F238E27FC236}">
                <a16:creationId xmlns:a16="http://schemas.microsoft.com/office/drawing/2014/main" id="{AA07CF09-8E60-AB43-9BAD-F9E505A069AA}"/>
              </a:ext>
            </a:extLst>
          </p:cNvPr>
          <p:cNvSpPr txBox="1"/>
          <p:nvPr/>
        </p:nvSpPr>
        <p:spPr>
          <a:xfrm>
            <a:off x="5706534" y="2739385"/>
            <a:ext cx="6144374" cy="2215991"/>
          </a:xfrm>
          <a:prstGeom prst="rect">
            <a:avLst/>
          </a:prstGeom>
          <a:noFill/>
        </p:spPr>
        <p:txBody>
          <a:bodyPr wrap="none" rtlCol="0">
            <a:spAutoFit/>
          </a:bodyPr>
          <a:lstStyle/>
          <a:p>
            <a:pPr marL="285750" indent="-285750">
              <a:buFont typeface="Arial" panose="020B0604020202020204" pitchFamily="34" charset="0"/>
              <a:buChar char="•"/>
            </a:pPr>
            <a:r>
              <a:rPr lang="es-MX" sz="2000" dirty="0"/>
              <a:t>Definir la “Interfaz del Usuario”. </a:t>
            </a:r>
          </a:p>
          <a:p>
            <a:pPr marL="285750" indent="-285750">
              <a:buFont typeface="Arial" panose="020B0604020202020204" pitchFamily="34" charset="0"/>
              <a:buChar char="•"/>
            </a:pPr>
            <a:r>
              <a:rPr lang="es-MX" sz="2000" dirty="0"/>
              <a:t>Compartir el hardware entre usuarios. </a:t>
            </a:r>
          </a:p>
          <a:p>
            <a:pPr marL="285750" indent="-285750">
              <a:buFont typeface="Arial" panose="020B0604020202020204" pitchFamily="34" charset="0"/>
              <a:buChar char="•"/>
            </a:pPr>
            <a:r>
              <a:rPr lang="es-MX" sz="2000" dirty="0"/>
              <a:t>Permitir a los usuarios compartir los datos entre ellos. </a:t>
            </a:r>
          </a:p>
          <a:p>
            <a:pPr marL="285750" indent="-285750">
              <a:buFont typeface="Arial" panose="020B0604020202020204" pitchFamily="34" charset="0"/>
              <a:buChar char="•"/>
            </a:pPr>
            <a:r>
              <a:rPr lang="es-MX" sz="2000" dirty="0"/>
              <a:t>Planificar recursos entre usuarios. </a:t>
            </a:r>
          </a:p>
          <a:p>
            <a:pPr marL="285750" indent="-285750">
              <a:buFont typeface="Arial" panose="020B0604020202020204" pitchFamily="34" charset="0"/>
              <a:buChar char="•"/>
            </a:pPr>
            <a:r>
              <a:rPr lang="es-MX" sz="2000" dirty="0"/>
              <a:t>Facilitar la entrada / salida. </a:t>
            </a:r>
          </a:p>
          <a:p>
            <a:pPr marL="285750" indent="-285750">
              <a:buFont typeface="Arial" panose="020B0604020202020204" pitchFamily="34" charset="0"/>
              <a:buChar char="•"/>
            </a:pPr>
            <a:r>
              <a:rPr lang="es-MX" sz="2000" dirty="0"/>
              <a:t>Recuperarse de los errores. </a:t>
            </a:r>
          </a:p>
          <a:p>
            <a:endParaRPr lang="es-MX" dirty="0"/>
          </a:p>
        </p:txBody>
      </p:sp>
    </p:spTree>
    <p:extLst>
      <p:ext uri="{BB962C8B-B14F-4D97-AF65-F5344CB8AC3E}">
        <p14:creationId xmlns:p14="http://schemas.microsoft.com/office/powerpoint/2010/main" val="226927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B6D3FC-C500-C74B-B4D4-99DB88B6FFEE}"/>
              </a:ext>
            </a:extLst>
          </p:cNvPr>
          <p:cNvSpPr>
            <a:spLocks noGrp="1"/>
          </p:cNvSpPr>
          <p:nvPr>
            <p:ph type="title"/>
          </p:nvPr>
        </p:nvSpPr>
        <p:spPr/>
        <p:txBody>
          <a:bodyPr/>
          <a:lstStyle/>
          <a:p>
            <a:r>
              <a:rPr lang="es-ES" dirty="0"/>
              <a:t>Los Principales Recursos Administrados por los SO son</a:t>
            </a:r>
            <a:endParaRPr lang="es-MX" dirty="0"/>
          </a:p>
        </p:txBody>
      </p:sp>
      <p:sp>
        <p:nvSpPr>
          <p:cNvPr id="3" name="Marcador de contenido 2">
            <a:extLst>
              <a:ext uri="{FF2B5EF4-FFF2-40B4-BE49-F238E27FC236}">
                <a16:creationId xmlns:a16="http://schemas.microsoft.com/office/drawing/2014/main" id="{E086E3EA-260B-524A-94DA-9A03B9A1BB06}"/>
              </a:ext>
            </a:extLst>
          </p:cNvPr>
          <p:cNvSpPr>
            <a:spLocks noGrp="1"/>
          </p:cNvSpPr>
          <p:nvPr>
            <p:ph idx="1"/>
          </p:nvPr>
        </p:nvSpPr>
        <p:spPr>
          <a:xfrm>
            <a:off x="838200" y="1994958"/>
            <a:ext cx="3953933" cy="2441575"/>
          </a:xfrm>
        </p:spPr>
        <p:txBody>
          <a:bodyPr/>
          <a:lstStyle/>
          <a:p>
            <a:r>
              <a:rPr lang="es-MX" dirty="0"/>
              <a:t>Procesadores. </a:t>
            </a:r>
          </a:p>
          <a:p>
            <a:r>
              <a:rPr lang="es-MX" dirty="0"/>
              <a:t>Almacenamiento. </a:t>
            </a:r>
          </a:p>
          <a:p>
            <a:r>
              <a:rPr lang="es-MX" dirty="0"/>
              <a:t>Dispositivos de e / s. </a:t>
            </a:r>
          </a:p>
          <a:p>
            <a:r>
              <a:rPr lang="es-MX" dirty="0"/>
              <a:t>Datos. </a:t>
            </a:r>
          </a:p>
          <a:p>
            <a:pPr marL="0" indent="0">
              <a:buNone/>
            </a:pPr>
            <a:endParaRPr lang="es-MX" dirty="0"/>
          </a:p>
        </p:txBody>
      </p:sp>
      <p:sp>
        <p:nvSpPr>
          <p:cNvPr id="4" name="CuadroTexto 3">
            <a:extLst>
              <a:ext uri="{FF2B5EF4-FFF2-40B4-BE49-F238E27FC236}">
                <a16:creationId xmlns:a16="http://schemas.microsoft.com/office/drawing/2014/main" id="{B816DF12-39D8-D748-B009-DB3C9B6CCDC2}"/>
              </a:ext>
            </a:extLst>
          </p:cNvPr>
          <p:cNvSpPr txBox="1"/>
          <p:nvPr/>
        </p:nvSpPr>
        <p:spPr>
          <a:xfrm>
            <a:off x="7510077" y="6350001"/>
            <a:ext cx="4681923" cy="369332"/>
          </a:xfrm>
          <a:prstGeom prst="rect">
            <a:avLst/>
          </a:prstGeom>
          <a:noFill/>
        </p:spPr>
        <p:txBody>
          <a:bodyPr wrap="none" rtlCol="0">
            <a:spAutoFit/>
          </a:bodyPr>
          <a:lstStyle/>
          <a:p>
            <a:r>
              <a:rPr lang="es-MX" dirty="0"/>
              <a:t>https://images.app.goo.gl/o5y7QUxVRiC3G4nf7</a:t>
            </a:r>
          </a:p>
        </p:txBody>
      </p:sp>
      <p:pic>
        <p:nvPicPr>
          <p:cNvPr id="5" name="Imagen 4">
            <a:extLst>
              <a:ext uri="{FF2B5EF4-FFF2-40B4-BE49-F238E27FC236}">
                <a16:creationId xmlns:a16="http://schemas.microsoft.com/office/drawing/2014/main" id="{917EC048-9761-FE44-B8FA-8FD0435C402B}"/>
              </a:ext>
            </a:extLst>
          </p:cNvPr>
          <p:cNvPicPr>
            <a:picLocks noChangeAspect="1"/>
          </p:cNvPicPr>
          <p:nvPr/>
        </p:nvPicPr>
        <p:blipFill rotWithShape="1">
          <a:blip r:embed="rId2"/>
          <a:srcRect t="12346"/>
          <a:stretch/>
        </p:blipFill>
        <p:spPr>
          <a:xfrm>
            <a:off x="4636396" y="1690688"/>
            <a:ext cx="6336404" cy="4165599"/>
          </a:xfrm>
          <a:prstGeom prst="rect">
            <a:avLst/>
          </a:prstGeom>
          <a:ln>
            <a:solidFill>
              <a:schemeClr val="accent1"/>
            </a:solidFill>
          </a:ln>
        </p:spPr>
      </p:pic>
    </p:spTree>
    <p:extLst>
      <p:ext uri="{BB962C8B-B14F-4D97-AF65-F5344CB8AC3E}">
        <p14:creationId xmlns:p14="http://schemas.microsoft.com/office/powerpoint/2010/main" val="4249762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b="1" dirty="0"/>
              <a:t>Procesador:</a:t>
            </a:r>
          </a:p>
        </p:txBody>
      </p:sp>
      <p:sp>
        <p:nvSpPr>
          <p:cNvPr id="3" name="Marcador de contenido 2"/>
          <p:cNvSpPr>
            <a:spLocks noGrp="1"/>
          </p:cNvSpPr>
          <p:nvPr>
            <p:ph idx="1"/>
          </p:nvPr>
        </p:nvSpPr>
        <p:spPr/>
        <p:txBody>
          <a:bodyPr/>
          <a:lstStyle/>
          <a:p>
            <a:pPr>
              <a:lnSpc>
                <a:spcPct val="150000"/>
              </a:lnSpc>
            </a:pPr>
            <a:r>
              <a:rPr lang="es-ES_tradnl" dirty="0"/>
              <a:t>Controla la operación del computador y el procesamiento de datos.</a:t>
            </a:r>
          </a:p>
          <a:p>
            <a:pPr>
              <a:lnSpc>
                <a:spcPct val="150000"/>
              </a:lnSpc>
            </a:pPr>
            <a:r>
              <a:rPr lang="es-ES_tradnl" dirty="0"/>
              <a:t>Consta de dos funciones:</a:t>
            </a:r>
          </a:p>
          <a:p>
            <a:pPr lvl="1">
              <a:lnSpc>
                <a:spcPct val="150000"/>
              </a:lnSpc>
            </a:pPr>
            <a:r>
              <a:rPr lang="es-ES_tradnl" dirty="0"/>
              <a:t>Traer las instrucciones desde memoria, una a la vez.</a:t>
            </a:r>
          </a:p>
          <a:p>
            <a:pPr lvl="1">
              <a:lnSpc>
                <a:spcPct val="150000"/>
              </a:lnSpc>
            </a:pPr>
            <a:r>
              <a:rPr lang="es-ES_tradnl" dirty="0"/>
              <a:t>Ejecución de cada instrucción.</a:t>
            </a:r>
          </a:p>
        </p:txBody>
      </p:sp>
    </p:spTree>
    <p:extLst>
      <p:ext uri="{BB962C8B-B14F-4D97-AF65-F5344CB8AC3E}">
        <p14:creationId xmlns:p14="http://schemas.microsoft.com/office/powerpoint/2010/main" val="178069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b="1" dirty="0"/>
              <a:t>Medios de almacenamiento:</a:t>
            </a:r>
          </a:p>
        </p:txBody>
      </p:sp>
      <p:sp>
        <p:nvSpPr>
          <p:cNvPr id="3" name="Marcador de contenido 2"/>
          <p:cNvSpPr>
            <a:spLocks noGrp="1"/>
          </p:cNvSpPr>
          <p:nvPr>
            <p:ph idx="1"/>
          </p:nvPr>
        </p:nvSpPr>
        <p:spPr/>
        <p:txBody>
          <a:bodyPr>
            <a:normAutofit fontScale="92500"/>
          </a:bodyPr>
          <a:lstStyle/>
          <a:p>
            <a:pPr>
              <a:lnSpc>
                <a:spcPct val="200000"/>
              </a:lnSpc>
            </a:pPr>
            <a:r>
              <a:rPr lang="es-ES_tradnl" dirty="0"/>
              <a:t>Los programas y datos deben estar almacenados en la memoria principal.</a:t>
            </a:r>
          </a:p>
          <a:p>
            <a:pPr>
              <a:lnSpc>
                <a:spcPct val="200000"/>
              </a:lnSpc>
            </a:pPr>
            <a:r>
              <a:rPr lang="es-ES_tradnl" dirty="0"/>
              <a:t>El </a:t>
            </a:r>
            <a:r>
              <a:rPr lang="es-ES_tradnl" i="1" dirty="0"/>
              <a:t>administrador de memoria </a:t>
            </a:r>
            <a:r>
              <a:rPr lang="es-ES_tradnl" dirty="0"/>
              <a:t>lleva un registro de las partes que están en uso.</a:t>
            </a:r>
          </a:p>
          <a:p>
            <a:pPr>
              <a:lnSpc>
                <a:spcPct val="200000"/>
              </a:lnSpc>
            </a:pPr>
            <a:r>
              <a:rPr lang="es-ES_tradnl" dirty="0"/>
              <a:t>Libra espacio de procesos finalizados.</a:t>
            </a:r>
          </a:p>
          <a:p>
            <a:pPr>
              <a:lnSpc>
                <a:spcPct val="200000"/>
              </a:lnSpc>
            </a:pPr>
            <a:r>
              <a:rPr lang="es-ES_tradnl" dirty="0"/>
              <a:t>Programas almacenados en caché se ejecutan más rápido. </a:t>
            </a:r>
          </a:p>
        </p:txBody>
      </p:sp>
    </p:spTree>
    <p:extLst>
      <p:ext uri="{BB962C8B-B14F-4D97-AF65-F5344CB8AC3E}">
        <p14:creationId xmlns:p14="http://schemas.microsoft.com/office/powerpoint/2010/main" val="1252852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b="1" dirty="0"/>
              <a:t>Dispositivos I/O y facilitar su manejo:</a:t>
            </a:r>
          </a:p>
        </p:txBody>
      </p:sp>
      <p:sp>
        <p:nvSpPr>
          <p:cNvPr id="3" name="Marcador de contenido 2"/>
          <p:cNvSpPr>
            <a:spLocks noGrp="1"/>
          </p:cNvSpPr>
          <p:nvPr>
            <p:ph idx="1"/>
          </p:nvPr>
        </p:nvSpPr>
        <p:spPr/>
        <p:txBody>
          <a:bodyPr/>
          <a:lstStyle/>
          <a:p>
            <a:pPr>
              <a:lnSpc>
                <a:spcPct val="150000"/>
              </a:lnSpc>
            </a:pPr>
            <a:r>
              <a:rPr lang="es-ES_tradnl" dirty="0"/>
              <a:t>Intercambio de datos directamente con el procesador. </a:t>
            </a:r>
          </a:p>
          <a:p>
            <a:pPr>
              <a:lnSpc>
                <a:spcPct val="150000"/>
              </a:lnSpc>
            </a:pPr>
            <a:r>
              <a:rPr lang="es-ES_tradnl" dirty="0"/>
              <a:t>En algunos casos, tienen </a:t>
            </a:r>
            <a:r>
              <a:rPr lang="es-ES_tradnl" i="1" dirty="0"/>
              <a:t>acceso directo a la memoria.</a:t>
            </a:r>
          </a:p>
          <a:p>
            <a:pPr>
              <a:lnSpc>
                <a:spcPct val="150000"/>
              </a:lnSpc>
            </a:pPr>
            <a:r>
              <a:rPr lang="es-ES_tradnl" i="1" dirty="0"/>
              <a:t>Interrupción de ejecución</a:t>
            </a:r>
            <a:r>
              <a:rPr lang="es-ES_tradnl" dirty="0"/>
              <a:t> para mejorar la eficiencia.</a:t>
            </a:r>
          </a:p>
          <a:p>
            <a:pPr>
              <a:lnSpc>
                <a:spcPct val="150000"/>
              </a:lnSpc>
            </a:pPr>
            <a:r>
              <a:rPr lang="es-ES_tradnl" dirty="0"/>
              <a:t>La interrupción se realiza en una serie de pasos</a:t>
            </a:r>
          </a:p>
        </p:txBody>
      </p:sp>
    </p:spTree>
    <p:extLst>
      <p:ext uri="{BB962C8B-B14F-4D97-AF65-F5344CB8AC3E}">
        <p14:creationId xmlns:p14="http://schemas.microsoft.com/office/powerpoint/2010/main" val="549453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SO como interfaz de usuario / </a:t>
            </a:r>
            <a:r>
              <a:rPr lang="es-ES_tradnl" dirty="0" err="1"/>
              <a:t>User</a:t>
            </a:r>
            <a:r>
              <a:rPr lang="es-ES_tradnl" dirty="0"/>
              <a:t> Interface:</a:t>
            </a:r>
          </a:p>
        </p:txBody>
      </p:sp>
      <p:sp>
        <p:nvSpPr>
          <p:cNvPr id="3" name="Marcador de contenido 2"/>
          <p:cNvSpPr>
            <a:spLocks noGrp="1"/>
          </p:cNvSpPr>
          <p:nvPr>
            <p:ph idx="1"/>
          </p:nvPr>
        </p:nvSpPr>
        <p:spPr/>
        <p:txBody>
          <a:bodyPr>
            <a:normAutofit fontScale="92500" lnSpcReduction="20000"/>
          </a:bodyPr>
          <a:lstStyle/>
          <a:p>
            <a:pPr>
              <a:lnSpc>
                <a:spcPct val="160000"/>
              </a:lnSpc>
            </a:pPr>
            <a:r>
              <a:rPr lang="es-ES_tradnl" dirty="0"/>
              <a:t>Permite la comunicación interactiva con el sistema.</a:t>
            </a:r>
          </a:p>
          <a:p>
            <a:pPr>
              <a:lnSpc>
                <a:spcPct val="160000"/>
              </a:lnSpc>
            </a:pPr>
            <a:r>
              <a:rPr lang="es-ES_tradnl" dirty="0"/>
              <a:t>Intérprete de datos o </a:t>
            </a:r>
            <a:r>
              <a:rPr lang="es-ES_tradnl" i="1" dirty="0"/>
              <a:t>Shell</a:t>
            </a:r>
            <a:r>
              <a:rPr lang="es-ES_tradnl" dirty="0"/>
              <a:t>. </a:t>
            </a:r>
          </a:p>
          <a:p>
            <a:pPr>
              <a:lnSpc>
                <a:spcPct val="160000"/>
              </a:lnSpc>
            </a:pPr>
            <a:r>
              <a:rPr lang="es-ES_tradnl" dirty="0"/>
              <a:t>Se comporta como un ciclo infinito que repite las instrucciones:</a:t>
            </a:r>
          </a:p>
          <a:p>
            <a:pPr lvl="1">
              <a:lnSpc>
                <a:spcPct val="160000"/>
              </a:lnSpc>
            </a:pPr>
            <a:r>
              <a:rPr lang="es-ES_tradnl" dirty="0"/>
              <a:t>1.-Espera la orden del usuario.</a:t>
            </a:r>
          </a:p>
          <a:p>
            <a:pPr lvl="1">
              <a:lnSpc>
                <a:spcPct val="160000"/>
              </a:lnSpc>
            </a:pPr>
            <a:r>
              <a:rPr lang="es-ES_tradnl" dirty="0"/>
              <a:t>2.-Analiza la orden.</a:t>
            </a:r>
          </a:p>
          <a:p>
            <a:pPr lvl="1">
              <a:lnSpc>
                <a:spcPct val="160000"/>
              </a:lnSpc>
            </a:pPr>
            <a:r>
              <a:rPr lang="es-ES_tradnl" dirty="0"/>
              <a:t>3.-Conclusión de la orden.</a:t>
            </a:r>
          </a:p>
          <a:p>
            <a:pPr>
              <a:lnSpc>
                <a:spcPct val="160000"/>
              </a:lnSpc>
            </a:pPr>
            <a:r>
              <a:rPr lang="es-ES_tradnl" i="1" dirty="0"/>
              <a:t>Archivos de mandatos</a:t>
            </a:r>
            <a:r>
              <a:rPr lang="es-ES_tradnl" dirty="0"/>
              <a:t> </a:t>
            </a:r>
            <a:endParaRPr lang="es-ES_tradnl" i="1" dirty="0"/>
          </a:p>
        </p:txBody>
      </p:sp>
    </p:spTree>
    <p:extLst>
      <p:ext uri="{BB962C8B-B14F-4D97-AF65-F5344CB8AC3E}">
        <p14:creationId xmlns:p14="http://schemas.microsoft.com/office/powerpoint/2010/main" val="1564160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66343"/>
            <a:ext cx="10515600" cy="1325563"/>
          </a:xfrm>
        </p:spPr>
        <p:txBody>
          <a:bodyPr/>
          <a:lstStyle/>
          <a:p>
            <a:r>
              <a:rPr lang="es-ES_tradnl" dirty="0"/>
              <a:t>Compartir datos y hardware entre usuarios:</a:t>
            </a:r>
          </a:p>
        </p:txBody>
      </p:sp>
      <p:sp>
        <p:nvSpPr>
          <p:cNvPr id="3" name="Marcador de contenido 2"/>
          <p:cNvSpPr>
            <a:spLocks noGrp="1"/>
          </p:cNvSpPr>
          <p:nvPr>
            <p:ph idx="1"/>
          </p:nvPr>
        </p:nvSpPr>
        <p:spPr>
          <a:xfrm>
            <a:off x="838200" y="1491906"/>
            <a:ext cx="10515600" cy="734695"/>
          </a:xfrm>
        </p:spPr>
        <p:txBody>
          <a:bodyPr numCol="1">
            <a:normAutofit/>
          </a:bodyPr>
          <a:lstStyle/>
          <a:p>
            <a:r>
              <a:rPr lang="es-ES_tradnl" dirty="0"/>
              <a:t>Derechos de acceso y gestión de accesos simultáneos.</a:t>
            </a:r>
          </a:p>
          <a:p>
            <a:pPr lvl="1"/>
            <a:endParaRPr lang="es-ES_tradnl" dirty="0"/>
          </a:p>
        </p:txBody>
      </p:sp>
      <p:sp>
        <p:nvSpPr>
          <p:cNvPr id="4" name="CuadroTexto 3"/>
          <p:cNvSpPr txBox="1"/>
          <p:nvPr/>
        </p:nvSpPr>
        <p:spPr>
          <a:xfrm>
            <a:off x="1743456" y="2241352"/>
            <a:ext cx="8705088" cy="4616648"/>
          </a:xfrm>
          <a:prstGeom prst="rect">
            <a:avLst/>
          </a:prstGeom>
          <a:noFill/>
        </p:spPr>
        <p:txBody>
          <a:bodyPr wrap="square" numCol="2" spcCol="72000" rtlCol="0">
            <a:spAutoFit/>
          </a:bodyPr>
          <a:lstStyle/>
          <a:p>
            <a:pPr marL="914400" lvl="1" indent="-457200">
              <a:lnSpc>
                <a:spcPct val="150000"/>
              </a:lnSpc>
              <a:buFont typeface="Arial" charset="0"/>
              <a:buChar char="•"/>
            </a:pPr>
            <a:r>
              <a:rPr lang="es-ES_tradnl" sz="2800" dirty="0"/>
              <a:t>Ninguno</a:t>
            </a:r>
          </a:p>
          <a:p>
            <a:pPr marL="914400" lvl="1" indent="-457200">
              <a:lnSpc>
                <a:spcPct val="150000"/>
              </a:lnSpc>
              <a:buFont typeface="Arial" charset="0"/>
              <a:buChar char="•"/>
            </a:pPr>
            <a:r>
              <a:rPr lang="es-ES_tradnl" sz="2800" dirty="0"/>
              <a:t>Conocimiento</a:t>
            </a:r>
          </a:p>
          <a:p>
            <a:pPr marL="914400" lvl="1" indent="-457200">
              <a:lnSpc>
                <a:spcPct val="150000"/>
              </a:lnSpc>
              <a:buFont typeface="Arial" charset="0"/>
              <a:buChar char="•"/>
            </a:pPr>
            <a:r>
              <a:rPr lang="es-ES_tradnl" sz="2800" dirty="0"/>
              <a:t>Ejecución</a:t>
            </a:r>
          </a:p>
          <a:p>
            <a:pPr marL="914400" lvl="1" indent="-457200">
              <a:lnSpc>
                <a:spcPct val="150000"/>
              </a:lnSpc>
              <a:buFont typeface="Arial" charset="0"/>
              <a:buChar char="•"/>
            </a:pPr>
            <a:r>
              <a:rPr lang="es-ES_tradnl" sz="2800" dirty="0"/>
              <a:t>Lectura</a:t>
            </a:r>
          </a:p>
          <a:p>
            <a:pPr marL="914400" lvl="1" indent="-457200">
              <a:lnSpc>
                <a:spcPct val="150000"/>
              </a:lnSpc>
              <a:buFont typeface="Arial" charset="0"/>
              <a:buChar char="•"/>
            </a:pPr>
            <a:r>
              <a:rPr lang="es-ES_tradnl" sz="2800" dirty="0"/>
              <a:t>Adición</a:t>
            </a:r>
          </a:p>
          <a:p>
            <a:pPr marL="914400" lvl="1" indent="-457200">
              <a:lnSpc>
                <a:spcPct val="150000"/>
              </a:lnSpc>
              <a:buFont typeface="Arial" charset="0"/>
              <a:buChar char="•"/>
            </a:pPr>
            <a:endParaRPr lang="es-ES_tradnl" sz="2800" dirty="0"/>
          </a:p>
          <a:p>
            <a:pPr marL="914400" lvl="1" indent="-457200">
              <a:lnSpc>
                <a:spcPct val="150000"/>
              </a:lnSpc>
              <a:buFont typeface="Arial" charset="0"/>
              <a:buChar char="•"/>
            </a:pPr>
            <a:endParaRPr lang="es-ES_tradnl" sz="2800" dirty="0"/>
          </a:p>
          <a:p>
            <a:pPr marL="914400" lvl="1" indent="-457200">
              <a:lnSpc>
                <a:spcPct val="150000"/>
              </a:lnSpc>
              <a:buFont typeface="Arial" charset="0"/>
              <a:buChar char="•"/>
            </a:pPr>
            <a:r>
              <a:rPr lang="es-ES_tradnl" sz="2800" dirty="0"/>
              <a:t>Actualización</a:t>
            </a:r>
          </a:p>
          <a:p>
            <a:pPr marL="914400" lvl="1" indent="-457200">
              <a:lnSpc>
                <a:spcPct val="150000"/>
              </a:lnSpc>
              <a:buFont typeface="Arial" charset="0"/>
              <a:buChar char="•"/>
            </a:pPr>
            <a:r>
              <a:rPr lang="es-ES_tradnl" sz="2800" dirty="0"/>
              <a:t>Cambio de protección</a:t>
            </a:r>
          </a:p>
          <a:p>
            <a:pPr marL="914400" lvl="1" indent="-457200">
              <a:lnSpc>
                <a:spcPct val="150000"/>
              </a:lnSpc>
              <a:buFont typeface="Arial" charset="0"/>
              <a:buChar char="•"/>
            </a:pPr>
            <a:r>
              <a:rPr lang="es-ES_tradnl" sz="2800" dirty="0"/>
              <a:t>Borrado</a:t>
            </a:r>
          </a:p>
          <a:p>
            <a:pPr marL="914400" lvl="1" indent="-457200">
              <a:lnSpc>
                <a:spcPct val="150000"/>
              </a:lnSpc>
              <a:buFont typeface="Arial" charset="0"/>
              <a:buChar char="•"/>
            </a:pPr>
            <a:r>
              <a:rPr lang="es-ES_tradnl" sz="2800" dirty="0"/>
              <a:t>Grupos de usuarios</a:t>
            </a:r>
          </a:p>
          <a:p>
            <a:pPr marL="914400" lvl="1" indent="-457200">
              <a:lnSpc>
                <a:spcPct val="150000"/>
              </a:lnSpc>
              <a:buFont typeface="Arial" charset="0"/>
              <a:buChar char="•"/>
            </a:pPr>
            <a:r>
              <a:rPr lang="es-ES_tradnl" sz="2800" dirty="0"/>
              <a:t>Usuario Específico</a:t>
            </a:r>
          </a:p>
          <a:p>
            <a:pPr marL="914400" lvl="1" indent="-457200">
              <a:lnSpc>
                <a:spcPct val="150000"/>
              </a:lnSpc>
              <a:buFont typeface="Arial" charset="0"/>
              <a:buChar char="•"/>
            </a:pPr>
            <a:r>
              <a:rPr lang="es-ES_tradnl" sz="2800" dirty="0"/>
              <a:t>Todos</a:t>
            </a:r>
          </a:p>
          <a:p>
            <a:pPr lvl="1">
              <a:lnSpc>
                <a:spcPct val="150000"/>
              </a:lnSpc>
            </a:pPr>
            <a:endParaRPr lang="es-ES_tradnl" sz="2800" dirty="0"/>
          </a:p>
        </p:txBody>
      </p:sp>
    </p:spTree>
    <p:extLst>
      <p:ext uri="{BB962C8B-B14F-4D97-AF65-F5344CB8AC3E}">
        <p14:creationId xmlns:p14="http://schemas.microsoft.com/office/powerpoint/2010/main" val="746942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Administrador de SO:</a:t>
            </a:r>
          </a:p>
        </p:txBody>
      </p:sp>
      <p:sp>
        <p:nvSpPr>
          <p:cNvPr id="3" name="Marcador de contenido 2"/>
          <p:cNvSpPr>
            <a:spLocks noGrp="1"/>
          </p:cNvSpPr>
          <p:nvPr>
            <p:ph idx="1"/>
          </p:nvPr>
        </p:nvSpPr>
        <p:spPr>
          <a:xfrm>
            <a:off x="838200" y="1679321"/>
            <a:ext cx="10515600" cy="4351338"/>
          </a:xfrm>
        </p:spPr>
        <p:txBody>
          <a:bodyPr>
            <a:noAutofit/>
          </a:bodyPr>
          <a:lstStyle/>
          <a:p>
            <a:pPr>
              <a:lnSpc>
                <a:spcPct val="150000"/>
              </a:lnSpc>
            </a:pPr>
            <a:r>
              <a:rPr lang="es-ES_tradnl" dirty="0"/>
              <a:t>Conjunto de instrucciones, representa las llamadas al sistema.</a:t>
            </a:r>
          </a:p>
          <a:p>
            <a:pPr>
              <a:lnSpc>
                <a:spcPct val="150000"/>
              </a:lnSpc>
            </a:pPr>
            <a:r>
              <a:rPr lang="es-ES_tradnl" dirty="0"/>
              <a:t>Creación, eliminación y utilización de objetos del SW controlados por el SO (procesos y archivos).</a:t>
            </a:r>
          </a:p>
          <a:p>
            <a:pPr lvl="1">
              <a:lnSpc>
                <a:spcPct val="150000"/>
              </a:lnSpc>
            </a:pPr>
            <a:r>
              <a:rPr lang="es-ES_tradnl" dirty="0"/>
              <a:t>Procesos</a:t>
            </a:r>
          </a:p>
          <a:p>
            <a:pPr lvl="1">
              <a:lnSpc>
                <a:spcPct val="150000"/>
              </a:lnSpc>
            </a:pPr>
            <a:r>
              <a:rPr lang="es-ES_tradnl" dirty="0"/>
              <a:t>Archivos</a:t>
            </a:r>
          </a:p>
          <a:p>
            <a:pPr lvl="1">
              <a:lnSpc>
                <a:spcPct val="150000"/>
              </a:lnSpc>
            </a:pPr>
            <a:r>
              <a:rPr lang="es-ES_tradnl" dirty="0"/>
              <a:t>Llamadas al sistema</a:t>
            </a:r>
          </a:p>
        </p:txBody>
      </p:sp>
    </p:spTree>
    <p:extLst>
      <p:ext uri="{BB962C8B-B14F-4D97-AF65-F5344CB8AC3E}">
        <p14:creationId xmlns:p14="http://schemas.microsoft.com/office/powerpoint/2010/main" val="93077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Usuarios:</a:t>
            </a:r>
          </a:p>
        </p:txBody>
      </p:sp>
      <p:sp>
        <p:nvSpPr>
          <p:cNvPr id="3" name="Marcador de contenido 2"/>
          <p:cNvSpPr>
            <a:spLocks noGrp="1"/>
          </p:cNvSpPr>
          <p:nvPr>
            <p:ph idx="1"/>
          </p:nvPr>
        </p:nvSpPr>
        <p:spPr/>
        <p:txBody>
          <a:bodyPr/>
          <a:lstStyle/>
          <a:p>
            <a:pPr>
              <a:lnSpc>
                <a:spcPct val="150000"/>
              </a:lnSpc>
            </a:pPr>
            <a:r>
              <a:rPr lang="es-ES_tradnl" dirty="0"/>
              <a:t>EL SO asocia esta definición con el concepto “nombre de cuenta”.</a:t>
            </a:r>
          </a:p>
          <a:p>
            <a:pPr>
              <a:lnSpc>
                <a:spcPct val="150000"/>
              </a:lnSpc>
            </a:pPr>
            <a:r>
              <a:rPr lang="es-ES_tradnl" dirty="0"/>
              <a:t>El sistema de seguridad está basado en la identidad “usuario”.</a:t>
            </a:r>
          </a:p>
          <a:p>
            <a:pPr>
              <a:lnSpc>
                <a:spcPct val="150000"/>
              </a:lnSpc>
            </a:pPr>
            <a:r>
              <a:rPr lang="es-ES_tradnl" dirty="0"/>
              <a:t>El </a:t>
            </a:r>
            <a:r>
              <a:rPr lang="es-ES_tradnl" i="1" dirty="0"/>
              <a:t>súper usuario </a:t>
            </a:r>
            <a:r>
              <a:rPr lang="es-ES_tradnl" dirty="0"/>
              <a:t>no posee restricciones. </a:t>
            </a:r>
            <a:endParaRPr lang="es-ES_tradnl" i="1" dirty="0"/>
          </a:p>
        </p:txBody>
      </p:sp>
    </p:spTree>
    <p:extLst>
      <p:ext uri="{BB962C8B-B14F-4D97-AF65-F5344CB8AC3E}">
        <p14:creationId xmlns:p14="http://schemas.microsoft.com/office/powerpoint/2010/main" val="326432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Máquina extendida:</a:t>
            </a:r>
          </a:p>
        </p:txBody>
      </p:sp>
      <p:sp>
        <p:nvSpPr>
          <p:cNvPr id="3" name="Marcador de contenido 2"/>
          <p:cNvSpPr>
            <a:spLocks noGrp="1"/>
          </p:cNvSpPr>
          <p:nvPr>
            <p:ph idx="1"/>
          </p:nvPr>
        </p:nvSpPr>
        <p:spPr/>
        <p:txBody>
          <a:bodyPr>
            <a:normAutofit fontScale="85000" lnSpcReduction="20000"/>
          </a:bodyPr>
          <a:lstStyle/>
          <a:p>
            <a:pPr>
              <a:lnSpc>
                <a:spcPct val="150000"/>
              </a:lnSpc>
            </a:pPr>
            <a:r>
              <a:rPr lang="es-ES_tradnl" dirty="0"/>
              <a:t>Conjunto de servicios o llamadas al sistema que proporcionan la visión de máquina extendida. </a:t>
            </a:r>
          </a:p>
          <a:p>
            <a:pPr>
              <a:lnSpc>
                <a:spcPct val="150000"/>
              </a:lnSpc>
            </a:pPr>
            <a:r>
              <a:rPr lang="es-ES_tradnl" dirty="0"/>
              <a:t>Permiten ejecución cómoda y protegida de algunas operaciones.</a:t>
            </a:r>
          </a:p>
          <a:p>
            <a:pPr>
              <a:lnSpc>
                <a:spcPct val="150000"/>
              </a:lnSpc>
            </a:pPr>
            <a:r>
              <a:rPr lang="es-ES_tradnl" dirty="0"/>
              <a:t>Estos servicios se agrupan en:</a:t>
            </a:r>
          </a:p>
          <a:p>
            <a:pPr lvl="1">
              <a:lnSpc>
                <a:spcPct val="150000"/>
              </a:lnSpc>
            </a:pPr>
            <a:r>
              <a:rPr lang="es-ES_tradnl" dirty="0"/>
              <a:t> Ejecución de programas</a:t>
            </a:r>
          </a:p>
          <a:p>
            <a:pPr lvl="1">
              <a:lnSpc>
                <a:spcPct val="150000"/>
              </a:lnSpc>
            </a:pPr>
            <a:r>
              <a:rPr lang="es-ES_tradnl" dirty="0"/>
              <a:t>Ordenes I/O</a:t>
            </a:r>
          </a:p>
          <a:p>
            <a:pPr lvl="1">
              <a:lnSpc>
                <a:spcPct val="150000"/>
              </a:lnSpc>
            </a:pPr>
            <a:r>
              <a:rPr lang="es-ES_tradnl" dirty="0"/>
              <a:t>Operaciones sobre archivos</a:t>
            </a:r>
          </a:p>
          <a:p>
            <a:pPr lvl="1">
              <a:lnSpc>
                <a:spcPct val="150000"/>
              </a:lnSpc>
            </a:pPr>
            <a:r>
              <a:rPr lang="es-ES_tradnl" dirty="0"/>
              <a:t>Detección y tratamiento de errores</a:t>
            </a:r>
          </a:p>
          <a:p>
            <a:pPr lvl="1">
              <a:lnSpc>
                <a:spcPct val="150000"/>
              </a:lnSpc>
            </a:pPr>
            <a:endParaRPr lang="es-ES_tradnl" dirty="0"/>
          </a:p>
        </p:txBody>
      </p:sp>
    </p:spTree>
    <p:extLst>
      <p:ext uri="{BB962C8B-B14F-4D97-AF65-F5344CB8AC3E}">
        <p14:creationId xmlns:p14="http://schemas.microsoft.com/office/powerpoint/2010/main" val="286159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Máquina virtual:</a:t>
            </a:r>
          </a:p>
        </p:txBody>
      </p:sp>
      <p:sp>
        <p:nvSpPr>
          <p:cNvPr id="3" name="Marcador de contenido 2"/>
          <p:cNvSpPr>
            <a:spLocks noGrp="1"/>
          </p:cNvSpPr>
          <p:nvPr>
            <p:ph idx="1"/>
          </p:nvPr>
        </p:nvSpPr>
        <p:spPr/>
        <p:txBody>
          <a:bodyPr/>
          <a:lstStyle/>
          <a:p>
            <a:pPr>
              <a:lnSpc>
                <a:spcPct val="150000"/>
              </a:lnSpc>
            </a:pPr>
            <a:r>
              <a:rPr lang="es-ES_tradnl" dirty="0"/>
              <a:t>Separan funciones de multiprogramación y maquina extendida.</a:t>
            </a:r>
          </a:p>
          <a:p>
            <a:pPr>
              <a:lnSpc>
                <a:spcPct val="150000"/>
              </a:lnSpc>
            </a:pPr>
            <a:r>
              <a:rPr lang="es-ES_tradnl" dirty="0"/>
              <a:t>Realiza multiprogramación y proporciona varias máquinas virtuales en la capa superior.</a:t>
            </a:r>
          </a:p>
          <a:p>
            <a:pPr>
              <a:lnSpc>
                <a:spcPct val="150000"/>
              </a:lnSpc>
            </a:pPr>
            <a:r>
              <a:rPr lang="es-ES_tradnl" dirty="0"/>
              <a:t>Crean copias exactas del hardware.</a:t>
            </a:r>
          </a:p>
          <a:p>
            <a:pPr>
              <a:lnSpc>
                <a:spcPct val="150000"/>
              </a:lnSpc>
            </a:pPr>
            <a:r>
              <a:rPr lang="es-ES_tradnl" dirty="0"/>
              <a:t>Ejecutan cualquier SO que se pueda ejecutar de manera directa sobre el software. </a:t>
            </a:r>
          </a:p>
        </p:txBody>
      </p:sp>
    </p:spTree>
    <p:extLst>
      <p:ext uri="{BB962C8B-B14F-4D97-AF65-F5344CB8AC3E}">
        <p14:creationId xmlns:p14="http://schemas.microsoft.com/office/powerpoint/2010/main" val="172725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CDDFD16-E604-B242-AACD-E54C6F98D3AB}"/>
              </a:ext>
            </a:extLst>
          </p:cNvPr>
          <p:cNvSpPr>
            <a:spLocks noGrp="1"/>
          </p:cNvSpPr>
          <p:nvPr>
            <p:ph idx="1"/>
          </p:nvPr>
        </p:nvSpPr>
        <p:spPr>
          <a:xfrm>
            <a:off x="361950" y="263524"/>
            <a:ext cx="11505372" cy="6435449"/>
          </a:xfrm>
        </p:spPr>
        <p:txBody>
          <a:bodyPr>
            <a:normAutofit fontScale="77500" lnSpcReduction="20000"/>
          </a:bodyPr>
          <a:lstStyle/>
          <a:p>
            <a:pPr marL="0" indent="0">
              <a:buNone/>
            </a:pPr>
            <a:r>
              <a:rPr lang="es-ES_tradnl" b="1" dirty="0"/>
              <a:t>Preguntas</a:t>
            </a:r>
            <a:r>
              <a:rPr lang="es-ES_tradnl" dirty="0"/>
              <a:t>:</a:t>
            </a:r>
          </a:p>
          <a:p>
            <a:pPr marL="0" indent="0">
              <a:buNone/>
            </a:pPr>
            <a:r>
              <a:rPr lang="es-ES_tradnl" dirty="0"/>
              <a:t>1.-Función principal del procesador:	</a:t>
            </a:r>
          </a:p>
          <a:p>
            <a:pPr marL="0" indent="0">
              <a:buNone/>
            </a:pPr>
            <a:r>
              <a:rPr lang="es-ES_tradnl" dirty="0"/>
              <a:t>C</a:t>
            </a:r>
            <a:r>
              <a:rPr lang="es-ES" dirty="0" err="1"/>
              <a:t>ontrolar</a:t>
            </a:r>
            <a:r>
              <a:rPr lang="es-ES" dirty="0"/>
              <a:t> operaciones de la computadora y el procesamiento de datos. </a:t>
            </a:r>
          </a:p>
          <a:p>
            <a:endParaRPr lang="es-ES" dirty="0"/>
          </a:p>
          <a:p>
            <a:pPr marL="0" indent="0">
              <a:buNone/>
            </a:pPr>
            <a:r>
              <a:rPr lang="es-ES" dirty="0"/>
              <a:t>2.-Pasos del procesamiento de instrucciones:</a:t>
            </a:r>
          </a:p>
          <a:p>
            <a:pPr marL="457200" lvl="1" indent="0">
              <a:buNone/>
            </a:pPr>
            <a:r>
              <a:rPr lang="es-ES" dirty="0"/>
              <a:t>a) traer instrucciones desde memoria, una a la vez.</a:t>
            </a:r>
          </a:p>
          <a:p>
            <a:pPr marL="457200" lvl="1" indent="0">
              <a:buNone/>
            </a:pPr>
            <a:r>
              <a:rPr lang="es-ES" dirty="0"/>
              <a:t>b) ejecución de cada instrucción</a:t>
            </a:r>
          </a:p>
          <a:p>
            <a:endParaRPr lang="es-ES" dirty="0"/>
          </a:p>
          <a:p>
            <a:pPr marL="0" indent="0">
              <a:buNone/>
            </a:pPr>
            <a:r>
              <a:rPr lang="es-ES" dirty="0"/>
              <a:t>3.-Explica el proceso de ejecución del programa: consiste en la repetición del proceso de lectura y ejecución de la instrucción, misma que se carga en el registro de instrucción. </a:t>
            </a:r>
          </a:p>
          <a:p>
            <a:pPr marL="457200" lvl="1" indent="0">
              <a:buNone/>
            </a:pPr>
            <a:r>
              <a:rPr lang="es-ES" dirty="0"/>
              <a:t>a) transferencia de datos del procesador</a:t>
            </a:r>
          </a:p>
          <a:p>
            <a:pPr marL="457200" lvl="1" indent="0">
              <a:buNone/>
            </a:pPr>
            <a:r>
              <a:rPr lang="es-ES" dirty="0"/>
              <a:t>b) transferencia de datos desde o hacia un dispositivo periférico (procesador-I/O).</a:t>
            </a:r>
          </a:p>
          <a:p>
            <a:pPr marL="457200" lvl="1" indent="0">
              <a:buNone/>
            </a:pPr>
            <a:r>
              <a:rPr lang="es-ES" dirty="0"/>
              <a:t>c) operaciones aritmética o lógica.</a:t>
            </a:r>
          </a:p>
          <a:p>
            <a:pPr marL="457200" lvl="1" indent="0">
              <a:buNone/>
            </a:pPr>
            <a:r>
              <a:rPr lang="es-ES" dirty="0"/>
              <a:t>d) la instrucción altera la secuencia de ejecución. </a:t>
            </a:r>
          </a:p>
          <a:p>
            <a:pPr marL="457200" lvl="1" indent="0">
              <a:buNone/>
            </a:pPr>
            <a:endParaRPr lang="es-ES" dirty="0"/>
          </a:p>
          <a:p>
            <a:pPr marL="0" indent="0">
              <a:buNone/>
            </a:pPr>
            <a:r>
              <a:rPr lang="es-ES_tradnl" b="1" dirty="0"/>
              <a:t>4. </a:t>
            </a:r>
            <a:r>
              <a:rPr lang="es-ES_tradnl" dirty="0"/>
              <a:t>Define memoria principal (MP) y las ventajas de memoria cache: </a:t>
            </a:r>
          </a:p>
          <a:p>
            <a:pPr marL="0" indent="0">
              <a:buNone/>
            </a:pPr>
            <a:r>
              <a:rPr lang="es-ES_tradnl" dirty="0"/>
              <a:t>La memoria principal guarda los programas y los datos para poderlos ejecutar (acceso rápido, más costo de recurso). </a:t>
            </a:r>
          </a:p>
          <a:p>
            <a:pPr marL="0" indent="0">
              <a:buNone/>
            </a:pPr>
            <a:r>
              <a:rPr lang="es-ES_tradnl" dirty="0"/>
              <a:t>La memoria caché es más rápida y costosa que en MP, pero los programas se ejecutan más rápido a comparación. </a:t>
            </a:r>
          </a:p>
          <a:p>
            <a:pPr marL="457200" lvl="1" indent="0">
              <a:buNone/>
            </a:pPr>
            <a:endParaRPr lang="es-ES_tradnl" dirty="0"/>
          </a:p>
          <a:p>
            <a:endParaRPr lang="es-MX" dirty="0"/>
          </a:p>
        </p:txBody>
      </p:sp>
    </p:spTree>
    <p:extLst>
      <p:ext uri="{BB962C8B-B14F-4D97-AF65-F5344CB8AC3E}">
        <p14:creationId xmlns:p14="http://schemas.microsoft.com/office/powerpoint/2010/main" val="835937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AC6E8BC-25FD-2943-A0B8-8422B6EFBEDF}"/>
              </a:ext>
            </a:extLst>
          </p:cNvPr>
          <p:cNvSpPr>
            <a:spLocks noGrp="1"/>
          </p:cNvSpPr>
          <p:nvPr>
            <p:ph idx="1"/>
          </p:nvPr>
        </p:nvSpPr>
        <p:spPr>
          <a:xfrm>
            <a:off x="258417" y="357808"/>
            <a:ext cx="11095383" cy="6221895"/>
          </a:xfrm>
        </p:spPr>
        <p:txBody>
          <a:bodyPr>
            <a:normAutofit/>
          </a:bodyPr>
          <a:lstStyle/>
          <a:p>
            <a:pPr marL="0" lvl="0" indent="0">
              <a:lnSpc>
                <a:spcPct val="100000"/>
              </a:lnSpc>
              <a:spcBef>
                <a:spcPts val="0"/>
              </a:spcBef>
              <a:buNone/>
            </a:pPr>
            <a:r>
              <a:rPr lang="es-ES_tradnl" sz="1800" dirty="0">
                <a:solidFill>
                  <a:prstClr val="black"/>
                </a:solidFill>
              </a:rPr>
              <a:t>5.-Enuncia principales de los dispositivos I/O: </a:t>
            </a:r>
          </a:p>
          <a:p>
            <a:pPr marL="0" lvl="0" indent="0">
              <a:lnSpc>
                <a:spcPct val="100000"/>
              </a:lnSpc>
              <a:spcBef>
                <a:spcPts val="0"/>
              </a:spcBef>
              <a:buNone/>
            </a:pPr>
            <a:r>
              <a:rPr lang="es-ES_tradnl" sz="1800" dirty="0">
                <a:solidFill>
                  <a:prstClr val="black"/>
                </a:solidFill>
              </a:rPr>
              <a:t>	a) intercambio de datos con el procesador.</a:t>
            </a:r>
          </a:p>
          <a:p>
            <a:pPr marL="0" lvl="0" indent="0">
              <a:lnSpc>
                <a:spcPct val="100000"/>
              </a:lnSpc>
              <a:spcBef>
                <a:spcPts val="0"/>
              </a:spcBef>
              <a:buNone/>
            </a:pPr>
            <a:r>
              <a:rPr lang="es-ES_tradnl" sz="1800" dirty="0">
                <a:solidFill>
                  <a:prstClr val="black"/>
                </a:solidFill>
              </a:rPr>
              <a:t>	b) iniciar lectura o escritura en memoria</a:t>
            </a:r>
          </a:p>
          <a:p>
            <a:pPr marL="0" lvl="0" indent="0">
              <a:lnSpc>
                <a:spcPct val="100000"/>
              </a:lnSpc>
              <a:spcBef>
                <a:spcPts val="0"/>
              </a:spcBef>
              <a:buNone/>
            </a:pPr>
            <a:r>
              <a:rPr lang="es-ES_tradnl" sz="1800" dirty="0">
                <a:solidFill>
                  <a:prstClr val="black"/>
                </a:solidFill>
              </a:rPr>
              <a:t>	c) lectura o escritura de datos de un modulo I/O </a:t>
            </a:r>
          </a:p>
          <a:p>
            <a:pPr marL="0" lvl="0" indent="0">
              <a:lnSpc>
                <a:spcPct val="100000"/>
              </a:lnSpc>
              <a:spcBef>
                <a:spcPts val="0"/>
              </a:spcBef>
              <a:buNone/>
            </a:pPr>
            <a:endParaRPr lang="es-ES_tradnl" sz="1800" dirty="0">
              <a:solidFill>
                <a:prstClr val="black"/>
              </a:solidFill>
            </a:endParaRPr>
          </a:p>
          <a:p>
            <a:pPr marL="0" lvl="0" indent="0">
              <a:lnSpc>
                <a:spcPct val="100000"/>
              </a:lnSpc>
              <a:spcBef>
                <a:spcPts val="0"/>
              </a:spcBef>
              <a:buNone/>
            </a:pPr>
            <a:r>
              <a:rPr lang="es-ES_tradnl" sz="1800" dirty="0">
                <a:solidFill>
                  <a:prstClr val="black"/>
                </a:solidFill>
              </a:rPr>
              <a:t>6.- Define el proceso de interrupción y porque es importante: interrumpen la ejecución normal del procesador para mejorar la eficiencia del procesamiento, así, este se dedica a la ejecución de otras instrucciones mientras una operación I/O esta en proceso.</a:t>
            </a:r>
          </a:p>
          <a:p>
            <a:pPr marL="0" lvl="0" indent="0">
              <a:lnSpc>
                <a:spcPct val="100000"/>
              </a:lnSpc>
              <a:spcBef>
                <a:spcPts val="0"/>
              </a:spcBef>
              <a:buNone/>
            </a:pPr>
            <a:endParaRPr lang="es-ES_tradnl" sz="1800" dirty="0">
              <a:solidFill>
                <a:prstClr val="black"/>
              </a:solidFill>
            </a:endParaRPr>
          </a:p>
          <a:p>
            <a:pPr marL="0" lvl="0" indent="0">
              <a:lnSpc>
                <a:spcPct val="100000"/>
              </a:lnSpc>
              <a:spcBef>
                <a:spcPts val="0"/>
              </a:spcBef>
              <a:buNone/>
            </a:pPr>
            <a:r>
              <a:rPr lang="es-ES_tradnl" sz="1800" dirty="0">
                <a:solidFill>
                  <a:prstClr val="black"/>
                </a:solidFill>
              </a:rPr>
              <a:t>7.-Define los pasos de la interrupción: </a:t>
            </a:r>
          </a:p>
          <a:p>
            <a:pPr marL="0" lvl="0" indent="0">
              <a:lnSpc>
                <a:spcPct val="100000"/>
              </a:lnSpc>
              <a:spcBef>
                <a:spcPts val="0"/>
              </a:spcBef>
              <a:buNone/>
            </a:pPr>
            <a:r>
              <a:rPr lang="es-ES_tradnl" sz="1800" dirty="0">
                <a:solidFill>
                  <a:prstClr val="black"/>
                </a:solidFill>
              </a:rPr>
              <a:t>	a) el dispositivo emite la señal de interrupción.</a:t>
            </a:r>
          </a:p>
          <a:p>
            <a:pPr marL="0" lvl="0" indent="0">
              <a:lnSpc>
                <a:spcPct val="100000"/>
              </a:lnSpc>
              <a:spcBef>
                <a:spcPts val="0"/>
              </a:spcBef>
              <a:buNone/>
            </a:pPr>
            <a:r>
              <a:rPr lang="es-ES_tradnl" sz="1800" dirty="0">
                <a:solidFill>
                  <a:prstClr val="black"/>
                </a:solidFill>
              </a:rPr>
              <a:t>	b) el procesador finaliza la ejecución en curso antes de atender la interrupción. </a:t>
            </a:r>
          </a:p>
          <a:p>
            <a:pPr marL="0" lvl="0" indent="0">
              <a:lnSpc>
                <a:spcPct val="100000"/>
              </a:lnSpc>
              <a:spcBef>
                <a:spcPts val="0"/>
              </a:spcBef>
              <a:buNone/>
            </a:pPr>
            <a:r>
              <a:rPr lang="es-ES_tradnl" sz="1800" dirty="0">
                <a:solidFill>
                  <a:prstClr val="black"/>
                </a:solidFill>
              </a:rPr>
              <a:t>	c) el procesador pregunta y comprueba la existencia de la interrupción. Guarda la información del proceso en ejecución a suspender en el punto indicado y se ingresa a una pila de control de sistema.</a:t>
            </a:r>
          </a:p>
          <a:p>
            <a:pPr marL="0" lvl="0" indent="0">
              <a:lnSpc>
                <a:spcPct val="100000"/>
              </a:lnSpc>
              <a:spcBef>
                <a:spcPts val="0"/>
              </a:spcBef>
              <a:buNone/>
            </a:pPr>
            <a:r>
              <a:rPr lang="es-ES_tradnl" sz="1800" dirty="0">
                <a:solidFill>
                  <a:prstClr val="black"/>
                </a:solidFill>
              </a:rPr>
              <a:t>	d) el procesador carga el contador de programa con la ubicación de entrada de la interrupción. Procede con el siguiente ciclo de instrucción. </a:t>
            </a:r>
          </a:p>
          <a:p>
            <a:pPr marL="0" lvl="0" indent="0">
              <a:lnSpc>
                <a:spcPct val="100000"/>
              </a:lnSpc>
              <a:spcBef>
                <a:spcPts val="0"/>
              </a:spcBef>
              <a:buNone/>
              <a:defRPr/>
            </a:pPr>
            <a:r>
              <a:rPr lang="es-ES_tradnl" sz="1800" dirty="0">
                <a:solidFill>
                  <a:prstClr val="black"/>
                </a:solidFill>
              </a:rPr>
              <a:t>	e) </a:t>
            </a:r>
            <a:r>
              <a:rPr lang="es-ES" sz="1800" dirty="0">
                <a:solidFill>
                  <a:prstClr val="black"/>
                </a:solidFill>
              </a:rPr>
              <a:t>el contador y la palabra estado del programa interrumpido se salvaron en la pila del sistema. Se guarda el puntero de la próxima instrucción (N+1) en la pila. </a:t>
            </a:r>
            <a:endParaRPr lang="es-ES_tradnl" sz="1800" dirty="0">
              <a:solidFill>
                <a:prstClr val="black"/>
              </a:solidFill>
            </a:endParaRPr>
          </a:p>
          <a:p>
            <a:pPr marL="0" lvl="0" indent="0">
              <a:lnSpc>
                <a:spcPct val="100000"/>
              </a:lnSpc>
              <a:spcBef>
                <a:spcPts val="0"/>
              </a:spcBef>
              <a:buNone/>
              <a:defRPr/>
            </a:pPr>
            <a:r>
              <a:rPr lang="es-ES_tradnl" sz="1800" b="1" dirty="0">
                <a:solidFill>
                  <a:prstClr val="black"/>
                </a:solidFill>
              </a:rPr>
              <a:t>	</a:t>
            </a:r>
            <a:r>
              <a:rPr lang="es-ES_tradnl" sz="1800" dirty="0">
                <a:solidFill>
                  <a:prstClr val="black"/>
                </a:solidFill>
              </a:rPr>
              <a:t>f) </a:t>
            </a:r>
            <a:r>
              <a:rPr lang="es-ES" sz="1800" dirty="0">
                <a:solidFill>
                  <a:prstClr val="black"/>
                </a:solidFill>
              </a:rPr>
              <a:t>la rutina de </a:t>
            </a:r>
            <a:r>
              <a:rPr lang="es-ES" sz="1800" i="1" dirty="0">
                <a:solidFill>
                  <a:prstClr val="black"/>
                </a:solidFill>
              </a:rPr>
              <a:t>tratamiento de interrupción </a:t>
            </a:r>
            <a:r>
              <a:rPr lang="es-ES" sz="1800" dirty="0">
                <a:solidFill>
                  <a:prstClr val="black"/>
                </a:solidFill>
              </a:rPr>
              <a:t>puede proceder a procesar</a:t>
            </a:r>
            <a:r>
              <a:rPr lang="es-ES" sz="1800" i="1" dirty="0">
                <a:solidFill>
                  <a:prstClr val="black"/>
                </a:solidFill>
              </a:rPr>
              <a:t> </a:t>
            </a:r>
            <a:r>
              <a:rPr lang="es-ES" sz="1800" dirty="0">
                <a:solidFill>
                  <a:prstClr val="black"/>
                </a:solidFill>
              </a:rPr>
              <a:t>a la interrupción. </a:t>
            </a:r>
            <a:endParaRPr lang="es-ES_tradnl" sz="1800" dirty="0">
              <a:solidFill>
                <a:prstClr val="black"/>
              </a:solidFill>
            </a:endParaRPr>
          </a:p>
          <a:p>
            <a:pPr marL="0" lvl="0" indent="0">
              <a:lnSpc>
                <a:spcPct val="100000"/>
              </a:lnSpc>
              <a:spcBef>
                <a:spcPts val="0"/>
              </a:spcBef>
              <a:buNone/>
            </a:pPr>
            <a:r>
              <a:rPr lang="es-ES_tradnl" sz="1800" dirty="0">
                <a:solidFill>
                  <a:prstClr val="black"/>
                </a:solidFill>
              </a:rPr>
              <a:t>	g) </a:t>
            </a:r>
            <a:r>
              <a:rPr lang="es-ES" sz="1800" dirty="0">
                <a:solidFill>
                  <a:prstClr val="black"/>
                </a:solidFill>
              </a:rPr>
              <a:t>cuando se completa el tratamiento de la interrupción, se recuperan de la pila los registros de la próxima instrucción (quien fue interrumpida en los pasos anteriores) . </a:t>
            </a:r>
            <a:endParaRPr lang="es-ES_tradnl" sz="1800" dirty="0">
              <a:solidFill>
                <a:prstClr val="black"/>
              </a:solidFill>
            </a:endParaRPr>
          </a:p>
          <a:p>
            <a:pPr marL="0" lvl="0" indent="0">
              <a:lnSpc>
                <a:spcPct val="100000"/>
              </a:lnSpc>
              <a:spcBef>
                <a:spcPts val="0"/>
              </a:spcBef>
              <a:buNone/>
            </a:pPr>
            <a:r>
              <a:rPr lang="es-ES" sz="1800" dirty="0">
                <a:solidFill>
                  <a:prstClr val="black"/>
                </a:solidFill>
              </a:rPr>
              <a:t> </a:t>
            </a:r>
            <a:endParaRPr lang="es-ES_tradnl" sz="1800" dirty="0">
              <a:solidFill>
                <a:prstClr val="black"/>
              </a:solidFill>
            </a:endParaRPr>
          </a:p>
          <a:p>
            <a:pPr marL="0" lvl="0" indent="0">
              <a:lnSpc>
                <a:spcPct val="100000"/>
              </a:lnSpc>
              <a:spcBef>
                <a:spcPts val="0"/>
              </a:spcBef>
              <a:buNone/>
            </a:pPr>
            <a:endParaRPr lang="es-ES_tradnl" sz="1800" b="1" dirty="0">
              <a:solidFill>
                <a:prstClr val="black"/>
              </a:solidFill>
            </a:endParaRPr>
          </a:p>
          <a:p>
            <a:pPr marL="0" indent="0">
              <a:buNone/>
            </a:pPr>
            <a:endParaRPr lang="es-MX" sz="4000" dirty="0"/>
          </a:p>
        </p:txBody>
      </p:sp>
    </p:spTree>
    <p:extLst>
      <p:ext uri="{BB962C8B-B14F-4D97-AF65-F5344CB8AC3E}">
        <p14:creationId xmlns:p14="http://schemas.microsoft.com/office/powerpoint/2010/main" val="1191469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FD0DBD-C745-4D49-B4D2-F308EBD7A1D5}"/>
              </a:ext>
            </a:extLst>
          </p:cNvPr>
          <p:cNvSpPr>
            <a:spLocks noGrp="1"/>
          </p:cNvSpPr>
          <p:nvPr>
            <p:ph idx="1"/>
          </p:nvPr>
        </p:nvSpPr>
        <p:spPr>
          <a:xfrm>
            <a:off x="377687" y="496956"/>
            <a:ext cx="11628783" cy="6361044"/>
          </a:xfrm>
        </p:spPr>
        <p:txBody>
          <a:bodyPr>
            <a:normAutofit/>
          </a:bodyPr>
          <a:lstStyle/>
          <a:p>
            <a:pPr marL="0" lvl="0" indent="0">
              <a:lnSpc>
                <a:spcPct val="100000"/>
              </a:lnSpc>
              <a:spcBef>
                <a:spcPts val="0"/>
              </a:spcBef>
              <a:buNone/>
            </a:pPr>
            <a:r>
              <a:rPr lang="es-ES" sz="1600" dirty="0">
                <a:solidFill>
                  <a:prstClr val="black"/>
                </a:solidFill>
              </a:rPr>
              <a:t>8.-Escribe el concepto que se define en cada inciso:</a:t>
            </a:r>
          </a:p>
          <a:p>
            <a:pPr marL="0" lvl="0" indent="0">
              <a:lnSpc>
                <a:spcPct val="100000"/>
              </a:lnSpc>
              <a:spcBef>
                <a:spcPts val="0"/>
              </a:spcBef>
              <a:buNone/>
            </a:pPr>
            <a:r>
              <a:rPr lang="es-ES" sz="1600" dirty="0">
                <a:solidFill>
                  <a:prstClr val="black"/>
                </a:solidFill>
              </a:rPr>
              <a:t>	a) el usuario no conoce la existencia del archivo, ni puede acceder al mismo:		</a:t>
            </a:r>
            <a:r>
              <a:rPr lang="es-ES" sz="1600" b="1" dirty="0">
                <a:solidFill>
                  <a:prstClr val="black"/>
                </a:solidFill>
              </a:rPr>
              <a:t>Ninguno</a:t>
            </a:r>
            <a:endParaRPr lang="es-ES" sz="1600" dirty="0">
              <a:solidFill>
                <a:prstClr val="black"/>
              </a:solidFill>
            </a:endParaRPr>
          </a:p>
          <a:p>
            <a:pPr marL="0" lvl="0" indent="0">
              <a:lnSpc>
                <a:spcPct val="100000"/>
              </a:lnSpc>
              <a:spcBef>
                <a:spcPts val="0"/>
              </a:spcBef>
              <a:buNone/>
            </a:pPr>
            <a:r>
              <a:rPr lang="es-ES" sz="1600" dirty="0">
                <a:solidFill>
                  <a:prstClr val="black"/>
                </a:solidFill>
              </a:rPr>
              <a:t>	b) el usuario conoce la existencia del archivo y el propietario del mismo:		</a:t>
            </a:r>
            <a:r>
              <a:rPr lang="es-ES" sz="1600" b="1" dirty="0">
                <a:solidFill>
                  <a:prstClr val="black"/>
                </a:solidFill>
              </a:rPr>
              <a:t>Conocimiento</a:t>
            </a:r>
          </a:p>
          <a:p>
            <a:pPr marL="0" lvl="0" indent="0">
              <a:lnSpc>
                <a:spcPct val="100000"/>
              </a:lnSpc>
              <a:spcBef>
                <a:spcPts val="0"/>
              </a:spcBef>
              <a:buNone/>
            </a:pPr>
            <a:r>
              <a:rPr lang="es-ES" sz="1600" b="1" dirty="0">
                <a:solidFill>
                  <a:prstClr val="black"/>
                </a:solidFill>
              </a:rPr>
              <a:t>	</a:t>
            </a:r>
            <a:r>
              <a:rPr lang="es-ES" sz="1600" dirty="0">
                <a:solidFill>
                  <a:prstClr val="black"/>
                </a:solidFill>
              </a:rPr>
              <a:t>c) el usuario puede cargar y ejecutar el programa, más no copiarlo:			</a:t>
            </a:r>
            <a:r>
              <a:rPr lang="es-ES" sz="1600" b="1" dirty="0">
                <a:solidFill>
                  <a:prstClr val="black"/>
                </a:solidFill>
              </a:rPr>
              <a:t>Ejecución</a:t>
            </a:r>
          </a:p>
          <a:p>
            <a:pPr marL="0" lvl="0" indent="0">
              <a:lnSpc>
                <a:spcPct val="100000"/>
              </a:lnSpc>
              <a:spcBef>
                <a:spcPts val="0"/>
              </a:spcBef>
              <a:buNone/>
            </a:pPr>
            <a:r>
              <a:rPr lang="es-ES" sz="1600" b="1" dirty="0">
                <a:solidFill>
                  <a:prstClr val="black"/>
                </a:solidFill>
              </a:rPr>
              <a:t>	</a:t>
            </a:r>
            <a:r>
              <a:rPr lang="es-ES" sz="1600" dirty="0">
                <a:solidFill>
                  <a:prstClr val="black"/>
                </a:solidFill>
              </a:rPr>
              <a:t>d) el usuario puede leer el archivo para cualquier propósito (incluye copia y ejecución):	</a:t>
            </a:r>
            <a:r>
              <a:rPr lang="es-ES" sz="1600" b="1" dirty="0">
                <a:solidFill>
                  <a:prstClr val="black"/>
                </a:solidFill>
              </a:rPr>
              <a:t>Lectura</a:t>
            </a:r>
          </a:p>
          <a:p>
            <a:pPr marL="0" lvl="0" indent="0">
              <a:lnSpc>
                <a:spcPct val="100000"/>
              </a:lnSpc>
              <a:spcBef>
                <a:spcPts val="0"/>
              </a:spcBef>
              <a:buNone/>
            </a:pPr>
            <a:r>
              <a:rPr lang="es-ES" sz="1600" b="1" dirty="0">
                <a:solidFill>
                  <a:prstClr val="black"/>
                </a:solidFill>
              </a:rPr>
              <a:t>	</a:t>
            </a:r>
            <a:r>
              <a:rPr lang="es-ES" sz="1600" dirty="0">
                <a:solidFill>
                  <a:prstClr val="black"/>
                </a:solidFill>
              </a:rPr>
              <a:t>e) el usuario puede añadir dato, pero no modificar o borrar contenido existente:	</a:t>
            </a:r>
            <a:r>
              <a:rPr lang="es-ES" sz="1600" b="1" dirty="0">
                <a:solidFill>
                  <a:prstClr val="black"/>
                </a:solidFill>
              </a:rPr>
              <a:t>Adición </a:t>
            </a:r>
            <a:r>
              <a:rPr lang="es-ES" sz="1600" dirty="0">
                <a:solidFill>
                  <a:prstClr val="black"/>
                </a:solidFill>
              </a:rPr>
              <a:t>	</a:t>
            </a:r>
            <a:endParaRPr lang="es-ES" sz="1600" b="1" dirty="0">
              <a:solidFill>
                <a:prstClr val="black"/>
              </a:solidFill>
            </a:endParaRPr>
          </a:p>
          <a:p>
            <a:pPr marL="0" lvl="0" indent="0">
              <a:lnSpc>
                <a:spcPct val="100000"/>
              </a:lnSpc>
              <a:spcBef>
                <a:spcPts val="0"/>
              </a:spcBef>
              <a:buNone/>
            </a:pPr>
            <a:r>
              <a:rPr lang="es-ES" sz="1600" b="1" dirty="0">
                <a:solidFill>
                  <a:prstClr val="black"/>
                </a:solidFill>
              </a:rPr>
              <a:t>	</a:t>
            </a:r>
            <a:r>
              <a:rPr lang="es-ES" sz="1600" dirty="0">
                <a:solidFill>
                  <a:prstClr val="black"/>
                </a:solidFill>
              </a:rPr>
              <a:t>f) el usuario puede modificar, borrar y añadir datos al archivo:			</a:t>
            </a:r>
            <a:r>
              <a:rPr lang="es-ES" sz="1600" b="1" dirty="0">
                <a:solidFill>
                  <a:prstClr val="black"/>
                </a:solidFill>
              </a:rPr>
              <a:t>Actualización</a:t>
            </a:r>
          </a:p>
          <a:p>
            <a:pPr marL="0" lvl="0" indent="0">
              <a:lnSpc>
                <a:spcPct val="100000"/>
              </a:lnSpc>
              <a:spcBef>
                <a:spcPts val="0"/>
              </a:spcBef>
              <a:buNone/>
            </a:pPr>
            <a:r>
              <a:rPr lang="es-ES" sz="1600" b="1" dirty="0">
                <a:solidFill>
                  <a:prstClr val="black"/>
                </a:solidFill>
              </a:rPr>
              <a:t>	</a:t>
            </a:r>
            <a:r>
              <a:rPr lang="es-ES" sz="1600" dirty="0">
                <a:solidFill>
                  <a:prstClr val="black"/>
                </a:solidFill>
              </a:rPr>
              <a:t>g) el usuario puede modificar los derechos de acceso para otros usuarios:		</a:t>
            </a:r>
            <a:r>
              <a:rPr lang="es-ES" sz="1600" b="1" dirty="0">
                <a:solidFill>
                  <a:prstClr val="black"/>
                </a:solidFill>
              </a:rPr>
              <a:t>Cambio de protección</a:t>
            </a:r>
          </a:p>
          <a:p>
            <a:pPr marL="0" lvl="0" indent="0">
              <a:lnSpc>
                <a:spcPct val="100000"/>
              </a:lnSpc>
              <a:spcBef>
                <a:spcPts val="0"/>
              </a:spcBef>
              <a:buNone/>
            </a:pPr>
            <a:r>
              <a:rPr lang="es-ES" sz="1600" b="1" dirty="0">
                <a:solidFill>
                  <a:prstClr val="black"/>
                </a:solidFill>
              </a:rPr>
              <a:t>	</a:t>
            </a:r>
            <a:r>
              <a:rPr lang="es-ES" sz="1600" dirty="0">
                <a:solidFill>
                  <a:prstClr val="black"/>
                </a:solidFill>
              </a:rPr>
              <a:t>h) el usuario puede borrar el archivo del sistema:				</a:t>
            </a:r>
            <a:r>
              <a:rPr lang="es-ES" sz="1600" b="1" dirty="0">
                <a:solidFill>
                  <a:prstClr val="black"/>
                </a:solidFill>
              </a:rPr>
              <a:t>Borrado</a:t>
            </a:r>
          </a:p>
          <a:p>
            <a:pPr marL="0" lvl="0" indent="0">
              <a:lnSpc>
                <a:spcPct val="100000"/>
              </a:lnSpc>
              <a:spcBef>
                <a:spcPts val="0"/>
              </a:spcBef>
              <a:buNone/>
            </a:pPr>
            <a:r>
              <a:rPr lang="es-ES" sz="1200" b="1" dirty="0">
                <a:solidFill>
                  <a:prstClr val="black"/>
                </a:solidFill>
              </a:rPr>
              <a:t>	</a:t>
            </a:r>
            <a:endParaRPr lang="es-ES_tradnl" sz="1200" b="1" dirty="0">
              <a:solidFill>
                <a:prstClr val="black"/>
              </a:solidFill>
            </a:endParaRPr>
          </a:p>
          <a:p>
            <a:pPr marL="0" lvl="0" indent="0">
              <a:lnSpc>
                <a:spcPct val="100000"/>
              </a:lnSpc>
              <a:spcBef>
                <a:spcPts val="0"/>
              </a:spcBef>
              <a:buNone/>
            </a:pPr>
            <a:endParaRPr lang="es-ES_tradnl" sz="1600" dirty="0">
              <a:solidFill>
                <a:prstClr val="black"/>
              </a:solidFill>
            </a:endParaRPr>
          </a:p>
          <a:p>
            <a:pPr marL="0" lvl="0" indent="0">
              <a:lnSpc>
                <a:spcPct val="100000"/>
              </a:lnSpc>
              <a:spcBef>
                <a:spcPts val="0"/>
              </a:spcBef>
              <a:buNone/>
            </a:pPr>
            <a:endParaRPr lang="es-ES_tradnl" sz="1600" dirty="0">
              <a:solidFill>
                <a:prstClr val="black"/>
              </a:solidFill>
            </a:endParaRPr>
          </a:p>
          <a:p>
            <a:pPr marL="0" lvl="0" indent="0">
              <a:lnSpc>
                <a:spcPct val="100000"/>
              </a:lnSpc>
              <a:spcBef>
                <a:spcPts val="0"/>
              </a:spcBef>
              <a:buNone/>
            </a:pPr>
            <a:r>
              <a:rPr lang="es-ES_tradnl" sz="1600" dirty="0">
                <a:solidFill>
                  <a:prstClr val="black"/>
                </a:solidFill>
              </a:rPr>
              <a:t>9.-¿En que consta un proceso? 	</a:t>
            </a:r>
          </a:p>
          <a:p>
            <a:pPr marL="0" lvl="0" indent="0">
              <a:lnSpc>
                <a:spcPct val="100000"/>
              </a:lnSpc>
              <a:spcBef>
                <a:spcPts val="0"/>
              </a:spcBef>
              <a:buNone/>
            </a:pPr>
            <a:r>
              <a:rPr lang="es-ES_tradnl" sz="1600" dirty="0">
                <a:solidFill>
                  <a:prstClr val="black"/>
                </a:solidFill>
              </a:rPr>
              <a:t>El programa ejecutable, sus datos y pila, contador y otros registros además de la información necesario para ser ejecutado. </a:t>
            </a:r>
          </a:p>
          <a:p>
            <a:pPr marL="0" lvl="0" indent="0">
              <a:lnSpc>
                <a:spcPct val="100000"/>
              </a:lnSpc>
              <a:spcBef>
                <a:spcPts val="0"/>
              </a:spcBef>
              <a:buNone/>
            </a:pPr>
            <a:endParaRPr lang="es-ES_tradnl" sz="1600" dirty="0">
              <a:solidFill>
                <a:prstClr val="black"/>
              </a:solidFill>
            </a:endParaRPr>
          </a:p>
          <a:p>
            <a:pPr marL="0" lvl="0" indent="0">
              <a:lnSpc>
                <a:spcPct val="100000"/>
              </a:lnSpc>
              <a:spcBef>
                <a:spcPts val="0"/>
              </a:spcBef>
              <a:buNone/>
            </a:pPr>
            <a:r>
              <a:rPr lang="es-ES_tradnl" sz="1600" dirty="0">
                <a:solidFill>
                  <a:prstClr val="black"/>
                </a:solidFill>
              </a:rPr>
              <a:t>10.- Define archivo: 	</a:t>
            </a:r>
          </a:p>
          <a:p>
            <a:pPr marL="0" lvl="0" indent="0">
              <a:lnSpc>
                <a:spcPct val="100000"/>
              </a:lnSpc>
              <a:spcBef>
                <a:spcPts val="0"/>
              </a:spcBef>
              <a:buNone/>
            </a:pPr>
            <a:r>
              <a:rPr lang="es-ES_tradnl" sz="1600" dirty="0">
                <a:solidFill>
                  <a:prstClr val="black"/>
                </a:solidFill>
              </a:rPr>
              <a:t>es la información almacenada en disco y otros medios externos, y que pueden ser recuperadas por los programas. </a:t>
            </a:r>
          </a:p>
          <a:p>
            <a:pPr marL="0" lvl="0" indent="0">
              <a:lnSpc>
                <a:spcPct val="100000"/>
              </a:lnSpc>
              <a:spcBef>
                <a:spcPts val="0"/>
              </a:spcBef>
              <a:buNone/>
            </a:pPr>
            <a:r>
              <a:rPr lang="es-ES_tradnl" sz="1600" dirty="0">
                <a:solidFill>
                  <a:prstClr val="black"/>
                </a:solidFill>
              </a:rPr>
              <a:t>	a) Los archivos deben ser persistentes, decir que no deben verse afectados por la </a:t>
            </a:r>
            <a:r>
              <a:rPr lang="es-ES_tradnl" sz="1600" dirty="0" err="1">
                <a:solidFill>
                  <a:prstClr val="black"/>
                </a:solidFill>
              </a:rPr>
              <a:t>creación</a:t>
            </a:r>
            <a:r>
              <a:rPr lang="es-ES_tradnl" sz="1600" dirty="0">
                <a:solidFill>
                  <a:prstClr val="black"/>
                </a:solidFill>
              </a:rPr>
              <a:t> o </a:t>
            </a:r>
            <a:r>
              <a:rPr lang="es-ES_tradnl" sz="1600" dirty="0" err="1">
                <a:solidFill>
                  <a:prstClr val="black"/>
                </a:solidFill>
              </a:rPr>
              <a:t>terminación</a:t>
            </a:r>
            <a:r>
              <a:rPr lang="es-ES_tradnl" sz="1600" dirty="0">
                <a:solidFill>
                  <a:prstClr val="black"/>
                </a:solidFill>
              </a:rPr>
              <a:t> de un proceso. </a:t>
            </a:r>
          </a:p>
          <a:p>
            <a:pPr marL="0" lvl="0" indent="0">
              <a:lnSpc>
                <a:spcPct val="100000"/>
              </a:lnSpc>
              <a:spcBef>
                <a:spcPts val="0"/>
              </a:spcBef>
              <a:buNone/>
            </a:pPr>
            <a:r>
              <a:rPr lang="es-ES_tradnl" sz="1600" dirty="0">
                <a:solidFill>
                  <a:prstClr val="black"/>
                </a:solidFill>
              </a:rPr>
              <a:t>	b) Los archivos son una </a:t>
            </a:r>
            <a:r>
              <a:rPr lang="es-ES_tradnl" sz="1600" dirty="0" err="1">
                <a:solidFill>
                  <a:prstClr val="black"/>
                </a:solidFill>
              </a:rPr>
              <a:t>colección</a:t>
            </a:r>
            <a:r>
              <a:rPr lang="es-ES_tradnl" sz="1600" dirty="0">
                <a:solidFill>
                  <a:prstClr val="black"/>
                </a:solidFill>
              </a:rPr>
              <a:t> de datos con nombre. </a:t>
            </a:r>
          </a:p>
          <a:p>
            <a:pPr marL="0" lvl="0" indent="0">
              <a:lnSpc>
                <a:spcPct val="100000"/>
              </a:lnSpc>
              <a:spcBef>
                <a:spcPts val="0"/>
              </a:spcBef>
              <a:buNone/>
            </a:pPr>
            <a:r>
              <a:rPr lang="es-ES_tradnl" sz="1600" dirty="0">
                <a:solidFill>
                  <a:prstClr val="black"/>
                </a:solidFill>
              </a:rPr>
              <a:t>	c) Pueden ser manipulados como una unidad por operaciones como: open, </a:t>
            </a:r>
            <a:r>
              <a:rPr lang="es-ES_tradnl" sz="1600" dirty="0" err="1">
                <a:solidFill>
                  <a:prstClr val="black"/>
                </a:solidFill>
              </a:rPr>
              <a:t>close</a:t>
            </a:r>
            <a:r>
              <a:rPr lang="es-ES_tradnl" sz="1600" dirty="0">
                <a:solidFill>
                  <a:prstClr val="black"/>
                </a:solidFill>
              </a:rPr>
              <a:t>, </a:t>
            </a:r>
            <a:r>
              <a:rPr lang="es-ES_tradnl" sz="1600" dirty="0" err="1">
                <a:solidFill>
                  <a:prstClr val="black"/>
                </a:solidFill>
              </a:rPr>
              <a:t>create</a:t>
            </a:r>
            <a:r>
              <a:rPr lang="es-ES_tradnl" sz="1600" dirty="0">
                <a:solidFill>
                  <a:prstClr val="black"/>
                </a:solidFill>
              </a:rPr>
              <a:t>, </a:t>
            </a:r>
            <a:r>
              <a:rPr lang="es-ES_tradnl" sz="1600" dirty="0" err="1">
                <a:solidFill>
                  <a:prstClr val="black"/>
                </a:solidFill>
              </a:rPr>
              <a:t>destroy</a:t>
            </a:r>
            <a:r>
              <a:rPr lang="es-ES_tradnl" sz="1600" dirty="0">
                <a:solidFill>
                  <a:prstClr val="black"/>
                </a:solidFill>
              </a:rPr>
              <a:t>, </a:t>
            </a:r>
            <a:r>
              <a:rPr lang="es-ES_tradnl" sz="1600" dirty="0" err="1">
                <a:solidFill>
                  <a:prstClr val="black"/>
                </a:solidFill>
              </a:rPr>
              <a:t>copy</a:t>
            </a:r>
            <a:r>
              <a:rPr lang="es-ES_tradnl" sz="1600" dirty="0">
                <a:solidFill>
                  <a:prstClr val="black"/>
                </a:solidFill>
              </a:rPr>
              <a:t>, </a:t>
            </a:r>
            <a:r>
              <a:rPr lang="es-ES_tradnl" sz="1600" dirty="0" err="1">
                <a:solidFill>
                  <a:prstClr val="black"/>
                </a:solidFill>
              </a:rPr>
              <a:t>rename</a:t>
            </a:r>
            <a:r>
              <a:rPr lang="es-ES_tradnl" sz="1600" dirty="0">
                <a:solidFill>
                  <a:prstClr val="black"/>
                </a:solidFill>
              </a:rPr>
              <a:t>, </a:t>
            </a:r>
            <a:r>
              <a:rPr lang="es-ES_tradnl" sz="1600" dirty="0" err="1">
                <a:solidFill>
                  <a:prstClr val="black"/>
                </a:solidFill>
              </a:rPr>
              <a:t>list</a:t>
            </a:r>
            <a:r>
              <a:rPr lang="es-ES_tradnl" sz="1600" dirty="0">
                <a:solidFill>
                  <a:prstClr val="black"/>
                </a:solidFill>
              </a:rPr>
              <a:t>. </a:t>
            </a:r>
          </a:p>
          <a:p>
            <a:pPr marL="0" lvl="0" indent="0">
              <a:lnSpc>
                <a:spcPct val="100000"/>
              </a:lnSpc>
              <a:spcBef>
                <a:spcPts val="0"/>
              </a:spcBef>
              <a:buNone/>
            </a:pPr>
            <a:r>
              <a:rPr lang="es-ES_tradnl" sz="1600" dirty="0">
                <a:solidFill>
                  <a:prstClr val="black"/>
                </a:solidFill>
              </a:rPr>
              <a:t>	d) Los elementos de datos individuales dentro del archivo pueden ser manipulados por operaciones como: </a:t>
            </a:r>
            <a:r>
              <a:rPr lang="es-ES_tradnl" sz="1600" dirty="0" err="1">
                <a:solidFill>
                  <a:prstClr val="black"/>
                </a:solidFill>
              </a:rPr>
              <a:t>read</a:t>
            </a:r>
            <a:r>
              <a:rPr lang="es-ES_tradnl" sz="1600" dirty="0">
                <a:solidFill>
                  <a:prstClr val="black"/>
                </a:solidFill>
              </a:rPr>
              <a:t>, </a:t>
            </a:r>
            <a:r>
              <a:rPr lang="es-ES_tradnl" sz="1600" dirty="0" err="1">
                <a:solidFill>
                  <a:prstClr val="black"/>
                </a:solidFill>
              </a:rPr>
              <a:t>write</a:t>
            </a:r>
            <a:r>
              <a:rPr lang="es-ES_tradnl" sz="1600" dirty="0">
                <a:solidFill>
                  <a:prstClr val="black"/>
                </a:solidFill>
              </a:rPr>
              <a:t>, </a:t>
            </a:r>
            <a:r>
              <a:rPr lang="es-ES_tradnl" sz="1600" dirty="0" err="1">
                <a:solidFill>
                  <a:prstClr val="black"/>
                </a:solidFill>
              </a:rPr>
              <a:t>update</a:t>
            </a:r>
            <a:r>
              <a:rPr lang="es-ES_tradnl" sz="1600" dirty="0">
                <a:solidFill>
                  <a:prstClr val="black"/>
                </a:solidFill>
              </a:rPr>
              <a:t>, </a:t>
            </a:r>
            <a:r>
              <a:rPr lang="es-ES_tradnl" sz="1600" dirty="0" err="1">
                <a:solidFill>
                  <a:prstClr val="black"/>
                </a:solidFill>
              </a:rPr>
              <a:t>insert</a:t>
            </a:r>
            <a:r>
              <a:rPr lang="es-ES_tradnl" sz="1600" dirty="0">
                <a:solidFill>
                  <a:prstClr val="black"/>
                </a:solidFill>
              </a:rPr>
              <a:t>, </a:t>
            </a:r>
            <a:r>
              <a:rPr lang="es-ES_tradnl" sz="1600" dirty="0" err="1">
                <a:solidFill>
                  <a:prstClr val="black"/>
                </a:solidFill>
              </a:rPr>
              <a:t>delete</a:t>
            </a:r>
            <a:r>
              <a:rPr lang="es-ES_tradnl" sz="1600" dirty="0">
                <a:solidFill>
                  <a:prstClr val="black"/>
                </a:solidFill>
              </a:rPr>
              <a:t>. </a:t>
            </a:r>
          </a:p>
          <a:p>
            <a:pPr marL="0" lvl="0" indent="0">
              <a:lnSpc>
                <a:spcPct val="100000"/>
              </a:lnSpc>
              <a:spcBef>
                <a:spcPts val="0"/>
              </a:spcBef>
              <a:buNone/>
            </a:pPr>
            <a:endParaRPr lang="es-ES_tradnl" sz="1600" dirty="0">
              <a:solidFill>
                <a:prstClr val="black"/>
              </a:solidFill>
            </a:endParaRPr>
          </a:p>
          <a:p>
            <a:pPr marL="0" lvl="0" indent="0">
              <a:lnSpc>
                <a:spcPct val="100000"/>
              </a:lnSpc>
              <a:spcBef>
                <a:spcPts val="0"/>
              </a:spcBef>
              <a:buNone/>
            </a:pPr>
            <a:r>
              <a:rPr lang="es-ES_tradnl" sz="1600" dirty="0">
                <a:solidFill>
                  <a:prstClr val="black"/>
                </a:solidFill>
              </a:rPr>
              <a:t>11.-¿Que son las llamadas al sistema?	</a:t>
            </a:r>
          </a:p>
          <a:p>
            <a:pPr marL="0" lvl="0" indent="0">
              <a:lnSpc>
                <a:spcPct val="100000"/>
              </a:lnSpc>
              <a:spcBef>
                <a:spcPts val="0"/>
              </a:spcBef>
              <a:buNone/>
            </a:pPr>
            <a:r>
              <a:rPr lang="es-ES_tradnl" sz="1600" dirty="0">
                <a:solidFill>
                  <a:prstClr val="black"/>
                </a:solidFill>
              </a:rPr>
              <a:t>Son comunicaciones entre los programas y el SO, que permiten solicitar servicios. </a:t>
            </a:r>
          </a:p>
        </p:txBody>
      </p:sp>
    </p:spTree>
    <p:extLst>
      <p:ext uri="{BB962C8B-B14F-4D97-AF65-F5344CB8AC3E}">
        <p14:creationId xmlns:p14="http://schemas.microsoft.com/office/powerpoint/2010/main" val="123494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A756BF9-6CFD-294B-9A8A-6A2F2CB11EBC}"/>
              </a:ext>
            </a:extLst>
          </p:cNvPr>
          <p:cNvSpPr>
            <a:spLocks noGrp="1"/>
          </p:cNvSpPr>
          <p:nvPr>
            <p:ph idx="1"/>
          </p:nvPr>
        </p:nvSpPr>
        <p:spPr>
          <a:xfrm>
            <a:off x="838200" y="596348"/>
            <a:ext cx="10515600" cy="5580615"/>
          </a:xfrm>
        </p:spPr>
        <p:txBody>
          <a:bodyPr/>
          <a:lstStyle/>
          <a:p>
            <a:pPr marL="0" lvl="0" indent="0">
              <a:lnSpc>
                <a:spcPct val="100000"/>
              </a:lnSpc>
              <a:spcBef>
                <a:spcPts val="0"/>
              </a:spcBef>
              <a:buNone/>
            </a:pPr>
            <a:r>
              <a:rPr lang="es-ES_tradnl" sz="2000" dirty="0">
                <a:solidFill>
                  <a:prstClr val="black"/>
                </a:solidFill>
              </a:rPr>
              <a:t>12.-Definición de interfaz de usuario:	</a:t>
            </a:r>
          </a:p>
          <a:p>
            <a:pPr marL="0" lvl="0" indent="0">
              <a:lnSpc>
                <a:spcPct val="100000"/>
              </a:lnSpc>
              <a:spcBef>
                <a:spcPts val="0"/>
              </a:spcBef>
              <a:buNone/>
            </a:pPr>
            <a:r>
              <a:rPr lang="es-ES" sz="2000" dirty="0">
                <a:solidFill>
                  <a:prstClr val="black"/>
                </a:solidFill>
              </a:rPr>
              <a:t>módulo del sistema operativo que permite la comunicación de manera interactiva con el sistema, es el intérprete de mandatos o </a:t>
            </a:r>
            <a:r>
              <a:rPr lang="es-ES" sz="2000" i="1" dirty="0">
                <a:solidFill>
                  <a:prstClr val="black"/>
                </a:solidFill>
              </a:rPr>
              <a:t>Shell.</a:t>
            </a:r>
          </a:p>
          <a:p>
            <a:pPr marL="0" lvl="0" indent="0">
              <a:lnSpc>
                <a:spcPct val="100000"/>
              </a:lnSpc>
              <a:spcBef>
                <a:spcPts val="0"/>
              </a:spcBef>
              <a:buNone/>
            </a:pPr>
            <a:endParaRPr lang="es-ES" sz="2000" i="1" dirty="0">
              <a:solidFill>
                <a:prstClr val="black"/>
              </a:solidFill>
            </a:endParaRPr>
          </a:p>
          <a:p>
            <a:pPr marL="0" lvl="0" indent="0" algn="just">
              <a:lnSpc>
                <a:spcPct val="100000"/>
              </a:lnSpc>
              <a:spcBef>
                <a:spcPts val="0"/>
              </a:spcBef>
              <a:buNone/>
            </a:pPr>
            <a:r>
              <a:rPr lang="es-ES" sz="2000" i="1" dirty="0">
                <a:solidFill>
                  <a:prstClr val="black"/>
                </a:solidFill>
              </a:rPr>
              <a:t>13.-</a:t>
            </a:r>
            <a:r>
              <a:rPr lang="es-ES" sz="2000" dirty="0">
                <a:solidFill>
                  <a:prstClr val="black"/>
                </a:solidFill>
              </a:rPr>
              <a:t>Como se comporta la IU: comporta como un ciclo infinito que repite las siguientes instrucciones:</a:t>
            </a:r>
            <a:endParaRPr lang="es-ES_tradnl" sz="2000" dirty="0">
              <a:solidFill>
                <a:prstClr val="black"/>
              </a:solidFill>
            </a:endParaRPr>
          </a:p>
          <a:p>
            <a:pPr marL="0" lvl="0" indent="0" algn="just">
              <a:lnSpc>
                <a:spcPct val="100000"/>
              </a:lnSpc>
              <a:spcBef>
                <a:spcPts val="0"/>
              </a:spcBef>
              <a:buNone/>
            </a:pPr>
            <a:r>
              <a:rPr lang="es-ES" sz="2000" b="1" dirty="0">
                <a:solidFill>
                  <a:prstClr val="black"/>
                </a:solidFill>
              </a:rPr>
              <a:t>	</a:t>
            </a:r>
            <a:r>
              <a:rPr lang="es-ES" sz="2000" dirty="0">
                <a:solidFill>
                  <a:prstClr val="black"/>
                </a:solidFill>
              </a:rPr>
              <a:t>1.</a:t>
            </a:r>
            <a:r>
              <a:rPr lang="es-ES" sz="2000" b="1" dirty="0">
                <a:solidFill>
                  <a:prstClr val="black"/>
                </a:solidFill>
              </a:rPr>
              <a:t>-</a:t>
            </a:r>
            <a:r>
              <a:rPr lang="es-ES" sz="2000" dirty="0">
                <a:solidFill>
                  <a:prstClr val="black"/>
                </a:solidFill>
              </a:rPr>
              <a:t>Espera la orden del usuario: en el caso de interfaz textual, el </a:t>
            </a:r>
            <a:r>
              <a:rPr lang="es-ES" sz="2000" i="1" dirty="0">
                <a:solidFill>
                  <a:prstClr val="black"/>
                </a:solidFill>
              </a:rPr>
              <a:t>Shell</a:t>
            </a:r>
            <a:r>
              <a:rPr lang="es-ES" sz="2000" dirty="0">
                <a:solidFill>
                  <a:prstClr val="black"/>
                </a:solidFill>
              </a:rPr>
              <a:t> está al pendiente de lo que el usuario escribe en la línea de mandatos. En las interfaces gráficas, está pendiente de los eventos del mouse que el usuario manipula además de los del teclado. </a:t>
            </a:r>
            <a:endParaRPr lang="es-ES_tradnl" sz="2000" dirty="0">
              <a:solidFill>
                <a:prstClr val="black"/>
              </a:solidFill>
            </a:endParaRPr>
          </a:p>
          <a:p>
            <a:pPr marL="0" lvl="0" indent="0" algn="just">
              <a:lnSpc>
                <a:spcPct val="100000"/>
              </a:lnSpc>
              <a:spcBef>
                <a:spcPts val="0"/>
              </a:spcBef>
              <a:buNone/>
            </a:pPr>
            <a:r>
              <a:rPr lang="es-ES" sz="2000" dirty="0">
                <a:solidFill>
                  <a:prstClr val="black"/>
                </a:solidFill>
              </a:rPr>
              <a:t>	2.-Analiza la orden, y en caso de ser correcta, la ejecuta, para o cual utiliza servicios del sistema operativo.</a:t>
            </a:r>
            <a:endParaRPr lang="es-ES_tradnl" sz="2000" dirty="0">
              <a:solidFill>
                <a:prstClr val="black"/>
              </a:solidFill>
            </a:endParaRPr>
          </a:p>
          <a:p>
            <a:pPr marL="0" lvl="0" indent="0">
              <a:lnSpc>
                <a:spcPct val="100000"/>
              </a:lnSpc>
              <a:spcBef>
                <a:spcPts val="0"/>
              </a:spcBef>
              <a:buNone/>
            </a:pPr>
            <a:r>
              <a:rPr lang="es-ES" sz="2000" dirty="0">
                <a:solidFill>
                  <a:prstClr val="black"/>
                </a:solidFill>
              </a:rPr>
              <a:t>	3.-Concluida la orden, regresa al punto de espera. </a:t>
            </a:r>
          </a:p>
          <a:p>
            <a:pPr marL="0" lvl="0" indent="0">
              <a:lnSpc>
                <a:spcPct val="100000"/>
              </a:lnSpc>
              <a:spcBef>
                <a:spcPts val="0"/>
              </a:spcBef>
              <a:buNone/>
            </a:pPr>
            <a:endParaRPr lang="es-ES" sz="1200" dirty="0">
              <a:solidFill>
                <a:prstClr val="black"/>
              </a:solidFill>
            </a:endParaRPr>
          </a:p>
          <a:p>
            <a:pPr marL="0" lvl="0" indent="0">
              <a:lnSpc>
                <a:spcPct val="100000"/>
              </a:lnSpc>
              <a:spcBef>
                <a:spcPts val="0"/>
              </a:spcBef>
              <a:buNone/>
            </a:pPr>
            <a:r>
              <a:rPr lang="es-ES" sz="1800" dirty="0">
                <a:solidFill>
                  <a:prstClr val="black"/>
                </a:solidFill>
              </a:rPr>
              <a:t>14.-¿Cuál es la principal diferencia entre </a:t>
            </a:r>
            <a:r>
              <a:rPr lang="es-ES" sz="1800" i="1" dirty="0">
                <a:solidFill>
                  <a:prstClr val="black"/>
                </a:solidFill>
              </a:rPr>
              <a:t>usuario</a:t>
            </a:r>
            <a:r>
              <a:rPr lang="es-ES" sz="1800" dirty="0">
                <a:solidFill>
                  <a:prstClr val="black"/>
                </a:solidFill>
              </a:rPr>
              <a:t> y </a:t>
            </a:r>
            <a:r>
              <a:rPr lang="es-ES" sz="1800" i="1" dirty="0">
                <a:solidFill>
                  <a:prstClr val="black"/>
                </a:solidFill>
              </a:rPr>
              <a:t>súper usuario</a:t>
            </a:r>
            <a:r>
              <a:rPr lang="es-ES" sz="1800" dirty="0">
                <a:solidFill>
                  <a:prstClr val="black"/>
                </a:solidFill>
              </a:rPr>
              <a:t>? 	</a:t>
            </a:r>
          </a:p>
          <a:p>
            <a:pPr marL="0" lvl="0" indent="0" algn="just">
              <a:lnSpc>
                <a:spcPct val="100000"/>
              </a:lnSpc>
              <a:spcBef>
                <a:spcPts val="0"/>
              </a:spcBef>
              <a:buNone/>
            </a:pPr>
            <a:r>
              <a:rPr lang="es-ES" sz="1800" dirty="0">
                <a:solidFill>
                  <a:prstClr val="black"/>
                </a:solidFill>
              </a:rPr>
              <a:t>A diferencia del usuario regular, el súper usuario no posee ninguna restricción, puede realizar todas las operaciones del sistema sin excepción alguna.</a:t>
            </a:r>
            <a:endParaRPr lang="es-ES_tradnl" sz="1800" dirty="0">
              <a:solidFill>
                <a:prstClr val="black"/>
              </a:solidFill>
            </a:endParaRPr>
          </a:p>
          <a:p>
            <a:pPr marL="0" indent="0">
              <a:buNone/>
            </a:pPr>
            <a:endParaRPr lang="es-MX" dirty="0"/>
          </a:p>
        </p:txBody>
      </p:sp>
    </p:spTree>
    <p:extLst>
      <p:ext uri="{BB962C8B-B14F-4D97-AF65-F5344CB8AC3E}">
        <p14:creationId xmlns:p14="http://schemas.microsoft.com/office/powerpoint/2010/main" val="59517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D0889A1-94DD-0148-9824-70ADF34ECF3C}"/>
              </a:ext>
            </a:extLst>
          </p:cNvPr>
          <p:cNvSpPr>
            <a:spLocks noGrp="1"/>
          </p:cNvSpPr>
          <p:nvPr>
            <p:ph idx="1"/>
          </p:nvPr>
        </p:nvSpPr>
        <p:spPr>
          <a:xfrm>
            <a:off x="738809" y="294999"/>
            <a:ext cx="10515600" cy="4351338"/>
          </a:xfrm>
        </p:spPr>
        <p:txBody>
          <a:bodyPr/>
          <a:lstStyle/>
          <a:p>
            <a:pPr marL="0" lvl="0" indent="0">
              <a:lnSpc>
                <a:spcPct val="100000"/>
              </a:lnSpc>
              <a:spcBef>
                <a:spcPts val="0"/>
              </a:spcBef>
              <a:buNone/>
            </a:pPr>
            <a:endParaRPr lang="es-ES" sz="1800" dirty="0">
              <a:solidFill>
                <a:prstClr val="black"/>
              </a:solidFill>
            </a:endParaRPr>
          </a:p>
          <a:p>
            <a:pPr marL="0" lvl="0" indent="0">
              <a:lnSpc>
                <a:spcPct val="100000"/>
              </a:lnSpc>
              <a:spcBef>
                <a:spcPts val="0"/>
              </a:spcBef>
              <a:buNone/>
            </a:pPr>
            <a:r>
              <a:rPr lang="es-ES" sz="1800" dirty="0">
                <a:solidFill>
                  <a:prstClr val="black"/>
                </a:solidFill>
              </a:rPr>
              <a:t>15-Funciones de la máquina extendida:</a:t>
            </a:r>
            <a:endParaRPr lang="es-ES_tradnl" sz="1800" dirty="0">
              <a:solidFill>
                <a:prstClr val="black"/>
              </a:solidFill>
            </a:endParaRPr>
          </a:p>
          <a:p>
            <a:pPr marL="0" lvl="0" indent="0">
              <a:lnSpc>
                <a:spcPct val="100000"/>
              </a:lnSpc>
              <a:spcBef>
                <a:spcPts val="0"/>
              </a:spcBef>
              <a:buNone/>
            </a:pPr>
            <a:r>
              <a:rPr lang="es-ES_tradnl" sz="1800" dirty="0">
                <a:solidFill>
                  <a:prstClr val="black"/>
                </a:solidFill>
              </a:rPr>
              <a:t>	a) Ejecución de programas</a:t>
            </a:r>
          </a:p>
          <a:p>
            <a:pPr marL="0" lvl="0" indent="0">
              <a:lnSpc>
                <a:spcPct val="100000"/>
              </a:lnSpc>
              <a:spcBef>
                <a:spcPts val="0"/>
              </a:spcBef>
              <a:buNone/>
            </a:pPr>
            <a:r>
              <a:rPr lang="es-ES_tradnl" sz="1800" dirty="0">
                <a:solidFill>
                  <a:prstClr val="black"/>
                </a:solidFill>
              </a:rPr>
              <a:t>	b) Ordenes I/O</a:t>
            </a:r>
          </a:p>
          <a:p>
            <a:pPr marL="0" lvl="0" indent="0">
              <a:lnSpc>
                <a:spcPct val="100000"/>
              </a:lnSpc>
              <a:spcBef>
                <a:spcPts val="0"/>
              </a:spcBef>
              <a:buNone/>
            </a:pPr>
            <a:r>
              <a:rPr lang="es-ES_tradnl" sz="1800" dirty="0">
                <a:solidFill>
                  <a:prstClr val="black"/>
                </a:solidFill>
              </a:rPr>
              <a:t>	c) Operaciones sobre archivos</a:t>
            </a:r>
          </a:p>
          <a:p>
            <a:pPr marL="0" lvl="0" indent="0">
              <a:lnSpc>
                <a:spcPct val="100000"/>
              </a:lnSpc>
              <a:spcBef>
                <a:spcPts val="0"/>
              </a:spcBef>
              <a:buNone/>
            </a:pPr>
            <a:r>
              <a:rPr lang="es-ES_tradnl" sz="1800" dirty="0">
                <a:solidFill>
                  <a:prstClr val="black"/>
                </a:solidFill>
              </a:rPr>
              <a:t>	d) Detección y tratamiento de errores</a:t>
            </a:r>
          </a:p>
          <a:p>
            <a:pPr marL="0" lvl="0" indent="0">
              <a:lnSpc>
                <a:spcPct val="100000"/>
              </a:lnSpc>
              <a:spcBef>
                <a:spcPts val="0"/>
              </a:spcBef>
              <a:buNone/>
            </a:pPr>
            <a:endParaRPr lang="es-ES_tradnl" sz="1200" dirty="0">
              <a:solidFill>
                <a:prstClr val="black"/>
              </a:solidFill>
            </a:endParaRPr>
          </a:p>
          <a:p>
            <a:pPr marL="0" lvl="0" indent="0">
              <a:lnSpc>
                <a:spcPct val="100000"/>
              </a:lnSpc>
              <a:spcBef>
                <a:spcPts val="0"/>
              </a:spcBef>
              <a:buNone/>
              <a:defRPr/>
            </a:pPr>
            <a:r>
              <a:rPr lang="es-ES_tradnl" sz="1800" dirty="0">
                <a:solidFill>
                  <a:prstClr val="black"/>
                </a:solidFill>
              </a:rPr>
              <a:t>16.- </a:t>
            </a:r>
            <a:r>
              <a:rPr lang="es-ES" sz="1800" dirty="0">
                <a:solidFill>
                  <a:prstClr val="black"/>
                </a:solidFill>
              </a:rPr>
              <a:t>crean copias “exactas” del hardware simple con los componentes que posee una maquina real. Pueden ejecutar cualquier SO que se ejecute de manera directa sobre el hardware.</a:t>
            </a:r>
          </a:p>
          <a:p>
            <a:pPr marL="0" lvl="0" indent="0">
              <a:lnSpc>
                <a:spcPct val="100000"/>
              </a:lnSpc>
              <a:spcBef>
                <a:spcPts val="0"/>
              </a:spcBef>
              <a:buNone/>
              <a:defRPr/>
            </a:pPr>
            <a:r>
              <a:rPr lang="es-ES" sz="1800" dirty="0">
                <a:solidFill>
                  <a:prstClr val="black"/>
                </a:solidFill>
              </a:rPr>
              <a:t>	a) máquina extendida</a:t>
            </a:r>
          </a:p>
          <a:p>
            <a:pPr marL="0" lvl="0" indent="0">
              <a:lnSpc>
                <a:spcPct val="100000"/>
              </a:lnSpc>
              <a:spcBef>
                <a:spcPts val="0"/>
              </a:spcBef>
              <a:buNone/>
              <a:defRPr/>
            </a:pPr>
            <a:r>
              <a:rPr lang="es-ES" sz="1800" dirty="0">
                <a:solidFill>
                  <a:prstClr val="black"/>
                </a:solidFill>
              </a:rPr>
              <a:t>	b) software</a:t>
            </a:r>
          </a:p>
          <a:p>
            <a:pPr marL="0" lvl="0" indent="0">
              <a:lnSpc>
                <a:spcPct val="100000"/>
              </a:lnSpc>
              <a:spcBef>
                <a:spcPts val="0"/>
              </a:spcBef>
              <a:buNone/>
              <a:defRPr/>
            </a:pPr>
            <a:r>
              <a:rPr lang="es-ES" sz="1800" dirty="0">
                <a:solidFill>
                  <a:prstClr val="black"/>
                </a:solidFill>
              </a:rPr>
              <a:t>	c) dispositivos I/O</a:t>
            </a:r>
          </a:p>
          <a:p>
            <a:pPr marL="0" lvl="0" indent="0">
              <a:lnSpc>
                <a:spcPct val="100000"/>
              </a:lnSpc>
              <a:spcBef>
                <a:spcPts val="0"/>
              </a:spcBef>
              <a:buNone/>
              <a:defRPr/>
            </a:pPr>
            <a:r>
              <a:rPr lang="es-ES" sz="1800" b="1" dirty="0">
                <a:solidFill>
                  <a:prstClr val="black"/>
                </a:solidFill>
              </a:rPr>
              <a:t>	d) máquina virtual</a:t>
            </a:r>
            <a:endParaRPr lang="es-ES_tradnl" sz="1800" b="1" dirty="0">
              <a:solidFill>
                <a:prstClr val="black"/>
              </a:solidFill>
            </a:endParaRPr>
          </a:p>
          <a:p>
            <a:pPr marL="0" indent="0">
              <a:buNone/>
            </a:pPr>
            <a:endParaRPr lang="es-MX" sz="4000" dirty="0"/>
          </a:p>
        </p:txBody>
      </p:sp>
    </p:spTree>
    <p:extLst>
      <p:ext uri="{BB962C8B-B14F-4D97-AF65-F5344CB8AC3E}">
        <p14:creationId xmlns:p14="http://schemas.microsoft.com/office/powerpoint/2010/main" val="24215880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940</TotalTime>
  <Words>3808</Words>
  <Application>Microsoft Macintosh PowerPoint</Application>
  <PresentationFormat>Panorámica</PresentationFormat>
  <Paragraphs>253</Paragraphs>
  <Slides>16</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Calibri Light</vt:lpstr>
      <vt:lpstr>Tema de Office</vt:lpstr>
      <vt:lpstr>Principales Características de los sistemas operativos. </vt:lpstr>
      <vt:lpstr>Los Principales Recursos Administrados por los SO son</vt:lpstr>
      <vt:lpstr>Procesador:</vt:lpstr>
      <vt:lpstr>Medios de almacenamiento:</vt:lpstr>
      <vt:lpstr>Dispositivos I/O y facilitar su manejo:</vt:lpstr>
      <vt:lpstr>SO como interfaz de usuario / User Interface:</vt:lpstr>
      <vt:lpstr>Compartir datos y hardware entre usuarios:</vt:lpstr>
      <vt:lpstr>Administrador de SO:</vt:lpstr>
      <vt:lpstr>Usuarios:</vt:lpstr>
      <vt:lpstr>Máquina extendida:</vt:lpstr>
      <vt:lpstr>Máquina virtual:</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Principales Características y Recursos Administrados por los sistemas operativos. </dc:title>
  <dc:creator>Axel Diaz Ibarra</dc:creator>
  <cp:lastModifiedBy>RENE EDMUNDO CUEVAS VALENCIA</cp:lastModifiedBy>
  <cp:revision>32</cp:revision>
  <dcterms:created xsi:type="dcterms:W3CDTF">2017-09-01T15:42:16Z</dcterms:created>
  <dcterms:modified xsi:type="dcterms:W3CDTF">2021-02-23T07:13:41Z</dcterms:modified>
</cp:coreProperties>
</file>