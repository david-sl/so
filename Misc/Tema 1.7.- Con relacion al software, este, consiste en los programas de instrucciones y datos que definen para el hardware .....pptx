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comment1.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9" r:id="rId2"/>
    <p:sldId id="256" r:id="rId3"/>
    <p:sldId id="257" r:id="rId4"/>
    <p:sldId id="258" r:id="rId5"/>
    <p:sldId id="260" r:id="rId6"/>
    <p:sldId id="261" r:id="rId7"/>
    <p:sldId id="265" r:id="rId8"/>
    <p:sldId id="266" r:id="rId9"/>
    <p:sldId id="264" r:id="rId1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co Acuario" initials="PA" lastIdx="27" clrIdx="0">
    <p:extLst>
      <p:ext uri="{19B8F6BF-5375-455C-9EA6-DF929625EA0E}">
        <p15:presenceInfo xmlns:p15="http://schemas.microsoft.com/office/powerpoint/2012/main" userId="17fb0e27406e9a9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06" autoAdjust="0"/>
    <p:restoredTop sz="66314" autoAdjust="0"/>
  </p:normalViewPr>
  <p:slideViewPr>
    <p:cSldViewPr snapToGrid="0">
      <p:cViewPr varScale="1">
        <p:scale>
          <a:sx n="50" d="100"/>
          <a:sy n="50" d="100"/>
        </p:scale>
        <p:origin x="1272" y="168"/>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7-09-01T12:36:38.903" idx="16">
    <p:pos x="10" y="10"/>
    <p:text>¿Cuál era la utilización del Spool?</p:text>
    <p:extLst>
      <p:ext uri="{C676402C-5697-4E1C-873F-D02D1690AC5C}">
        <p15:threadingInfo xmlns:p15="http://schemas.microsoft.com/office/powerpoint/2012/main" timeZoneBias="300"/>
      </p:ext>
    </p:extLst>
  </p:cm>
  <p:cm authorId="1" dt="2017-09-01T12:49:58.604" idx="26">
    <p:pos x="10" y="146"/>
    <p:text>En el modo spool, un dispositivo de alta velocidad como un disco duro se interpone entre un programa en ejecución y un dispositivo de baja velocidad relacionado con la entrada y salida del programa.</p:text>
    <p:extLst>
      <p:ext uri="{C676402C-5697-4E1C-873F-D02D1690AC5C}">
        <p15:threadingInfo xmlns:p15="http://schemas.microsoft.com/office/powerpoint/2012/main" timeZoneBias="300">
          <p15:parentCm authorId="1" idx="16"/>
        </p15:threadingInfo>
      </p:ext>
    </p:extLst>
  </p:cm>
  <p:cm authorId="1" dt="2017-09-01T12:36:56.768" idx="17">
    <p:pos x="146" y="146"/>
    <p:text>Utilización del SPOOL:
Nombre del Autor: Gunnar Wolf / Esteban Ruiz / Federico Bergero / Erwin Meza Vega
Nombre del libro: Sistemas Operativos 
Nombre de la Editorial: LATIn
Página(s) consultada(s): 19	
Año de Edición del Libro: Marzo 2014
Spool: Un mecanismo de entrada/salida que permitía que una computadora de propósito específico, mucho más económica y limitada, leyera las tarjetas y las fuera convirtiendo a cinta magnética, un medio mucho más rápido, teniéndola lista para que la computadora central la cargara cuando terminara con el trabajo anterior. Del mismo modo, la computadora central guardaba sus resultados en cinta para que equipos especializados la leyeran e imprimieran para el usuario solicitante. La palabra spool (bobina) se tomó como acrónimo inverso hacia Simultaneous Peripherial Operations On-Line, operación simultánea de periféricos en línea.</p:text>
    <p:extLst>
      <p:ext uri="{C676402C-5697-4E1C-873F-D02D1690AC5C}">
        <p15:threadingInfo xmlns:p15="http://schemas.microsoft.com/office/powerpoint/2012/main" timeZoneBias="30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2C4248-E316-4C4B-BA51-A4C308660713}" type="doc">
      <dgm:prSet loTypeId="urn:microsoft.com/office/officeart/2005/8/layout/radial3" loCatId="" qsTypeId="urn:microsoft.com/office/officeart/2005/8/quickstyle/simple1" qsCatId="simple" csTypeId="urn:microsoft.com/office/officeart/2005/8/colors/accent1_2" csCatId="accent1" phldr="1"/>
      <dgm:spPr/>
      <dgm:t>
        <a:bodyPr/>
        <a:lstStyle/>
        <a:p>
          <a:endParaRPr lang="es-ES"/>
        </a:p>
      </dgm:t>
    </dgm:pt>
    <dgm:pt modelId="{4F3D8457-B2F5-7645-85AD-B2D0B954DFEF}">
      <dgm:prSet phldrT="[Texto]"/>
      <dgm:spPr/>
      <dgm:t>
        <a:bodyPr/>
        <a:lstStyle/>
        <a:p>
          <a:r>
            <a:rPr lang="es-ES" dirty="0"/>
            <a:t>Software</a:t>
          </a:r>
        </a:p>
      </dgm:t>
    </dgm:pt>
    <dgm:pt modelId="{B6CFD102-1C73-8242-97EC-940D6BE20702}" type="parTrans" cxnId="{02540898-43D7-384A-BA46-BA9DB577794A}">
      <dgm:prSet/>
      <dgm:spPr/>
      <dgm:t>
        <a:bodyPr/>
        <a:lstStyle/>
        <a:p>
          <a:endParaRPr lang="es-ES"/>
        </a:p>
      </dgm:t>
    </dgm:pt>
    <dgm:pt modelId="{C5B72022-BC50-9143-ADEF-52E94F6CCEB5}" type="sibTrans" cxnId="{02540898-43D7-384A-BA46-BA9DB577794A}">
      <dgm:prSet/>
      <dgm:spPr/>
      <dgm:t>
        <a:bodyPr/>
        <a:lstStyle/>
        <a:p>
          <a:endParaRPr lang="es-ES"/>
        </a:p>
      </dgm:t>
    </dgm:pt>
    <dgm:pt modelId="{FCD1D48B-4CDA-644C-B611-B1EFC36B63E4}">
      <dgm:prSet phldrT="[Texto]"/>
      <dgm:spPr/>
      <dgm:t>
        <a:bodyPr/>
        <a:lstStyle/>
        <a:p>
          <a:r>
            <a:rPr lang="es-ES" dirty="0"/>
            <a:t>Programación en lenguaje máquina</a:t>
          </a:r>
        </a:p>
      </dgm:t>
    </dgm:pt>
    <dgm:pt modelId="{A87797F4-4CED-9844-B3A1-D617F5D50E6E}" type="parTrans" cxnId="{52DFDBFC-1328-7F4F-AE67-5B06BF20E6CA}">
      <dgm:prSet/>
      <dgm:spPr/>
      <dgm:t>
        <a:bodyPr/>
        <a:lstStyle/>
        <a:p>
          <a:endParaRPr lang="es-ES"/>
        </a:p>
      </dgm:t>
    </dgm:pt>
    <dgm:pt modelId="{E6026A57-AFE8-8A41-9D83-4C67B6F606C5}" type="sibTrans" cxnId="{52DFDBFC-1328-7F4F-AE67-5B06BF20E6CA}">
      <dgm:prSet/>
      <dgm:spPr/>
      <dgm:t>
        <a:bodyPr/>
        <a:lstStyle/>
        <a:p>
          <a:endParaRPr lang="es-ES"/>
        </a:p>
      </dgm:t>
    </dgm:pt>
    <dgm:pt modelId="{4B93F45C-60F6-2D4E-99EF-11C7B9012EAB}">
      <dgm:prSet phldrT="[Texto]"/>
      <dgm:spPr/>
      <dgm:t>
        <a:bodyPr/>
        <a:lstStyle/>
        <a:p>
          <a:r>
            <a:rPr lang="es-ES" dirty="0"/>
            <a:t>Ensambladores y macroprocesadores</a:t>
          </a:r>
        </a:p>
      </dgm:t>
    </dgm:pt>
    <dgm:pt modelId="{FB8D7821-AE24-584C-9754-005F23D99569}" type="parTrans" cxnId="{1322773C-0DBD-254C-9907-3CA90804EB57}">
      <dgm:prSet/>
      <dgm:spPr/>
      <dgm:t>
        <a:bodyPr/>
        <a:lstStyle/>
        <a:p>
          <a:endParaRPr lang="es-ES"/>
        </a:p>
      </dgm:t>
    </dgm:pt>
    <dgm:pt modelId="{67EDE1FD-08A1-504C-94AC-3768DD348E58}" type="sibTrans" cxnId="{1322773C-0DBD-254C-9907-3CA90804EB57}">
      <dgm:prSet/>
      <dgm:spPr/>
      <dgm:t>
        <a:bodyPr/>
        <a:lstStyle/>
        <a:p>
          <a:endParaRPr lang="es-ES"/>
        </a:p>
      </dgm:t>
    </dgm:pt>
    <dgm:pt modelId="{9C2FD10F-81E3-2447-8428-79CED8A8F12C}">
      <dgm:prSet phldrT="[Texto]"/>
      <dgm:spPr/>
      <dgm:t>
        <a:bodyPr/>
        <a:lstStyle/>
        <a:p>
          <a:r>
            <a:rPr lang="es-ES" dirty="0"/>
            <a:t>Compiladores</a:t>
          </a:r>
        </a:p>
      </dgm:t>
    </dgm:pt>
    <dgm:pt modelId="{3949E9F4-D1B0-1C44-95BF-C4A9318FCD3B}" type="parTrans" cxnId="{9A633AE3-B4D4-1749-8E29-BEAFD9BA9D3A}">
      <dgm:prSet/>
      <dgm:spPr/>
      <dgm:t>
        <a:bodyPr/>
        <a:lstStyle/>
        <a:p>
          <a:endParaRPr lang="es-ES"/>
        </a:p>
      </dgm:t>
    </dgm:pt>
    <dgm:pt modelId="{F56E1E27-5F19-5E4C-B20F-D2926A51136A}" type="sibTrans" cxnId="{9A633AE3-B4D4-1749-8E29-BEAFD9BA9D3A}">
      <dgm:prSet/>
      <dgm:spPr/>
      <dgm:t>
        <a:bodyPr/>
        <a:lstStyle/>
        <a:p>
          <a:endParaRPr lang="es-ES"/>
        </a:p>
      </dgm:t>
    </dgm:pt>
    <dgm:pt modelId="{B8223AC7-F11A-6848-945A-418CE3311BA1}">
      <dgm:prSet phldrT="[Texto]"/>
      <dgm:spPr/>
      <dgm:t>
        <a:bodyPr/>
        <a:lstStyle/>
        <a:p>
          <a:r>
            <a:rPr lang="es-ES" dirty="0"/>
            <a:t>Sistemas de Control e/s</a:t>
          </a:r>
        </a:p>
      </dgm:t>
    </dgm:pt>
    <dgm:pt modelId="{70E48DD1-831F-C548-8B82-C83394CD8018}" type="parTrans" cxnId="{CFB69031-AEBE-F34D-80C2-5B77C7FDDD95}">
      <dgm:prSet/>
      <dgm:spPr/>
      <dgm:t>
        <a:bodyPr/>
        <a:lstStyle/>
        <a:p>
          <a:endParaRPr lang="es-ES"/>
        </a:p>
      </dgm:t>
    </dgm:pt>
    <dgm:pt modelId="{1D4E3E99-5ACF-AE4B-95D8-B2DC11CEA4C6}" type="sibTrans" cxnId="{CFB69031-AEBE-F34D-80C2-5B77C7FDDD95}">
      <dgm:prSet/>
      <dgm:spPr/>
      <dgm:t>
        <a:bodyPr/>
        <a:lstStyle/>
        <a:p>
          <a:endParaRPr lang="es-ES"/>
        </a:p>
      </dgm:t>
    </dgm:pt>
    <dgm:pt modelId="{31577530-CA26-0947-BFAF-D1D1D3390773}">
      <dgm:prSet phldrT="[Texto]"/>
      <dgm:spPr/>
      <dgm:t>
        <a:bodyPr/>
        <a:lstStyle/>
        <a:p>
          <a:r>
            <a:rPr lang="es-ES" dirty="0"/>
            <a:t>Utilización del SPOOL</a:t>
          </a:r>
        </a:p>
      </dgm:t>
    </dgm:pt>
    <dgm:pt modelId="{83A70BBA-58FE-054B-9C76-BB4FF2C586E9}" type="parTrans" cxnId="{B20637E1-7287-C94B-811F-F76F514B453F}">
      <dgm:prSet/>
      <dgm:spPr/>
      <dgm:t>
        <a:bodyPr/>
        <a:lstStyle/>
        <a:p>
          <a:endParaRPr lang="es-ES"/>
        </a:p>
      </dgm:t>
    </dgm:pt>
    <dgm:pt modelId="{3B3E788E-454D-A94A-B2C4-DDD8257E2292}" type="sibTrans" cxnId="{B20637E1-7287-C94B-811F-F76F514B453F}">
      <dgm:prSet/>
      <dgm:spPr/>
      <dgm:t>
        <a:bodyPr/>
        <a:lstStyle/>
        <a:p>
          <a:endParaRPr lang="es-ES"/>
        </a:p>
      </dgm:t>
    </dgm:pt>
    <dgm:pt modelId="{C51318FD-6394-7E40-A4D3-7047D3FF3F2C}">
      <dgm:prSet phldrT="[Texto]"/>
      <dgm:spPr/>
      <dgm:t>
        <a:bodyPr/>
        <a:lstStyle/>
        <a:p>
          <a:r>
            <a:rPr lang="es-ES" dirty="0"/>
            <a:t>Leng. Orientado al procedimiento Vs el problema</a:t>
          </a:r>
        </a:p>
      </dgm:t>
    </dgm:pt>
    <dgm:pt modelId="{7BE91D78-0E2F-F040-B285-E8AE00FB99AF}" type="parTrans" cxnId="{3BFA2D25-3F63-9044-AA48-D94928B6721C}">
      <dgm:prSet/>
      <dgm:spPr/>
      <dgm:t>
        <a:bodyPr/>
        <a:lstStyle/>
        <a:p>
          <a:endParaRPr lang="es-ES"/>
        </a:p>
      </dgm:t>
    </dgm:pt>
    <dgm:pt modelId="{5DEBA929-0E83-A44C-8EE9-EB3FE3F50A24}" type="sibTrans" cxnId="{3BFA2D25-3F63-9044-AA48-D94928B6721C}">
      <dgm:prSet/>
      <dgm:spPr/>
      <dgm:t>
        <a:bodyPr/>
        <a:lstStyle/>
        <a:p>
          <a:endParaRPr lang="es-ES"/>
        </a:p>
      </dgm:t>
    </dgm:pt>
    <dgm:pt modelId="{71FD100F-7C94-924E-A59A-E3D5D0D4BF01}">
      <dgm:prSet phldrT="[Texto]"/>
      <dgm:spPr/>
      <dgm:t>
        <a:bodyPr/>
        <a:lstStyle/>
        <a:p>
          <a:r>
            <a:rPr lang="es-ES" dirty="0"/>
            <a:t>Compiladores rápidos y sucios Vs optimizadores</a:t>
          </a:r>
        </a:p>
      </dgm:t>
    </dgm:pt>
    <dgm:pt modelId="{6E1AAD62-E9E8-DC47-84D4-1006F10D7E7B}" type="parTrans" cxnId="{3D2E185C-35C6-B14A-A7E3-35A570AD020A}">
      <dgm:prSet/>
      <dgm:spPr/>
      <dgm:t>
        <a:bodyPr/>
        <a:lstStyle/>
        <a:p>
          <a:endParaRPr lang="es-ES"/>
        </a:p>
      </dgm:t>
    </dgm:pt>
    <dgm:pt modelId="{A40D382F-8B07-724E-A84D-C28DF01248DA}" type="sibTrans" cxnId="{3D2E185C-35C6-B14A-A7E3-35A570AD020A}">
      <dgm:prSet/>
      <dgm:spPr/>
      <dgm:t>
        <a:bodyPr/>
        <a:lstStyle/>
        <a:p>
          <a:endParaRPr lang="es-ES"/>
        </a:p>
      </dgm:t>
    </dgm:pt>
    <dgm:pt modelId="{9184809D-6124-224B-96A2-95810D39AA6B}">
      <dgm:prSet phldrT="[Texto]"/>
      <dgm:spPr/>
      <dgm:t>
        <a:bodyPr/>
        <a:lstStyle/>
        <a:p>
          <a:r>
            <a:rPr lang="es-ES" dirty="0"/>
            <a:t>Interpretadores</a:t>
          </a:r>
        </a:p>
      </dgm:t>
    </dgm:pt>
    <dgm:pt modelId="{14D02626-525B-7C4A-8FA9-6D2F80EDAA49}" type="parTrans" cxnId="{33C99232-1887-234D-A201-B181592EBEAD}">
      <dgm:prSet/>
      <dgm:spPr/>
      <dgm:t>
        <a:bodyPr/>
        <a:lstStyle/>
        <a:p>
          <a:endParaRPr lang="es-ES"/>
        </a:p>
      </dgm:t>
    </dgm:pt>
    <dgm:pt modelId="{C62AA9BC-EB3E-8D4B-8963-26C60367ACA4}" type="sibTrans" cxnId="{33C99232-1887-234D-A201-B181592EBEAD}">
      <dgm:prSet/>
      <dgm:spPr/>
      <dgm:t>
        <a:bodyPr/>
        <a:lstStyle/>
        <a:p>
          <a:endParaRPr lang="es-ES"/>
        </a:p>
      </dgm:t>
    </dgm:pt>
    <dgm:pt modelId="{C6FBBD5D-9781-2A42-A44E-E7B9D05FA9E4}">
      <dgm:prSet phldrT="[Texto]"/>
      <dgm:spPr/>
      <dgm:t>
        <a:bodyPr/>
        <a:lstStyle/>
        <a:p>
          <a:r>
            <a:rPr lang="es-ES" dirty="0"/>
            <a:t>Cargadores absolutos y relocalización</a:t>
          </a:r>
        </a:p>
      </dgm:t>
    </dgm:pt>
    <dgm:pt modelId="{8132F954-EFB8-1547-9217-BB9417BEA0EE}" type="parTrans" cxnId="{3CBE9ECF-A09F-C844-9F9C-3FD8E962B7EE}">
      <dgm:prSet/>
      <dgm:spPr/>
      <dgm:t>
        <a:bodyPr/>
        <a:lstStyle/>
        <a:p>
          <a:endParaRPr lang="es-ES"/>
        </a:p>
      </dgm:t>
    </dgm:pt>
    <dgm:pt modelId="{AB2F78A1-DEC1-204D-BF7C-E09F4B753724}" type="sibTrans" cxnId="{3CBE9ECF-A09F-C844-9F9C-3FD8E962B7EE}">
      <dgm:prSet/>
      <dgm:spPr/>
      <dgm:t>
        <a:bodyPr/>
        <a:lstStyle/>
        <a:p>
          <a:endParaRPr lang="es-ES"/>
        </a:p>
      </dgm:t>
    </dgm:pt>
    <dgm:pt modelId="{8952589B-3D98-2D4D-A8B3-5DB4460F41FF}">
      <dgm:prSet phldrT="[Texto]"/>
      <dgm:spPr/>
      <dgm:t>
        <a:bodyPr/>
        <a:lstStyle/>
        <a:p>
          <a:r>
            <a:rPr lang="es-ES" dirty="0"/>
            <a:t>Cargadores de enlace y editores</a:t>
          </a:r>
        </a:p>
      </dgm:t>
    </dgm:pt>
    <dgm:pt modelId="{36D2D9E2-9885-7248-BF2F-FEC2785076E0}" type="parTrans" cxnId="{FA30BD0E-7ED4-6F4C-8C4D-12DF98D0C433}">
      <dgm:prSet/>
      <dgm:spPr/>
      <dgm:t>
        <a:bodyPr/>
        <a:lstStyle/>
        <a:p>
          <a:endParaRPr lang="es-ES"/>
        </a:p>
      </dgm:t>
    </dgm:pt>
    <dgm:pt modelId="{B87A990D-31BD-0D4A-BE24-1FCE8B2D8671}" type="sibTrans" cxnId="{FA30BD0E-7ED4-6F4C-8C4D-12DF98D0C433}">
      <dgm:prSet/>
      <dgm:spPr/>
      <dgm:t>
        <a:bodyPr/>
        <a:lstStyle/>
        <a:p>
          <a:endParaRPr lang="es-ES"/>
        </a:p>
      </dgm:t>
    </dgm:pt>
    <dgm:pt modelId="{5B871C98-AB9D-2549-8D2D-64761B212705}" type="pres">
      <dgm:prSet presAssocID="{F22C4248-E316-4C4B-BA51-A4C308660713}" presName="composite" presStyleCnt="0">
        <dgm:presLayoutVars>
          <dgm:chMax val="1"/>
          <dgm:dir/>
          <dgm:resizeHandles val="exact"/>
        </dgm:presLayoutVars>
      </dgm:prSet>
      <dgm:spPr/>
    </dgm:pt>
    <dgm:pt modelId="{C4EFDB1C-8290-2740-8A88-06F3F3602AA5}" type="pres">
      <dgm:prSet presAssocID="{F22C4248-E316-4C4B-BA51-A4C308660713}" presName="radial" presStyleCnt="0">
        <dgm:presLayoutVars>
          <dgm:animLvl val="ctr"/>
        </dgm:presLayoutVars>
      </dgm:prSet>
      <dgm:spPr/>
    </dgm:pt>
    <dgm:pt modelId="{5C36A4BB-8A0E-CF48-8F03-EBFD13DF2367}" type="pres">
      <dgm:prSet presAssocID="{4F3D8457-B2F5-7645-85AD-B2D0B954DFEF}" presName="centerShape" presStyleLbl="vennNode1" presStyleIdx="0" presStyleCnt="11" custLinFactNeighborX="-406" custLinFactNeighborY="406"/>
      <dgm:spPr/>
    </dgm:pt>
    <dgm:pt modelId="{43FA5161-55D8-D846-81C7-1171D472F3DA}" type="pres">
      <dgm:prSet presAssocID="{FCD1D48B-4CDA-644C-B611-B1EFC36B63E4}" presName="node" presStyleLbl="vennNode1" presStyleIdx="1" presStyleCnt="11">
        <dgm:presLayoutVars>
          <dgm:bulletEnabled val="1"/>
        </dgm:presLayoutVars>
      </dgm:prSet>
      <dgm:spPr/>
    </dgm:pt>
    <dgm:pt modelId="{32022531-B507-B94C-BB45-D2B37BAC75CB}" type="pres">
      <dgm:prSet presAssocID="{4B93F45C-60F6-2D4E-99EF-11C7B9012EAB}" presName="node" presStyleLbl="vennNode1" presStyleIdx="2" presStyleCnt="11">
        <dgm:presLayoutVars>
          <dgm:bulletEnabled val="1"/>
        </dgm:presLayoutVars>
      </dgm:prSet>
      <dgm:spPr/>
    </dgm:pt>
    <dgm:pt modelId="{34F9947F-42E7-BB40-95FE-5D94F5910260}" type="pres">
      <dgm:prSet presAssocID="{9C2FD10F-81E3-2447-8428-79CED8A8F12C}" presName="node" presStyleLbl="vennNode1" presStyleIdx="3" presStyleCnt="11">
        <dgm:presLayoutVars>
          <dgm:bulletEnabled val="1"/>
        </dgm:presLayoutVars>
      </dgm:prSet>
      <dgm:spPr/>
    </dgm:pt>
    <dgm:pt modelId="{FC4E137E-9BBD-EA45-85D4-26722506329E}" type="pres">
      <dgm:prSet presAssocID="{B8223AC7-F11A-6848-945A-418CE3311BA1}" presName="node" presStyleLbl="vennNode1" presStyleIdx="4" presStyleCnt="11">
        <dgm:presLayoutVars>
          <dgm:bulletEnabled val="1"/>
        </dgm:presLayoutVars>
      </dgm:prSet>
      <dgm:spPr/>
    </dgm:pt>
    <dgm:pt modelId="{D869C445-9394-4A46-9163-CE3F65D16186}" type="pres">
      <dgm:prSet presAssocID="{31577530-CA26-0947-BFAF-D1D1D3390773}" presName="node" presStyleLbl="vennNode1" presStyleIdx="5" presStyleCnt="11">
        <dgm:presLayoutVars>
          <dgm:bulletEnabled val="1"/>
        </dgm:presLayoutVars>
      </dgm:prSet>
      <dgm:spPr/>
    </dgm:pt>
    <dgm:pt modelId="{729AEBAE-09B8-9D4B-85D0-8A2FF039267A}" type="pres">
      <dgm:prSet presAssocID="{C51318FD-6394-7E40-A4D3-7047D3FF3F2C}" presName="node" presStyleLbl="vennNode1" presStyleIdx="6" presStyleCnt="11">
        <dgm:presLayoutVars>
          <dgm:bulletEnabled val="1"/>
        </dgm:presLayoutVars>
      </dgm:prSet>
      <dgm:spPr/>
    </dgm:pt>
    <dgm:pt modelId="{B93C56F4-6A4E-BC48-97CD-7A74FBB0A5C4}" type="pres">
      <dgm:prSet presAssocID="{71FD100F-7C94-924E-A59A-E3D5D0D4BF01}" presName="node" presStyleLbl="vennNode1" presStyleIdx="7" presStyleCnt="11">
        <dgm:presLayoutVars>
          <dgm:bulletEnabled val="1"/>
        </dgm:presLayoutVars>
      </dgm:prSet>
      <dgm:spPr/>
    </dgm:pt>
    <dgm:pt modelId="{F0287E2E-7F65-904D-B892-2DCDFE415A1E}" type="pres">
      <dgm:prSet presAssocID="{9184809D-6124-224B-96A2-95810D39AA6B}" presName="node" presStyleLbl="vennNode1" presStyleIdx="8" presStyleCnt="11">
        <dgm:presLayoutVars>
          <dgm:bulletEnabled val="1"/>
        </dgm:presLayoutVars>
      </dgm:prSet>
      <dgm:spPr/>
    </dgm:pt>
    <dgm:pt modelId="{FF033EFA-87BE-E74A-8CDF-E964BA114A5E}" type="pres">
      <dgm:prSet presAssocID="{C6FBBD5D-9781-2A42-A44E-E7B9D05FA9E4}" presName="node" presStyleLbl="vennNode1" presStyleIdx="9" presStyleCnt="11">
        <dgm:presLayoutVars>
          <dgm:bulletEnabled val="1"/>
        </dgm:presLayoutVars>
      </dgm:prSet>
      <dgm:spPr/>
    </dgm:pt>
    <dgm:pt modelId="{BE0A3D14-04BA-454D-AE99-2F7B90C871A2}" type="pres">
      <dgm:prSet presAssocID="{8952589B-3D98-2D4D-A8B3-5DB4460F41FF}" presName="node" presStyleLbl="vennNode1" presStyleIdx="10" presStyleCnt="11">
        <dgm:presLayoutVars>
          <dgm:bulletEnabled val="1"/>
        </dgm:presLayoutVars>
      </dgm:prSet>
      <dgm:spPr/>
    </dgm:pt>
  </dgm:ptLst>
  <dgm:cxnLst>
    <dgm:cxn modelId="{FA30BD0E-7ED4-6F4C-8C4D-12DF98D0C433}" srcId="{4F3D8457-B2F5-7645-85AD-B2D0B954DFEF}" destId="{8952589B-3D98-2D4D-A8B3-5DB4460F41FF}" srcOrd="9" destOrd="0" parTransId="{36D2D9E2-9885-7248-BF2F-FEC2785076E0}" sibTransId="{B87A990D-31BD-0D4A-BE24-1FCE8B2D8671}"/>
    <dgm:cxn modelId="{3BFA2D25-3F63-9044-AA48-D94928B6721C}" srcId="{4F3D8457-B2F5-7645-85AD-B2D0B954DFEF}" destId="{C51318FD-6394-7E40-A4D3-7047D3FF3F2C}" srcOrd="5" destOrd="0" parTransId="{7BE91D78-0E2F-F040-B285-E8AE00FB99AF}" sibTransId="{5DEBA929-0E83-A44C-8EE9-EB3FE3F50A24}"/>
    <dgm:cxn modelId="{CFB69031-AEBE-F34D-80C2-5B77C7FDDD95}" srcId="{4F3D8457-B2F5-7645-85AD-B2D0B954DFEF}" destId="{B8223AC7-F11A-6848-945A-418CE3311BA1}" srcOrd="3" destOrd="0" parTransId="{70E48DD1-831F-C548-8B82-C83394CD8018}" sibTransId="{1D4E3E99-5ACF-AE4B-95D8-B2DC11CEA4C6}"/>
    <dgm:cxn modelId="{33C99232-1887-234D-A201-B181592EBEAD}" srcId="{4F3D8457-B2F5-7645-85AD-B2D0B954DFEF}" destId="{9184809D-6124-224B-96A2-95810D39AA6B}" srcOrd="7" destOrd="0" parTransId="{14D02626-525B-7C4A-8FA9-6D2F80EDAA49}" sibTransId="{C62AA9BC-EB3E-8D4B-8963-26C60367ACA4}"/>
    <dgm:cxn modelId="{1322773C-0DBD-254C-9907-3CA90804EB57}" srcId="{4F3D8457-B2F5-7645-85AD-B2D0B954DFEF}" destId="{4B93F45C-60F6-2D4E-99EF-11C7B9012EAB}" srcOrd="1" destOrd="0" parTransId="{FB8D7821-AE24-584C-9754-005F23D99569}" sibTransId="{67EDE1FD-08A1-504C-94AC-3768DD348E58}"/>
    <dgm:cxn modelId="{B8AA9A4A-8B8F-674C-B16F-4AB9DF3A3011}" type="presOf" srcId="{4F3D8457-B2F5-7645-85AD-B2D0B954DFEF}" destId="{5C36A4BB-8A0E-CF48-8F03-EBFD13DF2367}" srcOrd="0" destOrd="0" presId="urn:microsoft.com/office/officeart/2005/8/layout/radial3"/>
    <dgm:cxn modelId="{ADCC084D-FC4A-7947-8125-6EC83AA09457}" type="presOf" srcId="{FCD1D48B-4CDA-644C-B611-B1EFC36B63E4}" destId="{43FA5161-55D8-D846-81C7-1171D472F3DA}" srcOrd="0" destOrd="0" presId="urn:microsoft.com/office/officeart/2005/8/layout/radial3"/>
    <dgm:cxn modelId="{3F2A1F52-EF95-564A-8457-087EA88AE0EC}" type="presOf" srcId="{9184809D-6124-224B-96A2-95810D39AA6B}" destId="{F0287E2E-7F65-904D-B892-2DCDFE415A1E}" srcOrd="0" destOrd="0" presId="urn:microsoft.com/office/officeart/2005/8/layout/radial3"/>
    <dgm:cxn modelId="{3D2E185C-35C6-B14A-A7E3-35A570AD020A}" srcId="{4F3D8457-B2F5-7645-85AD-B2D0B954DFEF}" destId="{71FD100F-7C94-924E-A59A-E3D5D0D4BF01}" srcOrd="6" destOrd="0" parTransId="{6E1AAD62-E9E8-DC47-84D4-1006F10D7E7B}" sibTransId="{A40D382F-8B07-724E-A84D-C28DF01248DA}"/>
    <dgm:cxn modelId="{A2B9B273-691A-8240-B722-A1F0F7614A35}" type="presOf" srcId="{F22C4248-E316-4C4B-BA51-A4C308660713}" destId="{5B871C98-AB9D-2549-8D2D-64761B212705}" srcOrd="0" destOrd="0" presId="urn:microsoft.com/office/officeart/2005/8/layout/radial3"/>
    <dgm:cxn modelId="{4AD49A86-1956-4549-84FA-3857E3CB9FD7}" type="presOf" srcId="{9C2FD10F-81E3-2447-8428-79CED8A8F12C}" destId="{34F9947F-42E7-BB40-95FE-5D94F5910260}" srcOrd="0" destOrd="0" presId="urn:microsoft.com/office/officeart/2005/8/layout/radial3"/>
    <dgm:cxn modelId="{02540898-43D7-384A-BA46-BA9DB577794A}" srcId="{F22C4248-E316-4C4B-BA51-A4C308660713}" destId="{4F3D8457-B2F5-7645-85AD-B2D0B954DFEF}" srcOrd="0" destOrd="0" parTransId="{B6CFD102-1C73-8242-97EC-940D6BE20702}" sibTransId="{C5B72022-BC50-9143-ADEF-52E94F6CCEB5}"/>
    <dgm:cxn modelId="{783D45B6-B5AF-614A-9D40-51C81D981FEF}" type="presOf" srcId="{C6FBBD5D-9781-2A42-A44E-E7B9D05FA9E4}" destId="{FF033EFA-87BE-E74A-8CDF-E964BA114A5E}" srcOrd="0" destOrd="0" presId="urn:microsoft.com/office/officeart/2005/8/layout/radial3"/>
    <dgm:cxn modelId="{3260E2C5-AB10-EF48-A4F8-F1E564070553}" type="presOf" srcId="{C51318FD-6394-7E40-A4D3-7047D3FF3F2C}" destId="{729AEBAE-09B8-9D4B-85D0-8A2FF039267A}" srcOrd="0" destOrd="0" presId="urn:microsoft.com/office/officeart/2005/8/layout/radial3"/>
    <dgm:cxn modelId="{0E13F2C8-CFF2-CE43-A248-8B87B2933BD9}" type="presOf" srcId="{71FD100F-7C94-924E-A59A-E3D5D0D4BF01}" destId="{B93C56F4-6A4E-BC48-97CD-7A74FBB0A5C4}" srcOrd="0" destOrd="0" presId="urn:microsoft.com/office/officeart/2005/8/layout/radial3"/>
    <dgm:cxn modelId="{3CBE9ECF-A09F-C844-9F9C-3FD8E962B7EE}" srcId="{4F3D8457-B2F5-7645-85AD-B2D0B954DFEF}" destId="{C6FBBD5D-9781-2A42-A44E-E7B9D05FA9E4}" srcOrd="8" destOrd="0" parTransId="{8132F954-EFB8-1547-9217-BB9417BEA0EE}" sibTransId="{AB2F78A1-DEC1-204D-BF7C-E09F4B753724}"/>
    <dgm:cxn modelId="{787CF9D0-C641-BC40-9233-21648F46B805}" type="presOf" srcId="{B8223AC7-F11A-6848-945A-418CE3311BA1}" destId="{FC4E137E-9BBD-EA45-85D4-26722506329E}" srcOrd="0" destOrd="0" presId="urn:microsoft.com/office/officeart/2005/8/layout/radial3"/>
    <dgm:cxn modelId="{F96D24DE-FE93-3643-BF9C-709E8F4B2111}" type="presOf" srcId="{8952589B-3D98-2D4D-A8B3-5DB4460F41FF}" destId="{BE0A3D14-04BA-454D-AE99-2F7B90C871A2}" srcOrd="0" destOrd="0" presId="urn:microsoft.com/office/officeart/2005/8/layout/radial3"/>
    <dgm:cxn modelId="{B20637E1-7287-C94B-811F-F76F514B453F}" srcId="{4F3D8457-B2F5-7645-85AD-B2D0B954DFEF}" destId="{31577530-CA26-0947-BFAF-D1D1D3390773}" srcOrd="4" destOrd="0" parTransId="{83A70BBA-58FE-054B-9C76-BB4FF2C586E9}" sibTransId="{3B3E788E-454D-A94A-B2C4-DDD8257E2292}"/>
    <dgm:cxn modelId="{9A633AE3-B4D4-1749-8E29-BEAFD9BA9D3A}" srcId="{4F3D8457-B2F5-7645-85AD-B2D0B954DFEF}" destId="{9C2FD10F-81E3-2447-8428-79CED8A8F12C}" srcOrd="2" destOrd="0" parTransId="{3949E9F4-D1B0-1C44-95BF-C4A9318FCD3B}" sibTransId="{F56E1E27-5F19-5E4C-B20F-D2926A51136A}"/>
    <dgm:cxn modelId="{BEB886EF-182A-5E4C-A860-0B57D495A3A2}" type="presOf" srcId="{4B93F45C-60F6-2D4E-99EF-11C7B9012EAB}" destId="{32022531-B507-B94C-BB45-D2B37BAC75CB}" srcOrd="0" destOrd="0" presId="urn:microsoft.com/office/officeart/2005/8/layout/radial3"/>
    <dgm:cxn modelId="{B43F35F2-7BD9-0045-890D-DBCC99126457}" type="presOf" srcId="{31577530-CA26-0947-BFAF-D1D1D3390773}" destId="{D869C445-9394-4A46-9163-CE3F65D16186}" srcOrd="0" destOrd="0" presId="urn:microsoft.com/office/officeart/2005/8/layout/radial3"/>
    <dgm:cxn modelId="{52DFDBFC-1328-7F4F-AE67-5B06BF20E6CA}" srcId="{4F3D8457-B2F5-7645-85AD-B2D0B954DFEF}" destId="{FCD1D48B-4CDA-644C-B611-B1EFC36B63E4}" srcOrd="0" destOrd="0" parTransId="{A87797F4-4CED-9844-B3A1-D617F5D50E6E}" sibTransId="{E6026A57-AFE8-8A41-9D83-4C67B6F606C5}"/>
    <dgm:cxn modelId="{24D39934-7C4A-8B4A-B6C2-F158DDC78E57}" type="presParOf" srcId="{5B871C98-AB9D-2549-8D2D-64761B212705}" destId="{C4EFDB1C-8290-2740-8A88-06F3F3602AA5}" srcOrd="0" destOrd="0" presId="urn:microsoft.com/office/officeart/2005/8/layout/radial3"/>
    <dgm:cxn modelId="{6759A002-F9B6-8F48-8E73-47B5B7DAE495}" type="presParOf" srcId="{C4EFDB1C-8290-2740-8A88-06F3F3602AA5}" destId="{5C36A4BB-8A0E-CF48-8F03-EBFD13DF2367}" srcOrd="0" destOrd="0" presId="urn:microsoft.com/office/officeart/2005/8/layout/radial3"/>
    <dgm:cxn modelId="{1CCD7F24-1334-8346-A662-4E6F26942DDE}" type="presParOf" srcId="{C4EFDB1C-8290-2740-8A88-06F3F3602AA5}" destId="{43FA5161-55D8-D846-81C7-1171D472F3DA}" srcOrd="1" destOrd="0" presId="urn:microsoft.com/office/officeart/2005/8/layout/radial3"/>
    <dgm:cxn modelId="{5BEA3C60-29FE-354E-84E2-68AA8D016205}" type="presParOf" srcId="{C4EFDB1C-8290-2740-8A88-06F3F3602AA5}" destId="{32022531-B507-B94C-BB45-D2B37BAC75CB}" srcOrd="2" destOrd="0" presId="urn:microsoft.com/office/officeart/2005/8/layout/radial3"/>
    <dgm:cxn modelId="{9A2513D4-7670-3A44-8CC4-F60463D877F8}" type="presParOf" srcId="{C4EFDB1C-8290-2740-8A88-06F3F3602AA5}" destId="{34F9947F-42E7-BB40-95FE-5D94F5910260}" srcOrd="3" destOrd="0" presId="urn:microsoft.com/office/officeart/2005/8/layout/radial3"/>
    <dgm:cxn modelId="{0B6E120D-1E37-FE40-B52D-45EE1EC009D2}" type="presParOf" srcId="{C4EFDB1C-8290-2740-8A88-06F3F3602AA5}" destId="{FC4E137E-9BBD-EA45-85D4-26722506329E}" srcOrd="4" destOrd="0" presId="urn:microsoft.com/office/officeart/2005/8/layout/radial3"/>
    <dgm:cxn modelId="{FF941119-A26D-1545-92C9-E772068F3DA0}" type="presParOf" srcId="{C4EFDB1C-8290-2740-8A88-06F3F3602AA5}" destId="{D869C445-9394-4A46-9163-CE3F65D16186}" srcOrd="5" destOrd="0" presId="urn:microsoft.com/office/officeart/2005/8/layout/radial3"/>
    <dgm:cxn modelId="{FA11A891-0921-0A44-B560-1ABFDA00F29A}" type="presParOf" srcId="{C4EFDB1C-8290-2740-8A88-06F3F3602AA5}" destId="{729AEBAE-09B8-9D4B-85D0-8A2FF039267A}" srcOrd="6" destOrd="0" presId="urn:microsoft.com/office/officeart/2005/8/layout/radial3"/>
    <dgm:cxn modelId="{AD1BCA97-5921-6549-96C5-89087A40B4D2}" type="presParOf" srcId="{C4EFDB1C-8290-2740-8A88-06F3F3602AA5}" destId="{B93C56F4-6A4E-BC48-97CD-7A74FBB0A5C4}" srcOrd="7" destOrd="0" presId="urn:microsoft.com/office/officeart/2005/8/layout/radial3"/>
    <dgm:cxn modelId="{BB8CF499-B735-4A4D-8CCF-F9AB98628F78}" type="presParOf" srcId="{C4EFDB1C-8290-2740-8A88-06F3F3602AA5}" destId="{F0287E2E-7F65-904D-B892-2DCDFE415A1E}" srcOrd="8" destOrd="0" presId="urn:microsoft.com/office/officeart/2005/8/layout/radial3"/>
    <dgm:cxn modelId="{9D3E489C-EB23-A340-B50D-8430F96068CC}" type="presParOf" srcId="{C4EFDB1C-8290-2740-8A88-06F3F3602AA5}" destId="{FF033EFA-87BE-E74A-8CDF-E964BA114A5E}" srcOrd="9" destOrd="0" presId="urn:microsoft.com/office/officeart/2005/8/layout/radial3"/>
    <dgm:cxn modelId="{73A5B26A-5AD8-CB45-A6C2-9C0A41AA9747}" type="presParOf" srcId="{C4EFDB1C-8290-2740-8A88-06F3F3602AA5}" destId="{BE0A3D14-04BA-454D-AE99-2F7B90C871A2}" srcOrd="10"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36A4BB-8A0E-CF48-8F03-EBFD13DF2367}">
      <dsp:nvSpPr>
        <dsp:cNvPr id="0" name=""/>
        <dsp:cNvSpPr/>
      </dsp:nvSpPr>
      <dsp:spPr>
        <a:xfrm>
          <a:off x="3807133" y="1527604"/>
          <a:ext cx="3756128" cy="3756128"/>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62230" tIns="62230" rIns="62230" bIns="62230" numCol="1" spcCol="1270" anchor="ctr" anchorCtr="0">
          <a:noAutofit/>
        </a:bodyPr>
        <a:lstStyle/>
        <a:p>
          <a:pPr marL="0" lvl="0" indent="0" algn="ctr" defTabSz="2178050">
            <a:lnSpc>
              <a:spcPct val="90000"/>
            </a:lnSpc>
            <a:spcBef>
              <a:spcPct val="0"/>
            </a:spcBef>
            <a:spcAft>
              <a:spcPct val="35000"/>
            </a:spcAft>
            <a:buNone/>
          </a:pPr>
          <a:r>
            <a:rPr lang="es-ES" sz="4900" kern="1200" dirty="0"/>
            <a:t>Software</a:t>
          </a:r>
        </a:p>
      </dsp:txBody>
      <dsp:txXfrm>
        <a:off x="4357205" y="2077676"/>
        <a:ext cx="2655984" cy="2655984"/>
      </dsp:txXfrm>
    </dsp:sp>
    <dsp:sp modelId="{43FA5161-55D8-D846-81C7-1171D472F3DA}">
      <dsp:nvSpPr>
        <dsp:cNvPr id="0" name=""/>
        <dsp:cNvSpPr/>
      </dsp:nvSpPr>
      <dsp:spPr>
        <a:xfrm>
          <a:off x="4766028" y="670"/>
          <a:ext cx="1878064" cy="187806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ES" sz="1100" kern="1200" dirty="0"/>
            <a:t>Programación en lenguaje máquina</a:t>
          </a:r>
        </a:p>
      </dsp:txBody>
      <dsp:txXfrm>
        <a:off x="5041064" y="275706"/>
        <a:ext cx="1327992" cy="1327992"/>
      </dsp:txXfrm>
    </dsp:sp>
    <dsp:sp modelId="{32022531-B507-B94C-BB45-D2B37BAC75CB}">
      <dsp:nvSpPr>
        <dsp:cNvPr id="0" name=""/>
        <dsp:cNvSpPr/>
      </dsp:nvSpPr>
      <dsp:spPr>
        <a:xfrm>
          <a:off x="6203811" y="467834"/>
          <a:ext cx="1878064" cy="187806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ES" sz="1100" kern="1200" dirty="0"/>
            <a:t>Ensambladores y macroprocesadores</a:t>
          </a:r>
        </a:p>
      </dsp:txBody>
      <dsp:txXfrm>
        <a:off x="6478847" y="742870"/>
        <a:ext cx="1327992" cy="1327992"/>
      </dsp:txXfrm>
    </dsp:sp>
    <dsp:sp modelId="{34F9947F-42E7-BB40-95FE-5D94F5910260}">
      <dsp:nvSpPr>
        <dsp:cNvPr id="0" name=""/>
        <dsp:cNvSpPr/>
      </dsp:nvSpPr>
      <dsp:spPr>
        <a:xfrm>
          <a:off x="7092410" y="1690886"/>
          <a:ext cx="1878064" cy="187806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ES" sz="1100" kern="1200" dirty="0"/>
            <a:t>Compiladores</a:t>
          </a:r>
        </a:p>
      </dsp:txBody>
      <dsp:txXfrm>
        <a:off x="7367446" y="1965922"/>
        <a:ext cx="1327992" cy="1327992"/>
      </dsp:txXfrm>
    </dsp:sp>
    <dsp:sp modelId="{FC4E137E-9BBD-EA45-85D4-26722506329E}">
      <dsp:nvSpPr>
        <dsp:cNvPr id="0" name=""/>
        <dsp:cNvSpPr/>
      </dsp:nvSpPr>
      <dsp:spPr>
        <a:xfrm>
          <a:off x="7092410" y="3202661"/>
          <a:ext cx="1878064" cy="187806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ES" sz="1100" kern="1200" dirty="0"/>
            <a:t>Sistemas de Control e/s</a:t>
          </a:r>
        </a:p>
      </dsp:txBody>
      <dsp:txXfrm>
        <a:off x="7367446" y="3477697"/>
        <a:ext cx="1327992" cy="1327992"/>
      </dsp:txXfrm>
    </dsp:sp>
    <dsp:sp modelId="{D869C445-9394-4A46-9163-CE3F65D16186}">
      <dsp:nvSpPr>
        <dsp:cNvPr id="0" name=""/>
        <dsp:cNvSpPr/>
      </dsp:nvSpPr>
      <dsp:spPr>
        <a:xfrm>
          <a:off x="6203811" y="4425713"/>
          <a:ext cx="1878064" cy="187806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ES" sz="1100" kern="1200" dirty="0"/>
            <a:t>Utilización del SPOOL</a:t>
          </a:r>
        </a:p>
      </dsp:txBody>
      <dsp:txXfrm>
        <a:off x="6478847" y="4700749"/>
        <a:ext cx="1327992" cy="1327992"/>
      </dsp:txXfrm>
    </dsp:sp>
    <dsp:sp modelId="{729AEBAE-09B8-9D4B-85D0-8A2FF039267A}">
      <dsp:nvSpPr>
        <dsp:cNvPr id="0" name=""/>
        <dsp:cNvSpPr/>
      </dsp:nvSpPr>
      <dsp:spPr>
        <a:xfrm>
          <a:off x="4766028" y="4892877"/>
          <a:ext cx="1878064" cy="187806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ES" sz="1100" kern="1200" dirty="0"/>
            <a:t>Leng. Orientado al procedimiento Vs el problema</a:t>
          </a:r>
        </a:p>
      </dsp:txBody>
      <dsp:txXfrm>
        <a:off x="5041064" y="5167913"/>
        <a:ext cx="1327992" cy="1327992"/>
      </dsp:txXfrm>
    </dsp:sp>
    <dsp:sp modelId="{B93C56F4-6A4E-BC48-97CD-7A74FBB0A5C4}">
      <dsp:nvSpPr>
        <dsp:cNvPr id="0" name=""/>
        <dsp:cNvSpPr/>
      </dsp:nvSpPr>
      <dsp:spPr>
        <a:xfrm>
          <a:off x="3328244" y="4425713"/>
          <a:ext cx="1878064" cy="187806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ES" sz="1100" kern="1200" dirty="0"/>
            <a:t>Compiladores rápidos y sucios Vs optimizadores</a:t>
          </a:r>
        </a:p>
      </dsp:txBody>
      <dsp:txXfrm>
        <a:off x="3603280" y="4700749"/>
        <a:ext cx="1327992" cy="1327992"/>
      </dsp:txXfrm>
    </dsp:sp>
    <dsp:sp modelId="{F0287E2E-7F65-904D-B892-2DCDFE415A1E}">
      <dsp:nvSpPr>
        <dsp:cNvPr id="0" name=""/>
        <dsp:cNvSpPr/>
      </dsp:nvSpPr>
      <dsp:spPr>
        <a:xfrm>
          <a:off x="2439645" y="3202661"/>
          <a:ext cx="1878064" cy="187806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ES" sz="1100" kern="1200" dirty="0"/>
            <a:t>Interpretadores</a:t>
          </a:r>
        </a:p>
      </dsp:txBody>
      <dsp:txXfrm>
        <a:off x="2714681" y="3477697"/>
        <a:ext cx="1327992" cy="1327992"/>
      </dsp:txXfrm>
    </dsp:sp>
    <dsp:sp modelId="{FF033EFA-87BE-E74A-8CDF-E964BA114A5E}">
      <dsp:nvSpPr>
        <dsp:cNvPr id="0" name=""/>
        <dsp:cNvSpPr/>
      </dsp:nvSpPr>
      <dsp:spPr>
        <a:xfrm>
          <a:off x="2439645" y="1690886"/>
          <a:ext cx="1878064" cy="187806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ES" sz="1100" kern="1200" dirty="0"/>
            <a:t>Cargadores absolutos y relocalización</a:t>
          </a:r>
        </a:p>
      </dsp:txBody>
      <dsp:txXfrm>
        <a:off x="2714681" y="1965922"/>
        <a:ext cx="1327992" cy="1327992"/>
      </dsp:txXfrm>
    </dsp:sp>
    <dsp:sp modelId="{BE0A3D14-04BA-454D-AE99-2F7B90C871A2}">
      <dsp:nvSpPr>
        <dsp:cNvPr id="0" name=""/>
        <dsp:cNvSpPr/>
      </dsp:nvSpPr>
      <dsp:spPr>
        <a:xfrm>
          <a:off x="3328244" y="467834"/>
          <a:ext cx="1878064" cy="187806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s-ES" sz="1100" kern="1200" dirty="0"/>
            <a:t>Cargadores de enlace y editores</a:t>
          </a:r>
        </a:p>
      </dsp:txBody>
      <dsp:txXfrm>
        <a:off x="3603280" y="742870"/>
        <a:ext cx="1327992" cy="1327992"/>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49F539-E68D-4881-BB84-BCC97ECBE8CB}" type="datetimeFigureOut">
              <a:rPr lang="es-MX" smtClean="0"/>
              <a:t>10/02/21</a:t>
            </a:fld>
            <a:endParaRPr lang="es-MX" dirty="0"/>
          </a:p>
        </p:txBody>
      </p:sp>
      <p:sp>
        <p:nvSpPr>
          <p:cNvPr id="4" name="Marcador de imagen de diapositiva 3"/>
          <p:cNvSpPr>
            <a:spLocks noGrp="1" noRot="1" noChangeAspect="1"/>
          </p:cNvSpPr>
          <p:nvPr>
            <p:ph type="sldImg" idx="2"/>
          </p:nvPr>
        </p:nvSpPr>
        <p:spPr>
          <a:xfrm>
            <a:off x="685800" y="1143001"/>
            <a:ext cx="5486400" cy="30861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dirty="0"/>
              <a:t>¿Qué  es el lenguaje maquina?</a:t>
            </a:r>
            <a:endParaRPr lang="es-ES" dirty="0"/>
          </a:p>
          <a:p>
            <a:pPr lvl="1"/>
            <a:r>
              <a:rPr lang="es-ES" dirty="0"/>
              <a:t>¿Para que se desarrollaron los macro procesadores?</a:t>
            </a:r>
          </a:p>
          <a:p>
            <a:pPr lvl="2"/>
            <a:r>
              <a:rPr lang="es-ES" dirty="0"/>
              <a:t>¿Para que sirven los compiladores?</a:t>
            </a:r>
          </a:p>
          <a:p>
            <a:pPr lvl="3"/>
            <a:r>
              <a:rPr lang="es-ES" dirty="0"/>
              <a:t>¿Qué es una variable de entrada ? </a:t>
            </a:r>
          </a:p>
          <a:p>
            <a:pPr lvl="3"/>
            <a:r>
              <a:rPr lang="es-ES" dirty="0"/>
              <a:t>	¿Que es una variable de salida?</a:t>
            </a:r>
          </a:p>
          <a:p>
            <a:pPr lvl="3"/>
            <a:r>
              <a:rPr lang="es-ES" dirty="0"/>
              <a:t>	           ¿Cuál era la utilización del Spool?</a:t>
            </a:r>
          </a:p>
          <a:p>
            <a:pPr lvl="3"/>
            <a:r>
              <a:rPr lang="es-ES" dirty="0"/>
              <a:t>	                      ¿Cuáles son las 3 funciones que generalmente hace el núcleo del sistema operativo?	</a:t>
            </a:r>
          </a:p>
          <a:p>
            <a:pPr lvl="3"/>
            <a:r>
              <a:rPr lang="es-ES" dirty="0"/>
              <a:t>		</a:t>
            </a:r>
          </a:p>
          <a:p>
            <a:pPr lvl="3"/>
            <a:endParaRPr lang="es-ES" dirty="0"/>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s-MX" dirty="0"/>
              <a:t>01/ Septiembre/2017</a:t>
            </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r>
              <a:rPr lang="es-MX" dirty="0"/>
              <a:t>1</a:t>
            </a:r>
          </a:p>
        </p:txBody>
      </p:sp>
    </p:spTree>
    <p:extLst>
      <p:ext uri="{BB962C8B-B14F-4D97-AF65-F5344CB8AC3E}">
        <p14:creationId xmlns:p14="http://schemas.microsoft.com/office/powerpoint/2010/main" val="2469598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baseline="0">
        <a:solidFill>
          <a:schemeClr val="tx1"/>
        </a:solidFill>
        <a:latin typeface="+mn-lt"/>
        <a:ea typeface="+mn-ea"/>
        <a:cs typeface="+mn-cs"/>
      </a:defRPr>
    </a:lvl1pPr>
    <a:lvl2pPr marL="457200" algn="l" defTabSz="914400" rtl="0" eaLnBrk="1" latinLnBrk="0" hangingPunct="1">
      <a:defRPr sz="1200" kern="1200" baseline="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baseline="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baseline="0" dirty="0">
                <a:solidFill>
                  <a:schemeClr val="tx1"/>
                </a:solidFill>
                <a:effectLst/>
                <a:latin typeface="+mn-lt"/>
                <a:ea typeface="+mn-ea"/>
                <a:cs typeface="+mn-cs"/>
              </a:rPr>
              <a:t>Consiste en los programas de instrucciones y datos que definen para el hardware los algoritmos necesarios para la resolución de problemas. Los aspectos más destacados en relación con los S. O. son los siguientes [7, Deitel]: </a:t>
            </a:r>
            <a:endParaRPr lang="es-MX" dirty="0"/>
          </a:p>
          <a:p>
            <a:endParaRPr lang="es-MX" dirty="0"/>
          </a:p>
        </p:txBody>
      </p:sp>
      <p:sp>
        <p:nvSpPr>
          <p:cNvPr id="4" name="Marcador de número de diapositiva 3"/>
          <p:cNvSpPr>
            <a:spLocks noGrp="1"/>
          </p:cNvSpPr>
          <p:nvPr>
            <p:ph type="sldNum" sz="quarter" idx="10"/>
          </p:nvPr>
        </p:nvSpPr>
        <p:spPr/>
        <p:txBody>
          <a:bodyPr/>
          <a:lstStyle/>
          <a:p>
            <a:fld id="{8F49B57E-4234-4239-BB5C-6C3220200B68}" type="slidenum">
              <a:rPr lang="es-MX" smtClean="0"/>
              <a:t>1</a:t>
            </a:fld>
            <a:endParaRPr lang="es-MX" dirty="0"/>
          </a:p>
        </p:txBody>
      </p:sp>
      <p:sp>
        <p:nvSpPr>
          <p:cNvPr id="5" name="Marcador de fecha 4"/>
          <p:cNvSpPr>
            <a:spLocks noGrp="1"/>
          </p:cNvSpPr>
          <p:nvPr>
            <p:ph type="dt" idx="11"/>
          </p:nvPr>
        </p:nvSpPr>
        <p:spPr/>
        <p:txBody>
          <a:bodyPr/>
          <a:lstStyle/>
          <a:p>
            <a:fld id="{A84E2927-F481-4A3C-A5EE-8C8F8CA4F7D2}" type="datetime1">
              <a:rPr lang="es-MX" smtClean="0"/>
              <a:t>10/02/21</a:t>
            </a:fld>
            <a:endParaRPr lang="es-MX" dirty="0"/>
          </a:p>
        </p:txBody>
      </p:sp>
    </p:spTree>
    <p:extLst>
      <p:ext uri="{BB962C8B-B14F-4D97-AF65-F5344CB8AC3E}">
        <p14:creationId xmlns:p14="http://schemas.microsoft.com/office/powerpoint/2010/main" val="4160819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r>
              <a:rPr lang="es-MX" sz="1200" b="1" dirty="0">
                <a:effectLst/>
                <a:latin typeface="TimesNewRomanPS"/>
              </a:rPr>
              <a:t>Programación en lenguaje de máquina: </a:t>
            </a:r>
            <a:endParaRPr lang="es-MX" dirty="0"/>
          </a:p>
          <a:p>
            <a:r>
              <a:rPr lang="es-MX" sz="1200" i="1" dirty="0">
                <a:effectLst/>
                <a:latin typeface="TimesNewRomanPS"/>
              </a:rPr>
              <a:t>“Lenguaje de máquina”: </a:t>
            </a:r>
            <a:endParaRPr lang="es-MX" dirty="0"/>
          </a:p>
          <a:p>
            <a:pPr>
              <a:buFont typeface="Arial" panose="020B0604020202020204" pitchFamily="34" charset="0"/>
              <a:buChar char="•"/>
            </a:pPr>
            <a:r>
              <a:rPr lang="es-MX" sz="1200" dirty="0">
                <a:effectLst/>
                <a:latin typeface="TimesNewRomanPSMT" panose="02020603050405020304" pitchFamily="18" charset="0"/>
              </a:rPr>
              <a:t>Lenguaje de programación que un computador puede comprender directamente.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Es </a:t>
            </a:r>
            <a:r>
              <a:rPr lang="es-MX" sz="1200" i="1" dirty="0">
                <a:effectLst/>
                <a:latin typeface="TimesNewRomanPS"/>
              </a:rPr>
              <a:t>“dependiente de la máquina”</a:t>
            </a:r>
            <a:r>
              <a:rPr lang="es-MX" sz="1200" dirty="0">
                <a:effectLst/>
                <a:latin typeface="TimesNewRomanPSMT" panose="02020603050405020304" pitchFamily="18" charset="0"/>
              </a:rPr>
              <a:t>: un programa en lenguaje de máquina escrito en el computador de un fabricante, generalmente no puede ser ejecutado en el de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otro, salvo que su lenguaje de máquina sea compatible.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Muy poco usado actualmente. </a:t>
            </a:r>
          </a:p>
          <a:p>
            <a:pPr>
              <a:buFont typeface="Arial" panose="020B0604020202020204" pitchFamily="34" charset="0"/>
              <a:buChar char="•"/>
            </a:pPr>
            <a:endParaRPr lang="es-MX" sz="1200" dirty="0">
              <a:effectLst/>
              <a:latin typeface="TimesNewRomanPSMT" panose="02020603050405020304" pitchFamily="18" charset="0"/>
            </a:endParaRPr>
          </a:p>
          <a:p>
            <a:pPr>
              <a:buFont typeface="Arial" panose="020B0604020202020204" pitchFamily="34" charset="0"/>
              <a:buNone/>
            </a:pPr>
            <a:r>
              <a:rPr lang="es-MX" sz="1000" dirty="0">
                <a:effectLst/>
                <a:latin typeface="SymbolMT"/>
              </a:rPr>
              <a:t>Lenguaje de máquina </a:t>
            </a:r>
          </a:p>
          <a:p>
            <a:pPr>
              <a:buFont typeface="Arial" panose="020B0604020202020204" pitchFamily="34" charset="0"/>
              <a:buNone/>
            </a:pPr>
            <a:r>
              <a:rPr lang="es-MX" sz="1000" dirty="0">
                <a:effectLst/>
                <a:latin typeface="SymbolMT"/>
              </a:rPr>
              <a:t>Cada tipo de CPU entiende su propio lenguaje de máquina. </a:t>
            </a:r>
          </a:p>
          <a:p>
            <a:pPr>
              <a:buFont typeface="Arial" panose="020B0604020202020204" pitchFamily="34" charset="0"/>
              <a:buNone/>
            </a:pPr>
            <a:r>
              <a:rPr lang="es-MX" sz="1000" dirty="0">
                <a:effectLst/>
                <a:latin typeface="SymbolMT"/>
              </a:rPr>
              <a:t>Las instrucciones en lenguaje de máquina son números almacenados como bytes en memoria. </a:t>
            </a:r>
          </a:p>
          <a:p>
            <a:pPr>
              <a:buFont typeface="Arial" panose="020B0604020202020204" pitchFamily="34" charset="0"/>
              <a:buNone/>
            </a:pPr>
            <a:r>
              <a:rPr lang="es-MX" sz="1000" dirty="0">
                <a:effectLst/>
                <a:latin typeface="SymbolMT"/>
              </a:rPr>
              <a:t>Cada instrucción tiene su propio y único código llamado código 5. </a:t>
            </a:r>
          </a:p>
          <a:p>
            <a:pPr>
              <a:buFont typeface="Arial" panose="020B0604020202020204" pitchFamily="34" charset="0"/>
              <a:buNone/>
            </a:pPr>
            <a:r>
              <a:rPr lang="es-MX" sz="1000" dirty="0">
                <a:effectLst/>
                <a:latin typeface="SymbolMT"/>
              </a:rPr>
              <a:t>Sin embargo, ellas pueden usar una interfaz de bajo nivel (a nivel del kernel). </a:t>
            </a:r>
          </a:p>
          <a:p>
            <a:pPr>
              <a:buFont typeface="Arial" panose="020B0604020202020204" pitchFamily="34" charset="0"/>
              <a:buNone/>
            </a:pPr>
            <a:r>
              <a:rPr lang="es-MX" sz="1000" dirty="0">
                <a:effectLst/>
                <a:latin typeface="SymbolMT"/>
              </a:rPr>
              <a:t>Las instrucciones del procesador 80x86 varían en tamaño. </a:t>
            </a:r>
          </a:p>
          <a:p>
            <a:pPr>
              <a:buFont typeface="Arial" panose="020B0604020202020204" pitchFamily="34" charset="0"/>
              <a:buNone/>
            </a:pPr>
            <a:r>
              <a:rPr lang="es-MX" sz="1000" dirty="0">
                <a:effectLst/>
                <a:latin typeface="SymbolMT"/>
              </a:rPr>
              <a:t>El opcode (operation code o código de operación) está siempre al inicio de la instrucción. </a:t>
            </a:r>
          </a:p>
          <a:p>
            <a:pPr>
              <a:buFont typeface="Arial" panose="020B0604020202020204" pitchFamily="34" charset="0"/>
              <a:buNone/>
            </a:pPr>
            <a:r>
              <a:rPr lang="es-MX" sz="1000" dirty="0">
                <a:effectLst/>
                <a:latin typeface="SymbolMT"/>
              </a:rPr>
              <a:t>Muchas instrucciones incluyen también datos (vgr. constantes o direcciones) usados por las instrucciones. </a:t>
            </a:r>
          </a:p>
          <a:p>
            <a:pPr>
              <a:buFont typeface="Arial" panose="020B0604020202020204" pitchFamily="34" charset="0"/>
              <a:buNone/>
            </a:pPr>
            <a:r>
              <a:rPr lang="es-MX" sz="1000" dirty="0">
                <a:effectLst/>
                <a:latin typeface="SymbolMT"/>
              </a:rPr>
              <a:t>El lenguaje de máquina es muy difícil de programar directamente. </a:t>
            </a:r>
          </a:p>
          <a:p>
            <a:pPr>
              <a:buFont typeface="Arial" panose="020B0604020202020204" pitchFamily="34" charset="0"/>
              <a:buNone/>
            </a:pPr>
            <a:r>
              <a:rPr lang="es-MX" sz="1000" dirty="0">
                <a:effectLst/>
                <a:latin typeface="SymbolMT"/>
              </a:rPr>
              <a:t>Descifrar el significado de las instrucciones codificadas numéricamente es tedioso para los humanos. </a:t>
            </a:r>
          </a:p>
          <a:p>
            <a:pPr>
              <a:buFont typeface="Arial" panose="020B0604020202020204" pitchFamily="34" charset="0"/>
              <a:buNone/>
            </a:pPr>
            <a:r>
              <a:rPr lang="es-MX" sz="1000" dirty="0">
                <a:effectLst/>
                <a:latin typeface="SymbolMT"/>
              </a:rPr>
              <a:t>Por ejemplo, la instrucción que suma los registros EAX y EBX y almacena el resultado en EAX esta codificada por los siguientes códigos hexadecimales 03 C3 </a:t>
            </a:r>
          </a:p>
          <a:p>
            <a:pPr>
              <a:buFont typeface="Arial" panose="020B0604020202020204" pitchFamily="34" charset="0"/>
              <a:buNone/>
            </a:pPr>
            <a:r>
              <a:rPr lang="es-MX" sz="1000" dirty="0">
                <a:effectLst/>
                <a:latin typeface="SymbolMT"/>
              </a:rPr>
              <a:t>Esto no es obvio. Afortunadamente, un programa llamado ensamblador puede hacer este aburrido trabajo para el programador.</a:t>
            </a:r>
          </a:p>
          <a:p>
            <a:endParaRPr lang="es-MX" dirty="0"/>
          </a:p>
        </p:txBody>
      </p:sp>
      <p:sp>
        <p:nvSpPr>
          <p:cNvPr id="4" name="Marcador de número de diapositiva 3"/>
          <p:cNvSpPr>
            <a:spLocks noGrp="1"/>
          </p:cNvSpPr>
          <p:nvPr>
            <p:ph type="sldNum" sz="quarter" idx="10"/>
          </p:nvPr>
        </p:nvSpPr>
        <p:spPr/>
        <p:txBody>
          <a:bodyPr/>
          <a:lstStyle/>
          <a:p>
            <a:fld id="{A560BA6B-0B7C-462E-A5A6-4FF6625D24BE}" type="slidenum">
              <a:rPr lang="es-MX" smtClean="0"/>
              <a:t>2</a:t>
            </a:fld>
            <a:endParaRPr lang="es-MX" dirty="0"/>
          </a:p>
        </p:txBody>
      </p:sp>
    </p:spTree>
    <p:extLst>
      <p:ext uri="{BB962C8B-B14F-4D97-AF65-F5344CB8AC3E}">
        <p14:creationId xmlns:p14="http://schemas.microsoft.com/office/powerpoint/2010/main" val="684684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pPr>
              <a:buFont typeface="+mj-lt"/>
              <a:buNone/>
            </a:pPr>
            <a:r>
              <a:rPr lang="es-MX" sz="1200" dirty="0">
                <a:effectLst/>
                <a:latin typeface="TimesNewRomanPSMT" panose="02020603050405020304" pitchFamily="18" charset="0"/>
              </a:rPr>
              <a:t>Los </a:t>
            </a:r>
            <a:r>
              <a:rPr lang="es-MX" sz="1200" i="1" dirty="0">
                <a:effectLst/>
                <a:latin typeface="TimesNewRomanPS"/>
              </a:rPr>
              <a:t>“lenguajes ensambladores” </a:t>
            </a:r>
            <a:r>
              <a:rPr lang="es-MX" sz="1200" dirty="0">
                <a:effectLst/>
                <a:latin typeface="TimesNewRomanPSMT" panose="02020603050405020304" pitchFamily="18" charset="0"/>
              </a:rPr>
              <a:t>se desarrollaron para: </a:t>
            </a:r>
            <a:endParaRPr lang="es-MX" dirty="0">
              <a:effectLst/>
            </a:endParaRPr>
          </a:p>
          <a:p>
            <a:pPr marL="742950" lvl="1" indent="-285750">
              <a:buFont typeface="Arial" panose="020B0604020202020204" pitchFamily="34" charset="0"/>
              <a:buChar char="•"/>
            </a:pPr>
            <a:r>
              <a:rPr lang="es-MX" sz="1200" dirty="0">
                <a:effectLst/>
                <a:latin typeface="TimesNewRomanPSMT" panose="02020603050405020304" pitchFamily="18" charset="0"/>
              </a:rPr>
              <a:t>Incrementar la velocidad de programación . </a:t>
            </a:r>
            <a:endParaRPr lang="es-MX" sz="1000" dirty="0">
              <a:effectLst/>
              <a:latin typeface="SymbolMT"/>
            </a:endParaRPr>
          </a:p>
          <a:p>
            <a:pPr marL="742950" lvl="1" indent="-285750">
              <a:buFont typeface="Arial" panose="020B0604020202020204" pitchFamily="34" charset="0"/>
              <a:buChar char="•"/>
            </a:pPr>
            <a:r>
              <a:rPr lang="es-MX" sz="1200" dirty="0">
                <a:effectLst/>
                <a:latin typeface="TimesNewRomanPSMT" panose="02020603050405020304" pitchFamily="18" charset="0"/>
              </a:rPr>
              <a:t>Reducir los errores de codificación.</a:t>
            </a:r>
            <a:br>
              <a:rPr lang="es-MX" sz="1200" dirty="0">
                <a:effectLst/>
                <a:latin typeface="TimesNewRomanPSMT" panose="02020603050405020304" pitchFamily="18" charset="0"/>
              </a:rPr>
            </a:br>
            <a:r>
              <a:rPr lang="es-MX" sz="1200" dirty="0">
                <a:effectLst/>
                <a:latin typeface="TimesNewRomanPSMT" panose="02020603050405020304" pitchFamily="18" charset="0"/>
              </a:rPr>
              <a:t>Los programas deben ser traducidos al </a:t>
            </a:r>
            <a:r>
              <a:rPr lang="es-MX" sz="1200" i="1" dirty="0">
                <a:effectLst/>
                <a:latin typeface="TimesNewRomanPS"/>
              </a:rPr>
              <a:t>“lenguaje de máquina” </a:t>
            </a:r>
            <a:r>
              <a:rPr lang="es-MX" sz="1200" dirty="0">
                <a:effectLst/>
                <a:latin typeface="TimesNewRomanPSMT" panose="02020603050405020304" pitchFamily="18" charset="0"/>
              </a:rPr>
              <a:t>mediante un programa </a:t>
            </a:r>
            <a:r>
              <a:rPr lang="es-MX" sz="1200" i="1" dirty="0">
                <a:effectLst/>
                <a:latin typeface="TimesNewRomanPS"/>
              </a:rPr>
              <a:t>“ensamblador”: </a:t>
            </a:r>
            <a:endParaRPr lang="es-MX" sz="1000" dirty="0">
              <a:effectLst/>
              <a:latin typeface="SymbolMT"/>
            </a:endParaRPr>
          </a:p>
          <a:p>
            <a:pPr lvl="2"/>
            <a:r>
              <a:rPr lang="es-MX" sz="1000" dirty="0">
                <a:effectLst/>
                <a:latin typeface="SymbolMT"/>
              </a:rPr>
              <a:t>• </a:t>
            </a:r>
            <a:r>
              <a:rPr lang="es-MX" sz="1200" dirty="0">
                <a:effectLst/>
                <a:latin typeface="TimesNewRomanPSMT" panose="02020603050405020304" pitchFamily="18" charset="0"/>
              </a:rPr>
              <a:t>También es dependiente de la máquina. </a:t>
            </a:r>
            <a:endParaRPr lang="es-MX" dirty="0">
              <a:effectLst/>
            </a:endParaRPr>
          </a:p>
          <a:p>
            <a:endParaRPr lang="es-MX" sz="1200" dirty="0">
              <a:effectLst/>
              <a:latin typeface="TimesNewRomanPSMT" panose="02020603050405020304" pitchFamily="18" charset="0"/>
            </a:endParaRPr>
          </a:p>
          <a:p>
            <a:r>
              <a:rPr lang="es-MX" sz="1200" dirty="0">
                <a:effectLst/>
                <a:latin typeface="TimesNewRomanPSMT" panose="02020603050405020304" pitchFamily="18" charset="0"/>
              </a:rPr>
              <a:t>Los </a:t>
            </a:r>
            <a:r>
              <a:rPr lang="es-MX" sz="1200" i="1" dirty="0">
                <a:effectLst/>
                <a:latin typeface="TimesNewRomanPS"/>
              </a:rPr>
              <a:t>“macroprocesadores”: </a:t>
            </a:r>
            <a:endParaRPr lang="es-MX" dirty="0">
              <a:effectLst/>
            </a:endParaRPr>
          </a:p>
          <a:p>
            <a:pPr marL="742950" lvl="1" indent="-285750">
              <a:buFont typeface="Arial" panose="020B0604020202020204" pitchFamily="34" charset="0"/>
              <a:buChar char="•"/>
            </a:pPr>
            <a:r>
              <a:rPr lang="es-MX" sz="1200" dirty="0">
                <a:effectLst/>
                <a:latin typeface="TimesNewRomanPSMT" panose="02020603050405020304" pitchFamily="18" charset="0"/>
              </a:rPr>
              <a:t>Se desarrollaron para acelerar la codificación de un programa ensamblador. </a:t>
            </a:r>
            <a:endParaRPr lang="es-MX" sz="1000" dirty="0">
              <a:effectLst/>
              <a:latin typeface="SymbolMT"/>
            </a:endParaRPr>
          </a:p>
          <a:p>
            <a:pPr marL="742950" lvl="1" indent="-285750">
              <a:buFont typeface="Arial" panose="020B0604020202020204" pitchFamily="34" charset="0"/>
              <a:buChar char="•"/>
            </a:pPr>
            <a:r>
              <a:rPr lang="es-MX" sz="1200" dirty="0">
                <a:effectLst/>
                <a:latin typeface="TimesNewRomanPSMT" panose="02020603050405020304" pitchFamily="18" charset="0"/>
              </a:rPr>
              <a:t>Se incorporaron en los ensambladores. </a:t>
            </a:r>
            <a:endParaRPr lang="es-MX" sz="1000" dirty="0">
              <a:effectLst/>
              <a:latin typeface="SymbolMT"/>
            </a:endParaRPr>
          </a:p>
          <a:p>
            <a:pPr marL="742950" lvl="1" indent="-285750">
              <a:buFont typeface="Arial" panose="020B0604020202020204" pitchFamily="34" charset="0"/>
              <a:buChar char="•"/>
            </a:pPr>
            <a:r>
              <a:rPr lang="es-MX" sz="1200" dirty="0">
                <a:effectLst/>
                <a:latin typeface="TimesNewRomanPSMT" panose="02020603050405020304" pitchFamily="18" charset="0"/>
              </a:rPr>
              <a:t>Una </a:t>
            </a:r>
            <a:r>
              <a:rPr lang="es-MX" sz="1200" i="1" dirty="0">
                <a:effectLst/>
                <a:latin typeface="TimesNewRomanPS"/>
              </a:rPr>
              <a:t>“macroinstrucción” </a:t>
            </a:r>
            <a:r>
              <a:rPr lang="es-MX" sz="1200" dirty="0">
                <a:effectLst/>
                <a:latin typeface="TimesNewRomanPSMT" panose="02020603050405020304" pitchFamily="18" charset="0"/>
              </a:rPr>
              <a:t>indica la ejecución de varias instrucciones en lenguaje </a:t>
            </a:r>
            <a:endParaRPr lang="es-MX" sz="1000" dirty="0">
              <a:effectLst/>
              <a:latin typeface="SymbolMT"/>
            </a:endParaRPr>
          </a:p>
          <a:p>
            <a:pPr marL="742950" lvl="1" indent="-285750">
              <a:buFont typeface="Arial" panose="020B0604020202020204" pitchFamily="34" charset="0"/>
              <a:buChar char="•"/>
            </a:pPr>
            <a:r>
              <a:rPr lang="es-MX" sz="1200" dirty="0">
                <a:effectLst/>
                <a:latin typeface="TimesNewRomanPSMT" panose="02020603050405020304" pitchFamily="18" charset="0"/>
              </a:rPr>
              <a:t>ensamblador. </a:t>
            </a:r>
            <a:endParaRPr lang="es-MX" sz="1000" dirty="0">
              <a:effectLst/>
              <a:latin typeface="SymbolMT"/>
            </a:endParaRPr>
          </a:p>
          <a:p>
            <a:pPr marL="742950" lvl="1" indent="-285750">
              <a:buFont typeface="Arial" panose="020B0604020202020204" pitchFamily="34" charset="0"/>
              <a:buChar char="•"/>
            </a:pPr>
            <a:r>
              <a:rPr lang="es-MX" sz="1200" dirty="0">
                <a:effectLst/>
                <a:latin typeface="TimesNewRomanPSMT" panose="02020603050405020304" pitchFamily="18" charset="0"/>
              </a:rPr>
              <a:t>El </a:t>
            </a:r>
            <a:r>
              <a:rPr lang="es-MX" sz="1200" i="1" dirty="0">
                <a:effectLst/>
                <a:latin typeface="TimesNewRomanPS"/>
              </a:rPr>
              <a:t>“procesador de macroinstrucciones” </a:t>
            </a:r>
            <a:r>
              <a:rPr lang="es-MX" sz="1200" dirty="0">
                <a:effectLst/>
                <a:latin typeface="TimesNewRomanPSMT" panose="02020603050405020304" pitchFamily="18" charset="0"/>
              </a:rPr>
              <a:t>efectúa una </a:t>
            </a:r>
            <a:r>
              <a:rPr lang="es-MX" sz="1200" i="1" dirty="0">
                <a:effectLst/>
                <a:latin typeface="TimesNewRomanPS"/>
              </a:rPr>
              <a:t>“macroexpansión” </a:t>
            </a:r>
            <a:r>
              <a:rPr lang="es-MX" sz="1200" dirty="0">
                <a:effectLst/>
                <a:latin typeface="TimesNewRomanPSMT" panose="02020603050405020304" pitchFamily="18" charset="0"/>
              </a:rPr>
              <a:t>cuando </a:t>
            </a:r>
            <a:endParaRPr lang="es-MX" sz="1000" dirty="0">
              <a:effectLst/>
              <a:latin typeface="SymbolMT"/>
            </a:endParaRPr>
          </a:p>
          <a:p>
            <a:pPr marL="742950" lvl="1" indent="-285750">
              <a:buFont typeface="Arial" panose="020B0604020202020204" pitchFamily="34" charset="0"/>
              <a:buChar char="•"/>
            </a:pPr>
            <a:r>
              <a:rPr lang="es-MX" sz="1200" dirty="0">
                <a:effectLst/>
                <a:latin typeface="TimesNewRomanPSMT" panose="02020603050405020304" pitchFamily="18" charset="0"/>
              </a:rPr>
              <a:t>lee una macro durante la traducción de un programa: </a:t>
            </a:r>
            <a:endParaRPr lang="es-MX" sz="1000" dirty="0">
              <a:effectLst/>
              <a:latin typeface="SymbolMT"/>
            </a:endParaRPr>
          </a:p>
          <a:p>
            <a:r>
              <a:rPr lang="es-MX" sz="1000" dirty="0">
                <a:effectLst/>
                <a:latin typeface="CourierNewPSMT" panose="02070309020205020404" pitchFamily="49" charset="0"/>
              </a:rPr>
              <a:t>                  o </a:t>
            </a:r>
            <a:r>
              <a:rPr lang="es-MX" sz="1200" dirty="0">
                <a:effectLst/>
                <a:latin typeface="TimesNewRomanPSMT" panose="02020603050405020304" pitchFamily="18" charset="0"/>
              </a:rPr>
              <a:t>Genera una serie de instrucciones en lenguaje ensamblador correspondientes a la macro. </a:t>
            </a:r>
            <a:endParaRPr lang="es-MX" dirty="0">
              <a:effectLst/>
            </a:endParaRPr>
          </a:p>
          <a:p>
            <a:endParaRPr lang="es-MX" dirty="0"/>
          </a:p>
          <a:p>
            <a:r>
              <a:rPr lang="es-MX" dirty="0"/>
              <a:t>Son los pioneros de los compiladores, ya que en los albores de la informática, los programas se escribían directamente en código máquina, y el primer paso hacia los lenguajes de alto nivel lo constituyen los ensambladores. En lenguaje ensamblador se establece una relación biunívoca entre cada instrucción y una palabra mnemotécnica, de manera que el usuario escribe los programas haciendo uso de los mnemotécnicos, y el ensamblador se encarga de traducirlo a código máquina puro. De esta manera, los ensambladores suelen producir directamente código ejecutable en lugar de producir ficheros objeto. </a:t>
            </a:r>
          </a:p>
          <a:p>
            <a:endParaRPr lang="es-MX" dirty="0"/>
          </a:p>
          <a:p>
            <a:r>
              <a:rPr lang="es-MX" dirty="0"/>
              <a:t>Un ensamblador es un compilador sencillo, en el que el lenguaje fuente tiene una estructura tan sencilla que permite la traducción de cada sentencia fuente a una única instrucción en código máquina. Al lenguaje que admite este compilador también se le llama lenguaje ensamblador. </a:t>
            </a:r>
          </a:p>
          <a:p>
            <a:endParaRPr lang="es-MX" dirty="0"/>
          </a:p>
          <a:p>
            <a:r>
              <a:rPr lang="es-MX" dirty="0"/>
              <a:t>En definitiva, existe una correspondencia uno a uno entre las instrucciones ensamblador y las instrucciones máquina. Ej: Instrucción ensamblador: LD HL, #0100 Código máquina generado: 65h.00h.01h Por otro lado, existen ensambladores avanzados que permiten definir macroinstrucciones que se pueden traducir a varias instrucciones máquina. A estos programas se les llama macroensambladores, y suponen el siguiente paso hacia los lenguajes de alto nivel. Desde un punto de vista formal, un  macroensamblador puede entenderse como un ensamblador con un preprocesador previo.</a:t>
            </a:r>
          </a:p>
          <a:p>
            <a:r>
              <a:rPr lang="es-MX" dirty="0"/>
              <a:t>Los “macro procesadores”: se desarrollaron para acelerar la codificación de un programa ensamblador. Se incorporaron en los ensambladores. Una “macroinstrucción” indica la ejecución de varias instrucciones en lenguaje ensamblador. El “procesador de macroinstrucciones” efectúa una “macro expansión” cuando lee una macro durante la traducción de un programa.</a:t>
            </a:r>
          </a:p>
          <a:p>
            <a:endParaRPr lang="es-MX" dirty="0"/>
          </a:p>
        </p:txBody>
      </p:sp>
      <p:sp>
        <p:nvSpPr>
          <p:cNvPr id="4" name="Marcador de número de diapositiva 3"/>
          <p:cNvSpPr>
            <a:spLocks noGrp="1"/>
          </p:cNvSpPr>
          <p:nvPr>
            <p:ph type="sldNum" sz="quarter" idx="10"/>
          </p:nvPr>
        </p:nvSpPr>
        <p:spPr/>
        <p:txBody>
          <a:bodyPr/>
          <a:lstStyle/>
          <a:p>
            <a:fld id="{A560BA6B-0B7C-462E-A5A6-4FF6625D24BE}" type="slidenum">
              <a:rPr lang="es-MX" smtClean="0"/>
              <a:t>3</a:t>
            </a:fld>
            <a:endParaRPr lang="es-MX" dirty="0"/>
          </a:p>
        </p:txBody>
      </p:sp>
    </p:spTree>
    <p:extLst>
      <p:ext uri="{BB962C8B-B14F-4D97-AF65-F5344CB8AC3E}">
        <p14:creationId xmlns:p14="http://schemas.microsoft.com/office/powerpoint/2010/main" val="2192849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pPr>
              <a:buFont typeface="Arial" panose="020B0604020202020204" pitchFamily="34" charset="0"/>
              <a:buChar char="•"/>
            </a:pPr>
            <a:r>
              <a:rPr lang="es-MX" sz="1200" i="1" dirty="0">
                <a:effectLst/>
                <a:latin typeface="TimesNewRomanPS"/>
              </a:rPr>
              <a:t>“Lenguajes de alto nivel ”: </a:t>
            </a:r>
            <a:r>
              <a:rPr lang="es-MX" sz="1200" dirty="0">
                <a:effectLst/>
                <a:latin typeface="TimesNewRomanPSMT" panose="02020603050405020304" pitchFamily="18" charset="0"/>
              </a:rPr>
              <a:t>se desarrollaron para resolver el problema de la dependencia respecto a la máquina.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Permiten el desarrollo de programas </a:t>
            </a:r>
            <a:r>
              <a:rPr lang="es-MX" sz="1200" i="1" dirty="0">
                <a:effectLst/>
                <a:latin typeface="TimesNewRomanPS"/>
              </a:rPr>
              <a:t>“independientes de la máquina”.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Se logra mayor velocidad de programación, programas transportables entre sistemas diferentes y menores requerimientos de conocimientos de hardware. </a:t>
            </a:r>
            <a:endParaRPr lang="es-MX" sz="1000" dirty="0">
              <a:effectLst/>
              <a:latin typeface="SymbolMT"/>
            </a:endParaRPr>
          </a:p>
          <a:p>
            <a:pPr>
              <a:buFont typeface="Arial" panose="020B0604020202020204" pitchFamily="34" charset="0"/>
              <a:buChar char="•"/>
            </a:pPr>
            <a:r>
              <a:rPr lang="es-MX" sz="1200" i="1" dirty="0">
                <a:effectLst/>
                <a:latin typeface="TimesNewRomanPS"/>
              </a:rPr>
              <a:t>“Compiladores”</a:t>
            </a:r>
            <a:r>
              <a:rPr lang="es-MX" sz="1200" dirty="0">
                <a:effectLst/>
                <a:latin typeface="TimesNewRomanPSMT" panose="02020603050405020304" pitchFamily="18" charset="0"/>
              </a:rPr>
              <a:t>: traducen los lenguajes de alto nivel al lenguaje de máquina. </a:t>
            </a:r>
            <a:endParaRPr lang="es-MX" sz="1000" dirty="0">
              <a:effectLst/>
              <a:latin typeface="SymbolMT"/>
            </a:endParaRPr>
          </a:p>
          <a:p>
            <a:pPr>
              <a:buFont typeface="Arial" panose="020B0604020202020204" pitchFamily="34" charset="0"/>
              <a:buChar char="•"/>
            </a:pPr>
            <a:r>
              <a:rPr lang="es-MX" sz="1200" i="1" dirty="0">
                <a:effectLst/>
                <a:latin typeface="TimesNewRomanPS"/>
              </a:rPr>
              <a:t>“Traductores”</a:t>
            </a:r>
            <a:r>
              <a:rPr lang="es-MX" sz="1200" dirty="0">
                <a:effectLst/>
                <a:latin typeface="TimesNewRomanPSMT" panose="02020603050405020304" pitchFamily="18" charset="0"/>
              </a:rPr>
              <a:t>: es la denominación para </a:t>
            </a:r>
            <a:r>
              <a:rPr lang="es-MX" sz="1200" i="1" dirty="0">
                <a:effectLst/>
                <a:latin typeface="TimesNewRomanPS"/>
              </a:rPr>
              <a:t>“compiladores” </a:t>
            </a:r>
            <a:r>
              <a:rPr lang="es-MX" sz="1200" dirty="0">
                <a:effectLst/>
                <a:latin typeface="TimesNewRomanPSMT" panose="02020603050405020304" pitchFamily="18" charset="0"/>
              </a:rPr>
              <a:t>y </a:t>
            </a:r>
            <a:r>
              <a:rPr lang="es-MX" sz="1200" i="1" dirty="0">
                <a:effectLst/>
                <a:latin typeface="TimesNewRomanPS"/>
              </a:rPr>
              <a:t>“ensambladores”. </a:t>
            </a:r>
            <a:endParaRPr lang="es-MX" sz="1000" dirty="0">
              <a:effectLst/>
              <a:latin typeface="SymbolMT"/>
            </a:endParaRPr>
          </a:p>
          <a:p>
            <a:pPr lvl="1"/>
            <a:r>
              <a:rPr lang="es-MX" sz="1000" dirty="0">
                <a:effectLst/>
                <a:latin typeface="CourierNewPSMT" panose="02070309020205020404" pitchFamily="49" charset="0"/>
              </a:rPr>
              <a:t>o </a:t>
            </a:r>
            <a:r>
              <a:rPr lang="es-MX" sz="1200" dirty="0">
                <a:effectLst/>
                <a:latin typeface="TimesNewRomanPSMT" panose="02020603050405020304" pitchFamily="18" charset="0"/>
              </a:rPr>
              <a:t>Entrada: </a:t>
            </a:r>
            <a:r>
              <a:rPr lang="es-MX" sz="1200" i="1" dirty="0">
                <a:effectLst/>
                <a:latin typeface="TimesNewRomanPS"/>
              </a:rPr>
              <a:t>“programa fuente” </a:t>
            </a:r>
            <a:r>
              <a:rPr lang="es-MX" sz="1200" dirty="0">
                <a:effectLst/>
                <a:latin typeface="TimesNewRomanPSMT" panose="02020603050405020304" pitchFamily="18" charset="0"/>
              </a:rPr>
              <a:t>del programador.</a:t>
            </a:r>
            <a:br>
              <a:rPr lang="es-MX" sz="1200" dirty="0">
                <a:effectLst/>
                <a:latin typeface="TimesNewRomanPSMT" panose="02020603050405020304" pitchFamily="18" charset="0"/>
              </a:rPr>
            </a:br>
            <a:r>
              <a:rPr lang="es-MX" sz="1000" dirty="0">
                <a:effectLst/>
                <a:latin typeface="CourierNewPSMT" panose="02070309020205020404" pitchFamily="49" charset="0"/>
              </a:rPr>
              <a:t>o </a:t>
            </a:r>
            <a:r>
              <a:rPr lang="es-MX" sz="1200" dirty="0">
                <a:effectLst/>
                <a:latin typeface="TimesNewRomanPSMT" panose="02020603050405020304" pitchFamily="18" charset="0"/>
              </a:rPr>
              <a:t>Salida: </a:t>
            </a:r>
            <a:r>
              <a:rPr lang="es-MX" sz="1200" i="1" dirty="0">
                <a:effectLst/>
                <a:latin typeface="TimesNewRomanPS"/>
              </a:rPr>
              <a:t>“programa objeto” </a:t>
            </a:r>
            <a:r>
              <a:rPr lang="es-MX" sz="1200" dirty="0">
                <a:effectLst/>
                <a:latin typeface="TimesNewRomanPSMT" panose="02020603050405020304" pitchFamily="18" charset="0"/>
              </a:rPr>
              <a:t>o </a:t>
            </a:r>
            <a:r>
              <a:rPr lang="es-MX" sz="1200" i="1" dirty="0">
                <a:effectLst/>
                <a:latin typeface="TimesNewRomanPS"/>
              </a:rPr>
              <a:t>“programa resultante”. </a:t>
            </a:r>
            <a:endParaRPr lang="es-MX" dirty="0"/>
          </a:p>
          <a:p>
            <a:endParaRPr lang="es-MX" dirty="0"/>
          </a:p>
          <a:p>
            <a:r>
              <a:rPr lang="es-MX" dirty="0"/>
              <a:t>Es aquel traductor que tiene como entrada una sentencia en lenguaje formal y como salida tiene un fichero ejecutable, es decir, realiza una traducción de un código de alto nivel a código máquina (también se entiende por compilador aquel programa que proporciona un fichero objeto en lugar del ejecutable final).</a:t>
            </a:r>
          </a:p>
          <a:p>
            <a:endParaRPr lang="es-MX" dirty="0"/>
          </a:p>
        </p:txBody>
      </p:sp>
      <p:sp>
        <p:nvSpPr>
          <p:cNvPr id="4" name="Marcador de número de diapositiva 3"/>
          <p:cNvSpPr>
            <a:spLocks noGrp="1"/>
          </p:cNvSpPr>
          <p:nvPr>
            <p:ph type="sldNum" sz="quarter" idx="10"/>
          </p:nvPr>
        </p:nvSpPr>
        <p:spPr/>
        <p:txBody>
          <a:bodyPr/>
          <a:lstStyle/>
          <a:p>
            <a:fld id="{A560BA6B-0B7C-462E-A5A6-4FF6625D24BE}" type="slidenum">
              <a:rPr lang="es-MX" smtClean="0"/>
              <a:t>4</a:t>
            </a:fld>
            <a:endParaRPr lang="es-MX" dirty="0"/>
          </a:p>
        </p:txBody>
      </p:sp>
    </p:spTree>
    <p:extLst>
      <p:ext uri="{BB962C8B-B14F-4D97-AF65-F5344CB8AC3E}">
        <p14:creationId xmlns:p14="http://schemas.microsoft.com/office/powerpoint/2010/main" val="2624421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200" dirty="0">
                <a:effectLst/>
                <a:latin typeface="TimesNewRomanPSMT" panose="02020603050405020304" pitchFamily="18" charset="0"/>
              </a:rPr>
              <a:t>EL IOCS: </a:t>
            </a:r>
            <a:r>
              <a:rPr lang="es-MX" sz="1200" b="1" kern="1200" baseline="0" dirty="0">
                <a:solidFill>
                  <a:schemeClr val="tx1"/>
                </a:solidFill>
                <a:effectLst/>
                <a:latin typeface="+mn-lt"/>
                <a:ea typeface="+mn-ea"/>
                <a:cs typeface="+mn-cs"/>
              </a:rPr>
              <a:t>input / output control system </a:t>
            </a:r>
            <a:r>
              <a:rPr lang="es-MX" sz="1200" dirty="0">
                <a:effectLst/>
                <a:latin typeface="TimesNewRomanPSMT" panose="02020603050405020304" pitchFamily="18" charset="0"/>
              </a:rPr>
              <a:t> libera al programador de aplicaciones de la complejidad de la administración de la e / s: </a:t>
            </a:r>
            <a:endParaRPr lang="es-MX" sz="1000" dirty="0">
              <a:effectLst/>
              <a:latin typeface="SymbolMT"/>
            </a:endParaRPr>
          </a:p>
          <a:p>
            <a:pPr>
              <a:buFont typeface="Arial" panose="020B0604020202020204" pitchFamily="34" charset="0"/>
              <a:buNone/>
            </a:pPr>
            <a:r>
              <a:rPr lang="es-MX" sz="1000" dirty="0">
                <a:effectLst/>
                <a:latin typeface="CourierNewPSMT" panose="02070309020205020404" pitchFamily="49" charset="0"/>
              </a:rPr>
              <a:t>       o </a:t>
            </a:r>
            <a:r>
              <a:rPr lang="es-MX" sz="1200" dirty="0">
                <a:effectLst/>
                <a:latin typeface="TimesNewRomanPSMT" panose="02020603050405020304" pitchFamily="18" charset="0"/>
              </a:rPr>
              <a:t>Programas de canal, coordinación de canales y procesadores, control de la e / s, etc.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Es una manifestación de la tendencia a que los desarrolladores de aplicaciones se concentren en la producción de códigos orientados hacia las aplicaciones y no hacia los sistemas (hardware). </a:t>
            </a:r>
            <a:endParaRPr lang="es-MX" sz="1000" dirty="0">
              <a:effectLst/>
              <a:latin typeface="SymbolMT"/>
            </a:endParaRPr>
          </a:p>
          <a:p>
            <a:endParaRPr lang="es-MX" dirty="0"/>
          </a:p>
        </p:txBody>
      </p:sp>
      <p:sp>
        <p:nvSpPr>
          <p:cNvPr id="4" name="Marcador de número de diapositiva 3"/>
          <p:cNvSpPr>
            <a:spLocks noGrp="1"/>
          </p:cNvSpPr>
          <p:nvPr>
            <p:ph type="sldNum" sz="quarter" idx="10"/>
          </p:nvPr>
        </p:nvSpPr>
        <p:spPr/>
        <p:txBody>
          <a:bodyPr/>
          <a:lstStyle/>
          <a:p>
            <a:fld id="{A560BA6B-0B7C-462E-A5A6-4FF6625D24BE}" type="slidenum">
              <a:rPr lang="es-MX" smtClean="0"/>
              <a:t>5</a:t>
            </a:fld>
            <a:endParaRPr lang="es-MX" dirty="0"/>
          </a:p>
        </p:txBody>
      </p:sp>
    </p:spTree>
    <p:extLst>
      <p:ext uri="{BB962C8B-B14F-4D97-AF65-F5344CB8AC3E}">
        <p14:creationId xmlns:p14="http://schemas.microsoft.com/office/powerpoint/2010/main" val="2029001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pPr algn="just">
              <a:buFont typeface="Arial" panose="020B0604020202020204" pitchFamily="34" charset="0"/>
              <a:buNone/>
            </a:pPr>
            <a:r>
              <a:rPr lang="es-MX" sz="1200" dirty="0">
                <a:effectLst/>
                <a:latin typeface="TimesNewRomanPSMT" panose="02020603050405020304" pitchFamily="18" charset="0"/>
              </a:rPr>
              <a:t>Spool: Un mecanismo de entrada/salida que permitía que una computadora de propósito específico, mucho más económica y limitada, leyera las tarjetas y las fuera convirtiendo a cinta magnética, un medio mucho más rápido, teniéndola lista para que la computadora central la cargara cuando terminara con el trabajo anterior. Del mismo modo, la computadora central guardaba sus resultados en cinta para que equipos especializados la leyeran e imprimieran para el usuario solicitante. La palabra spool (bobina) se tomó como acrónimo inverso hacia Simultaneous Peripherial Operations On-Line, operación simultánea de periféricos en línea.</a:t>
            </a:r>
          </a:p>
          <a:p>
            <a:pPr>
              <a:buFont typeface="Arial" panose="020B0604020202020204" pitchFamily="34" charset="0"/>
              <a:buNone/>
            </a:pPr>
            <a:endParaRPr lang="es-MX" sz="1200" dirty="0">
              <a:effectLst/>
              <a:latin typeface="TimesNewRomanPSMT" panose="02020603050405020304" pitchFamily="18" charset="0"/>
            </a:endParaRPr>
          </a:p>
          <a:p>
            <a:pPr>
              <a:buFont typeface="Arial" panose="020B0604020202020204" pitchFamily="34" charset="0"/>
              <a:buChar char="•"/>
            </a:pPr>
            <a:r>
              <a:rPr lang="es-MX" sz="1200" dirty="0">
                <a:effectLst/>
                <a:latin typeface="TimesNewRomanPSMT" panose="02020603050405020304" pitchFamily="18" charset="0"/>
              </a:rPr>
              <a:t>Un dispositivo de alta velocidad (ej.: disco) se interpone entre un programa en ejecución y un dispositivo de baja velocidad (ej.: impresora) relacionado con el programa en la e / s.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Evita la demora en la ejecución de programas como consecuencia del uso de periféricos lentos. </a:t>
            </a:r>
            <a:endParaRPr lang="es-MX" sz="1000" dirty="0">
              <a:effectLst/>
              <a:latin typeface="SymbolMT"/>
            </a:endParaRPr>
          </a:p>
          <a:p>
            <a:endParaRPr lang="es-MX" dirty="0"/>
          </a:p>
        </p:txBody>
      </p:sp>
      <p:sp>
        <p:nvSpPr>
          <p:cNvPr id="4" name="Marcador de número de diapositiva 3"/>
          <p:cNvSpPr>
            <a:spLocks noGrp="1"/>
          </p:cNvSpPr>
          <p:nvPr>
            <p:ph type="sldNum" sz="quarter" idx="10"/>
          </p:nvPr>
        </p:nvSpPr>
        <p:spPr/>
        <p:txBody>
          <a:bodyPr/>
          <a:lstStyle/>
          <a:p>
            <a:fld id="{A560BA6B-0B7C-462E-A5A6-4FF6625D24BE}" type="slidenum">
              <a:rPr lang="es-MX" smtClean="0"/>
              <a:t>6</a:t>
            </a:fld>
            <a:endParaRPr lang="es-MX" dirty="0"/>
          </a:p>
        </p:txBody>
      </p:sp>
    </p:spTree>
    <p:extLst>
      <p:ext uri="{BB962C8B-B14F-4D97-AF65-F5344CB8AC3E}">
        <p14:creationId xmlns:p14="http://schemas.microsoft.com/office/powerpoint/2010/main" val="2193637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r>
              <a:rPr lang="es-MX" sz="1000" dirty="0">
                <a:effectLst/>
                <a:latin typeface="SymbolMT"/>
              </a:rPr>
              <a:t>• </a:t>
            </a:r>
            <a:r>
              <a:rPr lang="es-MX" sz="1200" i="1" dirty="0">
                <a:effectLst/>
                <a:latin typeface="TimesNewRomanPS"/>
              </a:rPr>
              <a:t>“O. hacia el procedimiento”: </a:t>
            </a:r>
            <a:r>
              <a:rPr lang="es-MX" sz="1200" dirty="0">
                <a:effectLst/>
                <a:latin typeface="TimesNewRomanPSMT" panose="02020603050405020304" pitchFamily="18" charset="0"/>
              </a:rPr>
              <a:t>son de propósito general y aptos para resolver gran variedad de problemas: </a:t>
            </a:r>
            <a:endParaRPr lang="es-MX" dirty="0"/>
          </a:p>
          <a:p>
            <a:r>
              <a:rPr lang="es-MX" sz="1000" dirty="0">
                <a:effectLst/>
                <a:latin typeface="CourierNewPSMT" panose="02070309020205020404" pitchFamily="49" charset="0"/>
              </a:rPr>
              <a:t>     o </a:t>
            </a:r>
            <a:r>
              <a:rPr lang="es-MX" sz="1200" dirty="0">
                <a:effectLst/>
                <a:latin typeface="TimesNewRomanPSMT" panose="02020603050405020304" pitchFamily="18" charset="0"/>
              </a:rPr>
              <a:t>Ej.: Pascal, Cobol, Fortran, Basic, PL/I.</a:t>
            </a:r>
            <a:br>
              <a:rPr lang="es-MX" sz="1200" dirty="0">
                <a:effectLst/>
                <a:latin typeface="TimesNewRomanPSMT" panose="02020603050405020304" pitchFamily="18" charset="0"/>
              </a:rPr>
            </a:br>
            <a:r>
              <a:rPr lang="es-MX" sz="1000" dirty="0">
                <a:effectLst/>
                <a:latin typeface="SymbolMT"/>
              </a:rPr>
              <a:t>• </a:t>
            </a:r>
            <a:r>
              <a:rPr lang="es-MX" sz="1200" i="1" dirty="0">
                <a:effectLst/>
                <a:latin typeface="TimesNewRomanPS"/>
              </a:rPr>
              <a:t>“O. hacia el problema”: </a:t>
            </a:r>
            <a:r>
              <a:rPr lang="es-MX" sz="1200" dirty="0">
                <a:effectLst/>
                <a:latin typeface="TimesNewRomanPSMT" panose="02020603050405020304" pitchFamily="18" charset="0"/>
              </a:rPr>
              <a:t>son específicos para resolver determinados tipos de problemas:</a:t>
            </a:r>
            <a:br>
              <a:rPr lang="es-MX" sz="1200" dirty="0">
                <a:effectLst/>
                <a:latin typeface="TimesNewRomanPSMT" panose="02020603050405020304" pitchFamily="18" charset="0"/>
              </a:rPr>
            </a:br>
            <a:r>
              <a:rPr lang="es-MX" sz="1200" dirty="0">
                <a:effectLst/>
                <a:latin typeface="TimesNewRomanPSMT" panose="02020603050405020304" pitchFamily="18" charset="0"/>
              </a:rPr>
              <a:t>     </a:t>
            </a:r>
            <a:r>
              <a:rPr lang="es-MX" sz="1000" dirty="0">
                <a:effectLst/>
                <a:latin typeface="CourierNewPSMT" panose="02070309020205020404" pitchFamily="49" charset="0"/>
              </a:rPr>
              <a:t>o </a:t>
            </a:r>
            <a:r>
              <a:rPr lang="es-MX" sz="1200" dirty="0">
                <a:effectLst/>
                <a:latin typeface="TimesNewRomanPSMT" panose="02020603050405020304" pitchFamily="18" charset="0"/>
              </a:rPr>
              <a:t>Ej.: GPSS (simulación), SPSS (estadística). </a:t>
            </a:r>
            <a:endParaRPr lang="es-MX" dirty="0"/>
          </a:p>
          <a:p>
            <a:endParaRPr lang="es-MX" dirty="0"/>
          </a:p>
        </p:txBody>
      </p:sp>
      <p:sp>
        <p:nvSpPr>
          <p:cNvPr id="4" name="Marcador de número de diapositiva 3"/>
          <p:cNvSpPr>
            <a:spLocks noGrp="1"/>
          </p:cNvSpPr>
          <p:nvPr>
            <p:ph type="sldNum" sz="quarter" idx="5"/>
          </p:nvPr>
        </p:nvSpPr>
        <p:spPr/>
        <p:txBody>
          <a:bodyPr/>
          <a:lstStyle/>
          <a:p>
            <a:r>
              <a:rPr lang="es-MX"/>
              <a:t>1</a:t>
            </a:r>
            <a:endParaRPr lang="es-MX" dirty="0"/>
          </a:p>
        </p:txBody>
      </p:sp>
    </p:spTree>
    <p:extLst>
      <p:ext uri="{BB962C8B-B14F-4D97-AF65-F5344CB8AC3E}">
        <p14:creationId xmlns:p14="http://schemas.microsoft.com/office/powerpoint/2010/main" val="2402699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r>
              <a:rPr lang="es-MX" sz="1200" kern="1200" baseline="0" dirty="0">
                <a:solidFill>
                  <a:schemeClr val="tx1"/>
                </a:solidFill>
                <a:effectLst/>
                <a:latin typeface="+mn-lt"/>
                <a:ea typeface="+mn-ea"/>
                <a:cs typeface="+mn-cs"/>
              </a:rPr>
              <a:t>• </a:t>
            </a:r>
            <a:r>
              <a:rPr lang="es-MX" sz="1200" i="1" kern="1200" baseline="0" dirty="0">
                <a:solidFill>
                  <a:schemeClr val="tx1"/>
                </a:solidFill>
                <a:effectLst/>
                <a:latin typeface="+mn-lt"/>
                <a:ea typeface="+mn-ea"/>
                <a:cs typeface="+mn-cs"/>
              </a:rPr>
              <a:t>“C. rápidos y sucios”: </a:t>
            </a:r>
            <a:r>
              <a:rPr lang="es-MX" sz="1200" kern="1200" baseline="0" dirty="0">
                <a:solidFill>
                  <a:schemeClr val="tx1"/>
                </a:solidFill>
                <a:effectLst/>
                <a:latin typeface="+mn-lt"/>
                <a:ea typeface="+mn-ea"/>
                <a:cs typeface="+mn-cs"/>
              </a:rPr>
              <a:t>producen rápidamente un programa objeto que puede ser ineficiente respecto de almacenamiento y velocidad de ejecución: </a:t>
            </a:r>
            <a:endParaRPr lang="es-MX" dirty="0"/>
          </a:p>
          <a:p>
            <a:r>
              <a:rPr lang="es-MX" sz="1200" kern="1200" baseline="0" dirty="0">
                <a:solidFill>
                  <a:schemeClr val="tx1"/>
                </a:solidFill>
                <a:effectLst/>
                <a:latin typeface="+mn-lt"/>
                <a:ea typeface="+mn-ea"/>
                <a:cs typeface="+mn-cs"/>
              </a:rPr>
              <a:t>     o Utiles para el desarrollo y prueba de sistemas.</a:t>
            </a:r>
            <a:br>
              <a:rPr lang="es-MX" sz="1200" kern="1200" baseline="0" dirty="0">
                <a:solidFill>
                  <a:schemeClr val="tx1"/>
                </a:solidFill>
                <a:effectLst/>
                <a:latin typeface="+mn-lt"/>
                <a:ea typeface="+mn-ea"/>
                <a:cs typeface="+mn-cs"/>
              </a:rPr>
            </a:br>
            <a:r>
              <a:rPr lang="es-MX" sz="1200" kern="1200" baseline="0" dirty="0">
                <a:solidFill>
                  <a:schemeClr val="tx1"/>
                </a:solidFill>
                <a:effectLst/>
                <a:latin typeface="+mn-lt"/>
                <a:ea typeface="+mn-ea"/>
                <a:cs typeface="+mn-cs"/>
              </a:rPr>
              <a:t>• </a:t>
            </a:r>
            <a:r>
              <a:rPr lang="es-MX" sz="1200" i="1" kern="1200" baseline="0" dirty="0">
                <a:solidFill>
                  <a:schemeClr val="tx1"/>
                </a:solidFill>
                <a:effectLst/>
                <a:latin typeface="+mn-lt"/>
                <a:ea typeface="+mn-ea"/>
                <a:cs typeface="+mn-cs"/>
              </a:rPr>
              <a:t>“C. optimizadores”: </a:t>
            </a:r>
            <a:r>
              <a:rPr lang="es-MX" sz="1200" kern="1200" baseline="0" dirty="0">
                <a:solidFill>
                  <a:schemeClr val="tx1"/>
                </a:solidFill>
                <a:effectLst/>
                <a:latin typeface="+mn-lt"/>
                <a:ea typeface="+mn-ea"/>
                <a:cs typeface="+mn-cs"/>
              </a:rPr>
              <a:t>producen con mayor lentitud un código de máquina altamente eficiente en almacenamiento y ejecución:</a:t>
            </a:r>
            <a:br>
              <a:rPr lang="es-MX" sz="1200" kern="1200" baseline="0" dirty="0">
                <a:solidFill>
                  <a:schemeClr val="tx1"/>
                </a:solidFill>
                <a:effectLst/>
                <a:latin typeface="+mn-lt"/>
                <a:ea typeface="+mn-ea"/>
                <a:cs typeface="+mn-cs"/>
              </a:rPr>
            </a:br>
            <a:r>
              <a:rPr lang="es-MX" sz="1200" kern="1200" baseline="0" dirty="0">
                <a:solidFill>
                  <a:schemeClr val="tx1"/>
                </a:solidFill>
                <a:effectLst/>
                <a:latin typeface="+mn-lt"/>
                <a:ea typeface="+mn-ea"/>
                <a:cs typeface="+mn-cs"/>
              </a:rPr>
              <a:t>     o Utiles en etapa de producción de los sistemas. </a:t>
            </a:r>
          </a:p>
          <a:p>
            <a:endParaRPr lang="es-MX" sz="1200" kern="1200" baseline="0" dirty="0">
              <a:solidFill>
                <a:schemeClr val="tx1"/>
              </a:solidFill>
              <a:effectLst/>
              <a:latin typeface="+mn-lt"/>
              <a:ea typeface="+mn-ea"/>
              <a:cs typeface="+mn-cs"/>
            </a:endParaRPr>
          </a:p>
          <a:p>
            <a:r>
              <a:rPr lang="es-MX" sz="1200" b="1" dirty="0">
                <a:effectLst/>
                <a:latin typeface="TimesNewRomanPS"/>
              </a:rPr>
              <a:t>Interpretadores: </a:t>
            </a:r>
            <a:endParaRPr lang="es-MX" dirty="0"/>
          </a:p>
          <a:p>
            <a:pPr>
              <a:buFont typeface="Arial" panose="020B0604020202020204" pitchFamily="34" charset="0"/>
              <a:buChar char="•"/>
            </a:pPr>
            <a:r>
              <a:rPr lang="es-MX" sz="1200" dirty="0">
                <a:effectLst/>
                <a:latin typeface="TimesNewRomanPSMT" panose="02020603050405020304" pitchFamily="18" charset="0"/>
              </a:rPr>
              <a:t>No producen un programa objeto.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Ejecutan directamente un programa fuente.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Son útiles en ambientes de desarrollo de programas.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Son más lentos que los códigos compilados. </a:t>
            </a:r>
          </a:p>
          <a:p>
            <a:pPr>
              <a:buFont typeface="Arial" panose="020B0604020202020204" pitchFamily="34" charset="0"/>
              <a:buChar char="•"/>
            </a:pPr>
            <a:endParaRPr lang="es-MX" sz="1000" dirty="0">
              <a:effectLst/>
              <a:latin typeface="SymbolMT"/>
            </a:endParaRPr>
          </a:p>
          <a:p>
            <a:pPr>
              <a:buFont typeface="Arial" panose="020B0604020202020204" pitchFamily="34" charset="0"/>
              <a:buNone/>
            </a:pPr>
            <a:r>
              <a:rPr lang="es-MX" sz="1200" b="1" dirty="0">
                <a:effectLst/>
                <a:latin typeface="TimesNewRomanPS"/>
              </a:rPr>
              <a:t>Cargadores absolutos y de relocalización: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Los programas se ejecutan en el almacenamiento principal. </a:t>
            </a:r>
            <a:endParaRPr lang="es-MX" sz="1000" dirty="0">
              <a:effectLst/>
              <a:latin typeface="SymbolMT"/>
            </a:endParaRPr>
          </a:p>
          <a:p>
            <a:pPr>
              <a:buFont typeface="Arial" panose="020B0604020202020204" pitchFamily="34" charset="0"/>
              <a:buChar char="•"/>
            </a:pPr>
            <a:r>
              <a:rPr lang="es-MX" sz="1200" i="1" dirty="0">
                <a:effectLst/>
                <a:latin typeface="TimesNewRomanPS"/>
              </a:rPr>
              <a:t>“Asignación”: </a:t>
            </a:r>
            <a:r>
              <a:rPr lang="es-MX" sz="1200" dirty="0">
                <a:effectLst/>
                <a:latin typeface="TimesNewRomanPSMT" panose="02020603050405020304" pitchFamily="18" charset="0"/>
              </a:rPr>
              <a:t>es la asociación de instrucciones y datos con localizaciones particulares de almacenamiento. </a:t>
            </a:r>
            <a:endParaRPr lang="es-MX" sz="1000" dirty="0">
              <a:effectLst/>
              <a:latin typeface="SymbolMT"/>
            </a:endParaRPr>
          </a:p>
          <a:p>
            <a:pPr>
              <a:buFont typeface="Arial" panose="020B0604020202020204" pitchFamily="34" charset="0"/>
              <a:buChar char="•"/>
            </a:pPr>
            <a:r>
              <a:rPr lang="es-MX" sz="1200" i="1" dirty="0">
                <a:effectLst/>
                <a:latin typeface="TimesNewRomanPS"/>
              </a:rPr>
              <a:t>“Cargador”: </a:t>
            </a:r>
            <a:r>
              <a:rPr lang="es-MX" sz="1200" dirty="0">
                <a:effectLst/>
                <a:latin typeface="TimesNewRomanPSMT" panose="02020603050405020304" pitchFamily="18" charset="0"/>
              </a:rPr>
              <a:t>es un programa que coloca las instrucciones y datos de un programa dentro de localizaciones del almacenamiento principal. </a:t>
            </a:r>
            <a:endParaRPr lang="es-MX" sz="1000" dirty="0">
              <a:effectLst/>
              <a:latin typeface="SymbolMT"/>
            </a:endParaRPr>
          </a:p>
          <a:p>
            <a:pPr>
              <a:buFont typeface="Arial" panose="020B0604020202020204" pitchFamily="34" charset="0"/>
              <a:buChar char="•"/>
            </a:pPr>
            <a:r>
              <a:rPr lang="es-MX" sz="1200" i="1" dirty="0">
                <a:effectLst/>
                <a:latin typeface="TimesNewRomanPS"/>
              </a:rPr>
              <a:t>“Cargador absoluto”: </a:t>
            </a:r>
            <a:r>
              <a:rPr lang="es-MX" sz="1200" dirty="0">
                <a:effectLst/>
                <a:latin typeface="TimesNewRomanPSMT" panose="02020603050405020304" pitchFamily="18" charset="0"/>
              </a:rPr>
              <a:t>coloca las instrucciones y datos en las localizaciones específicas indicadas en el programa de lenguaje de máquina. </a:t>
            </a:r>
            <a:endParaRPr lang="es-MX" sz="1000" dirty="0">
              <a:effectLst/>
              <a:latin typeface="SymbolMT"/>
            </a:endParaRPr>
          </a:p>
          <a:p>
            <a:pPr>
              <a:buFont typeface="Arial" panose="020B0604020202020204" pitchFamily="34" charset="0"/>
              <a:buChar char="•"/>
            </a:pPr>
            <a:r>
              <a:rPr lang="es-MX" sz="1200" i="1" dirty="0">
                <a:effectLst/>
                <a:latin typeface="TimesNewRomanPS"/>
              </a:rPr>
              <a:t>“Cargador de relocalización”: </a:t>
            </a:r>
            <a:r>
              <a:rPr lang="es-MX" sz="1200" dirty="0">
                <a:effectLst/>
                <a:latin typeface="TimesNewRomanPSMT" panose="02020603050405020304" pitchFamily="18" charset="0"/>
              </a:rPr>
              <a:t>puede cargar un programa en varios lugares dentro del almacenamiento principal: </a:t>
            </a:r>
            <a:endParaRPr lang="es-MX" sz="1000" dirty="0">
              <a:effectLst/>
              <a:latin typeface="SymbolMT"/>
            </a:endParaRPr>
          </a:p>
          <a:p>
            <a:r>
              <a:rPr lang="es-MX" sz="1000" dirty="0">
                <a:effectLst/>
                <a:latin typeface="CourierNewPSMT" panose="02070309020205020404" pitchFamily="49" charset="0"/>
              </a:rPr>
              <a:t>       o </a:t>
            </a:r>
            <a:r>
              <a:rPr lang="es-MX" sz="1200" dirty="0">
                <a:effectLst/>
                <a:latin typeface="TimesNewRomanPSMT" panose="02020603050405020304" pitchFamily="18" charset="0"/>
              </a:rPr>
              <a:t>Depende de la disponibilidad de almacenamiento primario al momento de realizar la carga. </a:t>
            </a:r>
            <a:endParaRPr lang="es-MX" dirty="0"/>
          </a:p>
          <a:p>
            <a:r>
              <a:rPr lang="es-MX" sz="1000" dirty="0">
                <a:effectLst/>
                <a:latin typeface="SymbolMT"/>
              </a:rPr>
              <a:t>• </a:t>
            </a:r>
            <a:r>
              <a:rPr lang="es-MX" sz="1200" i="1" dirty="0">
                <a:effectLst/>
                <a:latin typeface="TimesNewRomanPS"/>
              </a:rPr>
              <a:t>“Tiempo de carga”: </a:t>
            </a:r>
            <a:r>
              <a:rPr lang="es-MX" sz="1200" dirty="0">
                <a:effectLst/>
                <a:latin typeface="TimesNewRomanPSMT" panose="02020603050405020304" pitchFamily="18" charset="0"/>
              </a:rPr>
              <a:t>momento de realizar la carga. </a:t>
            </a:r>
            <a:endParaRPr lang="es-MX" dirty="0"/>
          </a:p>
          <a:p>
            <a:endParaRPr lang="es-MX" dirty="0"/>
          </a:p>
          <a:p>
            <a:r>
              <a:rPr lang="es-MX" sz="1200" b="1" dirty="0">
                <a:effectLst/>
                <a:latin typeface="TimesNewRomanPS"/>
              </a:rPr>
              <a:t>Cargadores de enlace y editores de enlace: </a:t>
            </a:r>
            <a:endParaRPr lang="es-MX" dirty="0"/>
          </a:p>
          <a:p>
            <a:pPr>
              <a:buFont typeface="Arial" panose="020B0604020202020204" pitchFamily="34" charset="0"/>
              <a:buChar char="•"/>
            </a:pPr>
            <a:r>
              <a:rPr lang="es-MX" sz="1200" dirty="0">
                <a:effectLst/>
                <a:latin typeface="TimesNewRomanPSMT" panose="02020603050405020304" pitchFamily="18" charset="0"/>
              </a:rPr>
              <a:t>El programa en lenguaje de máquina producido por un traductor debe ser combinado con otros programas en lenguaje de máquina para formar una unidad ejecutable.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La </a:t>
            </a:r>
            <a:r>
              <a:rPr lang="es-MX" sz="1200" i="1" dirty="0">
                <a:effectLst/>
                <a:latin typeface="TimesNewRomanPS"/>
              </a:rPr>
              <a:t>“combinación de programas” </a:t>
            </a:r>
            <a:r>
              <a:rPr lang="es-MX" sz="1200" dirty="0">
                <a:effectLst/>
                <a:latin typeface="TimesNewRomanPSMT" panose="02020603050405020304" pitchFamily="18" charset="0"/>
              </a:rPr>
              <a:t>es realizada por </a:t>
            </a:r>
            <a:r>
              <a:rPr lang="es-MX" sz="1200" i="1" dirty="0">
                <a:effectLst/>
                <a:latin typeface="TimesNewRomanPS"/>
              </a:rPr>
              <a:t>“cargadores de enlace” </a:t>
            </a:r>
            <a:r>
              <a:rPr lang="es-MX" sz="1200" dirty="0">
                <a:effectLst/>
                <a:latin typeface="TimesNewRomanPSMT" panose="02020603050405020304" pitchFamily="18" charset="0"/>
              </a:rPr>
              <a:t>y </a:t>
            </a:r>
            <a:r>
              <a:rPr lang="es-MX" sz="1200" i="1" dirty="0">
                <a:effectLst/>
                <a:latin typeface="TimesNewRomanPS"/>
              </a:rPr>
              <a:t>“editores de enlace” </a:t>
            </a:r>
            <a:r>
              <a:rPr lang="es-MX" sz="1200" dirty="0">
                <a:effectLst/>
                <a:latin typeface="TimesNewRomanPSMT" panose="02020603050405020304" pitchFamily="18" charset="0"/>
              </a:rPr>
              <a:t>antes del tiempo de ejecución del programa. </a:t>
            </a:r>
            <a:endParaRPr lang="es-MX" sz="1000" dirty="0">
              <a:effectLst/>
              <a:latin typeface="SymbolMT"/>
            </a:endParaRPr>
          </a:p>
          <a:p>
            <a:pPr>
              <a:buFont typeface="Arial" panose="020B0604020202020204" pitchFamily="34" charset="0"/>
              <a:buChar char="•"/>
            </a:pPr>
            <a:r>
              <a:rPr lang="es-MX" sz="1200" i="1" dirty="0">
                <a:effectLst/>
                <a:latin typeface="TimesNewRomanPS"/>
              </a:rPr>
              <a:t>“Cargador de enlace”: </a:t>
            </a:r>
            <a:r>
              <a:rPr lang="es-MX" sz="1200" dirty="0">
                <a:effectLst/>
                <a:latin typeface="TimesNewRomanPSMT" panose="02020603050405020304" pitchFamily="18" charset="0"/>
              </a:rPr>
              <a:t>en el momento de carga, combina cualesquiera programas requeridos y los carga directamente en el almacenamiento primario. </a:t>
            </a:r>
            <a:endParaRPr lang="es-MX" sz="1000" dirty="0">
              <a:effectLst/>
              <a:latin typeface="SymbolMT"/>
            </a:endParaRPr>
          </a:p>
          <a:p>
            <a:pPr>
              <a:buFont typeface="Arial" panose="020B0604020202020204" pitchFamily="34" charset="0"/>
              <a:buChar char="•"/>
            </a:pPr>
            <a:r>
              <a:rPr lang="es-MX" sz="1200" i="1" dirty="0">
                <a:effectLst/>
                <a:latin typeface="TimesNewRomanPS"/>
              </a:rPr>
              <a:t>“Editor de enlace”: </a:t>
            </a:r>
            <a:r>
              <a:rPr lang="es-MX" sz="1200" dirty="0">
                <a:effectLst/>
                <a:latin typeface="TimesNewRomanPSMT" panose="02020603050405020304" pitchFamily="18" charset="0"/>
              </a:rPr>
              <a:t>ejecuta la combinación de programas mencionada y además crea una imagen de carga a memoria que preserva en el almacenamiento secundario (disco), para usos futuros: </a:t>
            </a:r>
            <a:endParaRPr lang="es-MX" sz="1000" dirty="0">
              <a:effectLst/>
              <a:latin typeface="SymbolMT"/>
            </a:endParaRPr>
          </a:p>
          <a:p>
            <a:r>
              <a:rPr lang="es-MX" sz="1000" dirty="0">
                <a:effectLst/>
                <a:latin typeface="CourierNewPSMT" panose="02070309020205020404" pitchFamily="49" charset="0"/>
              </a:rPr>
              <a:t>     o </a:t>
            </a:r>
            <a:r>
              <a:rPr lang="es-MX" sz="1200" dirty="0">
                <a:effectLst/>
                <a:latin typeface="TimesNewRomanPSMT" panose="02020603050405020304" pitchFamily="18" charset="0"/>
              </a:rPr>
              <a:t>Es muy útil en ambientes de producción, ya que la carga inmediata de la imagen de memoria previamente producida evita un nuevo proceso de combinación de programas previo a cada ejecución. </a:t>
            </a:r>
            <a:endParaRPr lang="es-MX" dirty="0"/>
          </a:p>
          <a:p>
            <a:endParaRPr lang="es-MX" dirty="0"/>
          </a:p>
          <a:p>
            <a:endParaRPr lang="es-MX" dirty="0"/>
          </a:p>
        </p:txBody>
      </p:sp>
      <p:sp>
        <p:nvSpPr>
          <p:cNvPr id="4" name="Marcador de número de diapositiva 3"/>
          <p:cNvSpPr>
            <a:spLocks noGrp="1"/>
          </p:cNvSpPr>
          <p:nvPr>
            <p:ph type="sldNum" sz="quarter" idx="5"/>
          </p:nvPr>
        </p:nvSpPr>
        <p:spPr/>
        <p:txBody>
          <a:bodyPr/>
          <a:lstStyle/>
          <a:p>
            <a:r>
              <a:rPr lang="es-MX"/>
              <a:t>1</a:t>
            </a:r>
            <a:endParaRPr lang="es-MX" dirty="0"/>
          </a:p>
        </p:txBody>
      </p:sp>
    </p:spTree>
    <p:extLst>
      <p:ext uri="{BB962C8B-B14F-4D97-AF65-F5344CB8AC3E}">
        <p14:creationId xmlns:p14="http://schemas.microsoft.com/office/powerpoint/2010/main" val="2799084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8F49B57E-4234-4239-BB5C-6C3220200B68}" type="slidenum">
              <a:rPr lang="es-MX" smtClean="0"/>
              <a:t>9</a:t>
            </a:fld>
            <a:endParaRPr lang="es-MX" dirty="0"/>
          </a:p>
        </p:txBody>
      </p:sp>
      <p:sp>
        <p:nvSpPr>
          <p:cNvPr id="5" name="Marcador de fecha 4"/>
          <p:cNvSpPr>
            <a:spLocks noGrp="1"/>
          </p:cNvSpPr>
          <p:nvPr>
            <p:ph type="dt" idx="11"/>
          </p:nvPr>
        </p:nvSpPr>
        <p:spPr/>
        <p:txBody>
          <a:bodyPr/>
          <a:lstStyle/>
          <a:p>
            <a:fld id="{A84E2927-F481-4A3C-A5EE-8C8F8CA4F7D2}" type="datetime1">
              <a:rPr lang="es-MX" smtClean="0"/>
              <a:t>10/02/21</a:t>
            </a:fld>
            <a:endParaRPr lang="es-MX" dirty="0"/>
          </a:p>
        </p:txBody>
      </p:sp>
    </p:spTree>
    <p:extLst>
      <p:ext uri="{BB962C8B-B14F-4D97-AF65-F5344CB8AC3E}">
        <p14:creationId xmlns:p14="http://schemas.microsoft.com/office/powerpoint/2010/main" val="1397722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4858C28-8A0D-451C-B20E-C0FD1D320815}" type="datetime1">
              <a:rPr lang="es-MX" smtClean="0"/>
              <a:t>10/02/21</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3317966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4F2F7F4-6626-45B2-9106-73608F631EF6}" type="datetime1">
              <a:rPr lang="es-MX" smtClean="0"/>
              <a:t>10/02/21</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2809560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4AEDD0C8-5162-402A-85FF-189D6AF71C68}" type="datetime1">
              <a:rPr lang="es-MX" smtClean="0"/>
              <a:t>10/02/21</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2728230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E464A8F-3E4E-49EA-B4D8-5EEBC6A4C1C2}" type="datetime1">
              <a:rPr lang="es-MX" smtClean="0"/>
              <a:t>10/02/21</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2848521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A9C4398-88D9-43B6-B673-17CC11265805}" type="datetime1">
              <a:rPr lang="es-MX" smtClean="0"/>
              <a:t>10/02/21</a:t>
            </a:fld>
            <a:endParaRPr lang="es-MX" dirty="0"/>
          </a:p>
        </p:txBody>
      </p:sp>
      <p:sp>
        <p:nvSpPr>
          <p:cNvPr id="8" name="Footer Placeholder 7"/>
          <p:cNvSpPr>
            <a:spLocks noGrp="1"/>
          </p:cNvSpPr>
          <p:nvPr>
            <p:ph type="ftr" sz="quarter" idx="11"/>
          </p:nvPr>
        </p:nvSpPr>
        <p:spPr/>
        <p:txBody>
          <a:bodyPr/>
          <a:lstStyle/>
          <a:p>
            <a:endParaRPr lang="es-MX" dirty="0"/>
          </a:p>
        </p:txBody>
      </p:sp>
      <p:sp>
        <p:nvSpPr>
          <p:cNvPr id="9" name="Slide Number Placeholder 8"/>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1025389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E488DEE-A641-4223-9D6A-C53C5D2766C3}" type="datetime1">
              <a:rPr lang="es-MX" smtClean="0"/>
              <a:t>10/02/21</a:t>
            </a:fld>
            <a:endParaRPr lang="es-MX" dirty="0"/>
          </a:p>
        </p:txBody>
      </p:sp>
      <p:sp>
        <p:nvSpPr>
          <p:cNvPr id="4" name="Footer Placeholder 3"/>
          <p:cNvSpPr>
            <a:spLocks noGrp="1"/>
          </p:cNvSpPr>
          <p:nvPr>
            <p:ph type="ftr" sz="quarter" idx="11"/>
          </p:nvPr>
        </p:nvSpPr>
        <p:spPr/>
        <p:txBody>
          <a:bodyPr/>
          <a:lstStyle/>
          <a:p>
            <a:endParaRPr lang="es-MX" dirty="0"/>
          </a:p>
        </p:txBody>
      </p:sp>
      <p:sp>
        <p:nvSpPr>
          <p:cNvPr id="5" name="Slide Number Placeholder 4"/>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487143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FAC936-9CEA-4848-9F7F-DFCCEB0D32DB}" type="datetime1">
              <a:rPr lang="es-MX" smtClean="0"/>
              <a:t>10/02/21</a:t>
            </a:fld>
            <a:endParaRPr lang="es-MX" dirty="0"/>
          </a:p>
        </p:txBody>
      </p:sp>
      <p:sp>
        <p:nvSpPr>
          <p:cNvPr id="3" name="Footer Placeholder 2"/>
          <p:cNvSpPr>
            <a:spLocks noGrp="1"/>
          </p:cNvSpPr>
          <p:nvPr>
            <p:ph type="ftr" sz="quarter" idx="11"/>
          </p:nvPr>
        </p:nvSpPr>
        <p:spPr/>
        <p:txBody>
          <a:bodyPr/>
          <a:lstStyle/>
          <a:p>
            <a:endParaRPr lang="es-MX" dirty="0"/>
          </a:p>
        </p:txBody>
      </p:sp>
      <p:sp>
        <p:nvSpPr>
          <p:cNvPr id="4" name="Slide Number Placeholder 3"/>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3307046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D54BF746-3D07-4038-922E-FBB72228A495}" type="datetime1">
              <a:rPr lang="es-MX" smtClean="0"/>
              <a:t>10/02/21</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3835999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9FEC990C-D3D7-4817-BCF6-E5B006E4A654}" type="datetime1">
              <a:rPr lang="es-MX" smtClean="0"/>
              <a:t>10/02/21</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1815895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2A43629A-E95E-4953-8EAF-CEBDDDB5B438}" type="datetime1">
              <a:rPr lang="es-MX" smtClean="0"/>
              <a:t>10/02/21</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1050842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7CA4C902-B2C5-4897-A311-ABE08FF7F281}" type="datetime1">
              <a:rPr lang="es-MX" smtClean="0"/>
              <a:t>10/02/21</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5B6304BD-7E5E-452F-B95B-B399F4ABBCE9}" type="slidenum">
              <a:rPr lang="es-MX" smtClean="0"/>
              <a:t>‹Nº›</a:t>
            </a:fld>
            <a:endParaRPr lang="es-MX"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4418835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0391E264-ABD0-4F8F-ABFE-7497407611AC}" type="datetime1">
              <a:rPr lang="es-MX" smtClean="0"/>
              <a:t>10/02/21</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3641806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75FD18B0-5B2B-48C2-95A4-1506C03B0DCA}" type="datetime1">
              <a:rPr lang="es-MX" smtClean="0"/>
              <a:t>10/02/21</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5B6304BD-7E5E-452F-B95B-B399F4ABBCE9}" type="slidenum">
              <a:rPr lang="es-MX" smtClean="0"/>
              <a:t>‹Nº›</a:t>
            </a:fld>
            <a:endParaRPr lang="es-MX"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67201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FCCA43BD-0B11-4AFB-97AC-5841A9F4DFB0}" type="datetime1">
              <a:rPr lang="es-MX" smtClean="0"/>
              <a:t>10/02/21</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14164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0898A5D-E3D7-411E-9B5B-2066E9430312}" type="datetime1">
              <a:rPr lang="es-MX" smtClean="0"/>
              <a:t>10/02/21</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29532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A2DF048-D571-463D-9371-6E507D8178A4}" type="datetime1">
              <a:rPr lang="es-MX" smtClean="0"/>
              <a:t>10/02/21</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5B6304BD-7E5E-452F-B95B-B399F4ABBCE9}" type="slidenum">
              <a:rPr lang="es-MX" smtClean="0"/>
              <a:t>‹Nº›</a:t>
            </a:fld>
            <a:endParaRPr lang="es-MX" dirty="0"/>
          </a:p>
        </p:txBody>
      </p:sp>
    </p:spTree>
    <p:extLst>
      <p:ext uri="{BB962C8B-B14F-4D97-AF65-F5344CB8AC3E}">
        <p14:creationId xmlns:p14="http://schemas.microsoft.com/office/powerpoint/2010/main" val="2781070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B6F71A8-7DA6-44CF-9103-397C436979FF}" type="datetime1">
              <a:rPr lang="es-MX" smtClean="0"/>
              <a:t>10/02/21</a:t>
            </a:fld>
            <a:endParaRPr lang="es-MX"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B6304BD-7E5E-452F-B95B-B399F4ABBCE9}" type="slidenum">
              <a:rPr lang="es-MX" smtClean="0"/>
              <a:t>‹Nº›</a:t>
            </a:fld>
            <a:endParaRPr lang="es-MX" dirty="0"/>
          </a:p>
        </p:txBody>
      </p:sp>
    </p:spTree>
    <p:extLst>
      <p:ext uri="{BB962C8B-B14F-4D97-AF65-F5344CB8AC3E}">
        <p14:creationId xmlns:p14="http://schemas.microsoft.com/office/powerpoint/2010/main" val="3415499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image" Target="../media/image5.tiff"/><Relationship Id="rId7" Type="http://schemas.openxmlformats.org/officeDocument/2006/relationships/image" Target="../media/image9.tif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p:cNvSpPr>
            <a:spLocks noGrp="1"/>
          </p:cNvSpPr>
          <p:nvPr>
            <p:ph type="sldNum" sz="quarter" idx="12"/>
          </p:nvPr>
        </p:nvSpPr>
        <p:spPr>
          <a:xfrm>
            <a:off x="11425946" y="6406487"/>
            <a:ext cx="683339" cy="365125"/>
          </a:xfrm>
        </p:spPr>
        <p:txBody>
          <a:bodyPr/>
          <a:lstStyle/>
          <a:p>
            <a:fld id="{D1081FAF-1A8D-4371-8D58-E14FA7C565C5}" type="slidenum">
              <a:rPr lang="es-MX" sz="3200" smtClean="0">
                <a:solidFill>
                  <a:srgbClr val="FF0000"/>
                </a:solidFill>
              </a:rPr>
              <a:t>1</a:t>
            </a:fld>
            <a:endParaRPr lang="es-MX" sz="3200" dirty="0">
              <a:solidFill>
                <a:srgbClr val="FF0000"/>
              </a:solidFill>
            </a:endParaRPr>
          </a:p>
        </p:txBody>
      </p:sp>
      <p:graphicFrame>
        <p:nvGraphicFramePr>
          <p:cNvPr id="9" name="Diagrama 8">
            <a:extLst>
              <a:ext uri="{FF2B5EF4-FFF2-40B4-BE49-F238E27FC236}">
                <a16:creationId xmlns:a16="http://schemas.microsoft.com/office/drawing/2014/main" id="{29B8EC9C-C241-9447-98C4-E5833FE1ADF5}"/>
              </a:ext>
            </a:extLst>
          </p:cNvPr>
          <p:cNvGraphicFramePr/>
          <p:nvPr>
            <p:extLst>
              <p:ext uri="{D42A27DB-BD31-4B8C-83A1-F6EECF244321}">
                <p14:modId xmlns:p14="http://schemas.microsoft.com/office/powerpoint/2010/main" val="3654699987"/>
              </p:ext>
            </p:extLst>
          </p:nvPr>
        </p:nvGraphicFramePr>
        <p:xfrm>
          <a:off x="178904" y="1"/>
          <a:ext cx="11410121" cy="67716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Flecha circular 9">
            <a:extLst>
              <a:ext uri="{FF2B5EF4-FFF2-40B4-BE49-F238E27FC236}">
                <a16:creationId xmlns:a16="http://schemas.microsoft.com/office/drawing/2014/main" id="{0D6D216C-E07F-744D-8DE2-1D587A6B4497}"/>
              </a:ext>
            </a:extLst>
          </p:cNvPr>
          <p:cNvSpPr/>
          <p:nvPr/>
        </p:nvSpPr>
        <p:spPr>
          <a:xfrm rot="5640036">
            <a:off x="4214383" y="1609499"/>
            <a:ext cx="3505026" cy="3547744"/>
          </a:xfrm>
          <a:prstGeom prst="circularArrow">
            <a:avLst>
              <a:gd name="adj1" fmla="val 4675"/>
              <a:gd name="adj2" fmla="val 1527298"/>
              <a:gd name="adj3" fmla="val 20633041"/>
              <a:gd name="adj4" fmla="val 10800000"/>
              <a:gd name="adj5" fmla="val 5526"/>
            </a:avLst>
          </a:prstGeom>
          <a:solidFill>
            <a:srgbClr val="FFFF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19058872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07067" y="0"/>
            <a:ext cx="7392235" cy="1646302"/>
          </a:xfrm>
        </p:spPr>
        <p:txBody>
          <a:bodyPr/>
          <a:lstStyle/>
          <a:p>
            <a:pPr algn="just"/>
            <a:r>
              <a:rPr lang="es-MX" dirty="0"/>
              <a:t>Programación lenguaje máquina</a:t>
            </a:r>
          </a:p>
        </p:txBody>
      </p:sp>
      <p:sp>
        <p:nvSpPr>
          <p:cNvPr id="3" name="Subtítulo 2"/>
          <p:cNvSpPr>
            <a:spLocks noGrp="1"/>
          </p:cNvSpPr>
          <p:nvPr>
            <p:ph type="subTitle" idx="1"/>
          </p:nvPr>
        </p:nvSpPr>
        <p:spPr>
          <a:xfrm>
            <a:off x="1374682" y="2323972"/>
            <a:ext cx="7766936" cy="1544511"/>
          </a:xfrm>
        </p:spPr>
        <p:txBody>
          <a:bodyPr>
            <a:normAutofit/>
          </a:bodyPr>
          <a:lstStyle/>
          <a:p>
            <a:pPr algn="just"/>
            <a:r>
              <a:rPr lang="es-MX" dirty="0">
                <a:solidFill>
                  <a:schemeClr val="tx1"/>
                </a:solidFill>
              </a:rPr>
              <a:t>Lenguaje de máquina Cada tipo de CPU entiende su propio lenguaje de máquina. Las instrucciones en lenguaje de máquina son números almacenados como bytes en memoria.</a:t>
            </a:r>
          </a:p>
          <a:p>
            <a:pPr algn="just"/>
            <a:r>
              <a:rPr lang="es-MX" dirty="0">
                <a:solidFill>
                  <a:schemeClr val="tx1"/>
                </a:solidFill>
              </a:rPr>
              <a:t>(Paul A. Carter 2007) </a:t>
            </a:r>
          </a:p>
        </p:txBody>
      </p:sp>
      <p:sp>
        <p:nvSpPr>
          <p:cNvPr id="5" name="Marcador de número de diapositiva 4"/>
          <p:cNvSpPr>
            <a:spLocks noGrp="1"/>
          </p:cNvSpPr>
          <p:nvPr>
            <p:ph type="sldNum" sz="quarter" idx="12"/>
          </p:nvPr>
        </p:nvSpPr>
        <p:spPr>
          <a:xfrm>
            <a:off x="11850330" y="6492874"/>
            <a:ext cx="683339" cy="365125"/>
          </a:xfrm>
        </p:spPr>
        <p:txBody>
          <a:bodyPr/>
          <a:lstStyle/>
          <a:p>
            <a:pPr algn="just"/>
            <a:fld id="{5B6304BD-7E5E-452F-B95B-B399F4ABBCE9}" type="slidenum">
              <a:rPr lang="es-MX" sz="3200" smtClean="0">
                <a:solidFill>
                  <a:srgbClr val="FF0000"/>
                </a:solidFill>
              </a:rPr>
              <a:pPr algn="just"/>
              <a:t>2</a:t>
            </a:fld>
            <a:endParaRPr lang="es-MX" sz="3200" dirty="0">
              <a:solidFill>
                <a:srgbClr val="FF0000"/>
              </a:solidFill>
            </a:endParaRPr>
          </a:p>
        </p:txBody>
      </p:sp>
      <p:pic>
        <p:nvPicPr>
          <p:cNvPr id="1026" name="Picture 2" descr="Resultado de imagen para lenguaje maquina ejempl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360" y="4032108"/>
            <a:ext cx="5848350" cy="1752600"/>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p:nvSpPr>
        <p:spPr>
          <a:xfrm>
            <a:off x="2466360" y="5784708"/>
            <a:ext cx="5583580" cy="369332"/>
          </a:xfrm>
          <a:prstGeom prst="rect">
            <a:avLst/>
          </a:prstGeom>
        </p:spPr>
        <p:txBody>
          <a:bodyPr wrap="none">
            <a:spAutoFit/>
          </a:bodyPr>
          <a:lstStyle/>
          <a:p>
            <a:pPr algn="just"/>
            <a:r>
              <a:rPr lang="es-MX" b="1" dirty="0"/>
              <a:t>http://go.yuri.at/juegos/clase1/clase1_compile.gif</a:t>
            </a:r>
          </a:p>
        </p:txBody>
      </p:sp>
    </p:spTree>
    <p:extLst>
      <p:ext uri="{BB962C8B-B14F-4D97-AF65-F5344CB8AC3E}">
        <p14:creationId xmlns:p14="http://schemas.microsoft.com/office/powerpoint/2010/main" val="39553235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nodeType="clickEffect">
                                  <p:stCondLst>
                                    <p:cond delay="0"/>
                                  </p:stCondLst>
                                  <p:iterate type="lt">
                                    <p:tmPct val="50000"/>
                                  </p:iterate>
                                  <p:childTnLst>
                                    <p:set>
                                      <p:cBhvr>
                                        <p:cTn id="6" dur="1" fill="hold">
                                          <p:stCondLst>
                                            <p:cond delay="0"/>
                                          </p:stCondLst>
                                        </p:cTn>
                                        <p:tgtEl>
                                          <p:spTgt spid="3">
                                            <p:txEl>
                                              <p:pRg st="0" end="0"/>
                                            </p:txEl>
                                          </p:spTgt>
                                        </p:tgtEl>
                                        <p:attrNameLst>
                                          <p:attrName>style.visibility</p:attrName>
                                        </p:attrNameLst>
                                      </p:cBhvr>
                                      <p:to>
                                        <p:strVal val="visible"/>
                                      </p:to>
                                    </p:set>
                                    <p:set>
                                      <p:cBhvr>
                                        <p:cTn id="7" dur="23" fill="hold">
                                          <p:stCondLst>
                                            <p:cond delay="0"/>
                                          </p:stCondLst>
                                        </p:cTn>
                                        <p:tgtEl>
                                          <p:spTgt spid="3">
                                            <p:txEl>
                                              <p:pRg st="0" end="0"/>
                                            </p:txEl>
                                          </p:spTgt>
                                        </p:tgtEl>
                                        <p:attrNameLst>
                                          <p:attrName>style.rotation</p:attrName>
                                        </p:attrNameLst>
                                      </p:cBhvr>
                                      <p:to>
                                        <p:strVal val="-45.0"/>
                                      </p:to>
                                    </p:set>
                                    <p:anim calcmode="lin" valueType="num">
                                      <p:cBhvr>
                                        <p:cTn id="8" dur="23" fill="hold">
                                          <p:stCondLst>
                                            <p:cond delay="23"/>
                                          </p:stCondLst>
                                        </p:cTn>
                                        <p:tgtEl>
                                          <p:spTgt spid="3">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23" fill="hold">
                                          <p:stCondLst>
                                            <p:cond delay="0"/>
                                          </p:stCondLst>
                                        </p:cTn>
                                        <p:tgtEl>
                                          <p:spTgt spid="3">
                                            <p:txEl>
                                              <p:pRg st="0" end="0"/>
                                            </p:txEl>
                                          </p:spTgt>
                                        </p:tgtEl>
                                        <p:attrNameLst>
                                          <p:attrName>ppt_y</p:attrName>
                                        </p:attrNameLst>
                                      </p:cBhvr>
                                      <p:tavLst>
                                        <p:tav tm="0">
                                          <p:val>
                                            <p:strVal val="#ppt_y-1"/>
                                          </p:val>
                                        </p:tav>
                                        <p:tav tm="100000">
                                          <p:val>
                                            <p:strVal val="#ppt_y-(0.354*#ppt_w-0.172*#ppt_h)"/>
                                          </p:val>
                                        </p:tav>
                                      </p:tavLst>
                                    </p:anim>
                                    <p:anim calcmode="lin" valueType="num">
                                      <p:cBhvr>
                                        <p:cTn id="10" dur="8" decel="50000" autoRev="1" fill="hold">
                                          <p:stCondLst>
                                            <p:cond delay="23"/>
                                          </p:stCondLst>
                                        </p:cTn>
                                        <p:tgtEl>
                                          <p:spTgt spid="3">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7" fill="hold">
                                          <p:stCondLst>
                                            <p:cond delay="43"/>
                                          </p:stCondLst>
                                        </p:cTn>
                                        <p:tgtEl>
                                          <p:spTgt spid="3">
                                            <p:txEl>
                                              <p:pRg st="0" end="0"/>
                                            </p:txEl>
                                          </p:spTgt>
                                        </p:tgtEl>
                                        <p:attrNameLst>
                                          <p:attrName>ppt_y</p:attrName>
                                        </p:attrNameLst>
                                      </p:cBhvr>
                                      <p:tavLst>
                                        <p:tav tm="0">
                                          <p:val>
                                            <p:strVal val="#ppt_y-(0.354*#ppt_w-0.172*#ppt_h)"/>
                                          </p:val>
                                        </p:tav>
                                        <p:tav tm="100000">
                                          <p:val>
                                            <p:strVal val="#ppt_y"/>
                                          </p:val>
                                        </p:tav>
                                      </p:tavLst>
                                    </p:anim>
                                  </p:childTnLst>
                                </p:cTn>
                              </p:par>
                              <p:par>
                                <p:cTn id="12" presetID="38" presetClass="entr" presetSubtype="0" accel="50000" fill="hold" nodeType="withEffect">
                                  <p:stCondLst>
                                    <p:cond delay="0"/>
                                  </p:stCondLst>
                                  <p:iterate type="lt">
                                    <p:tmPct val="50000"/>
                                  </p:iterate>
                                  <p:childTnLst>
                                    <p:set>
                                      <p:cBhvr>
                                        <p:cTn id="13" dur="1" fill="hold">
                                          <p:stCondLst>
                                            <p:cond delay="0"/>
                                          </p:stCondLst>
                                        </p:cTn>
                                        <p:tgtEl>
                                          <p:spTgt spid="3">
                                            <p:txEl>
                                              <p:pRg st="1" end="1"/>
                                            </p:txEl>
                                          </p:spTgt>
                                        </p:tgtEl>
                                        <p:attrNameLst>
                                          <p:attrName>style.visibility</p:attrName>
                                        </p:attrNameLst>
                                      </p:cBhvr>
                                      <p:to>
                                        <p:strVal val="visible"/>
                                      </p:to>
                                    </p:set>
                                    <p:set>
                                      <p:cBhvr>
                                        <p:cTn id="14" dur="23" fill="hold">
                                          <p:stCondLst>
                                            <p:cond delay="0"/>
                                          </p:stCondLst>
                                        </p:cTn>
                                        <p:tgtEl>
                                          <p:spTgt spid="3">
                                            <p:txEl>
                                              <p:pRg st="1" end="1"/>
                                            </p:txEl>
                                          </p:spTgt>
                                        </p:tgtEl>
                                        <p:attrNameLst>
                                          <p:attrName>style.rotation</p:attrName>
                                        </p:attrNameLst>
                                      </p:cBhvr>
                                      <p:to>
                                        <p:strVal val="-45.0"/>
                                      </p:to>
                                    </p:set>
                                    <p:anim calcmode="lin" valueType="num">
                                      <p:cBhvr>
                                        <p:cTn id="15" dur="23" fill="hold">
                                          <p:stCondLst>
                                            <p:cond delay="23"/>
                                          </p:stCondLst>
                                        </p:cTn>
                                        <p:tgtEl>
                                          <p:spTgt spid="3">
                                            <p:txEl>
                                              <p:pRg st="1" end="1"/>
                                            </p:txEl>
                                          </p:spTgt>
                                        </p:tgtEl>
                                        <p:attrNameLst>
                                          <p:attrName>style.rotation</p:attrName>
                                        </p:attrNameLst>
                                      </p:cBhvr>
                                      <p:tavLst>
                                        <p:tav tm="0">
                                          <p:val>
                                            <p:fltVal val="-45"/>
                                          </p:val>
                                        </p:tav>
                                        <p:tav tm="69900">
                                          <p:val>
                                            <p:fltVal val="45"/>
                                          </p:val>
                                        </p:tav>
                                        <p:tav tm="100000">
                                          <p:val>
                                            <p:fltVal val="0"/>
                                          </p:val>
                                        </p:tav>
                                      </p:tavLst>
                                    </p:anim>
                                    <p:anim calcmode="lin" valueType="num">
                                      <p:cBhvr>
                                        <p:cTn id="16" dur="23" fill="hold">
                                          <p:stCondLst>
                                            <p:cond delay="0"/>
                                          </p:stCondLst>
                                        </p:cTn>
                                        <p:tgtEl>
                                          <p:spTgt spid="3">
                                            <p:txEl>
                                              <p:pRg st="1" end="1"/>
                                            </p:txEl>
                                          </p:spTgt>
                                        </p:tgtEl>
                                        <p:attrNameLst>
                                          <p:attrName>ppt_y</p:attrName>
                                        </p:attrNameLst>
                                      </p:cBhvr>
                                      <p:tavLst>
                                        <p:tav tm="0">
                                          <p:val>
                                            <p:strVal val="#ppt_y-1"/>
                                          </p:val>
                                        </p:tav>
                                        <p:tav tm="100000">
                                          <p:val>
                                            <p:strVal val="#ppt_y-(0.354*#ppt_w-0.172*#ppt_h)"/>
                                          </p:val>
                                        </p:tav>
                                      </p:tavLst>
                                    </p:anim>
                                    <p:anim calcmode="lin" valueType="num">
                                      <p:cBhvr>
                                        <p:cTn id="17" dur="8" decel="50000" autoRev="1" fill="hold">
                                          <p:stCondLst>
                                            <p:cond delay="23"/>
                                          </p:stCondLst>
                                        </p:cTn>
                                        <p:tgtEl>
                                          <p:spTgt spid="3">
                                            <p:txEl>
                                              <p:pRg st="1" end="1"/>
                                            </p:txEl>
                                          </p:spTgt>
                                        </p:tgtEl>
                                        <p:attrNameLst>
                                          <p:attrName>ppt_y</p:attrName>
                                        </p:attrNameLst>
                                      </p:cBhvr>
                                      <p:tavLst>
                                        <p:tav tm="0">
                                          <p:val>
                                            <p:strVal val="#ppt_y-(0.354*#ppt_w-0.172*#ppt_h)"/>
                                          </p:val>
                                        </p:tav>
                                        <p:tav tm="100000">
                                          <p:val>
                                            <p:strVal val="#ppt_y-(0.354*#ppt_w-0.172*#ppt_h)-#ppt_h/2"/>
                                          </p:val>
                                        </p:tav>
                                      </p:tavLst>
                                    </p:anim>
                                    <p:anim calcmode="lin" valueType="num">
                                      <p:cBhvr>
                                        <p:cTn id="18" dur="7" fill="hold">
                                          <p:stCondLst>
                                            <p:cond delay="43"/>
                                          </p:stCondLst>
                                        </p:cTn>
                                        <p:tgtEl>
                                          <p:spTgt spid="3">
                                            <p:txEl>
                                              <p:pRg st="1" end="1"/>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animEffect transition="in" filter="wipe(down)">
                                      <p:cBhvr>
                                        <p:cTn id="23" dur="580">
                                          <p:stCondLst>
                                            <p:cond delay="0"/>
                                          </p:stCondLst>
                                        </p:cTn>
                                        <p:tgtEl>
                                          <p:spTgt spid="1026"/>
                                        </p:tgtEl>
                                      </p:cBhvr>
                                    </p:animEffect>
                                    <p:anim calcmode="lin" valueType="num">
                                      <p:cBhvr>
                                        <p:cTn id="24" dur="1822" tmFilter="0,0; 0.14,0.36; 0.43,0.73; 0.71,0.91; 1.0,1.0">
                                          <p:stCondLst>
                                            <p:cond delay="0"/>
                                          </p:stCondLst>
                                        </p:cTn>
                                        <p:tgtEl>
                                          <p:spTgt spid="1026"/>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026"/>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026"/>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026"/>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026"/>
                                        </p:tgtEl>
                                        <p:attrNameLst>
                                          <p:attrName>ppt_y</p:attrName>
                                        </p:attrNameLst>
                                      </p:cBhvr>
                                      <p:tavLst>
                                        <p:tav tm="0" fmla="#ppt_y-sin(pi*$)/81">
                                          <p:val>
                                            <p:fltVal val="0"/>
                                          </p:val>
                                        </p:tav>
                                        <p:tav tm="100000">
                                          <p:val>
                                            <p:fltVal val="1"/>
                                          </p:val>
                                        </p:tav>
                                      </p:tavLst>
                                    </p:anim>
                                    <p:animScale>
                                      <p:cBhvr>
                                        <p:cTn id="29" dur="26">
                                          <p:stCondLst>
                                            <p:cond delay="650"/>
                                          </p:stCondLst>
                                        </p:cTn>
                                        <p:tgtEl>
                                          <p:spTgt spid="1026"/>
                                        </p:tgtEl>
                                      </p:cBhvr>
                                      <p:to x="100000" y="60000"/>
                                    </p:animScale>
                                    <p:animScale>
                                      <p:cBhvr>
                                        <p:cTn id="30" dur="166" decel="50000">
                                          <p:stCondLst>
                                            <p:cond delay="676"/>
                                          </p:stCondLst>
                                        </p:cTn>
                                        <p:tgtEl>
                                          <p:spTgt spid="1026"/>
                                        </p:tgtEl>
                                      </p:cBhvr>
                                      <p:to x="100000" y="100000"/>
                                    </p:animScale>
                                    <p:animScale>
                                      <p:cBhvr>
                                        <p:cTn id="31" dur="26">
                                          <p:stCondLst>
                                            <p:cond delay="1312"/>
                                          </p:stCondLst>
                                        </p:cTn>
                                        <p:tgtEl>
                                          <p:spTgt spid="1026"/>
                                        </p:tgtEl>
                                      </p:cBhvr>
                                      <p:to x="100000" y="80000"/>
                                    </p:animScale>
                                    <p:animScale>
                                      <p:cBhvr>
                                        <p:cTn id="32" dur="166" decel="50000">
                                          <p:stCondLst>
                                            <p:cond delay="1338"/>
                                          </p:stCondLst>
                                        </p:cTn>
                                        <p:tgtEl>
                                          <p:spTgt spid="1026"/>
                                        </p:tgtEl>
                                      </p:cBhvr>
                                      <p:to x="100000" y="100000"/>
                                    </p:animScale>
                                    <p:animScale>
                                      <p:cBhvr>
                                        <p:cTn id="33" dur="26">
                                          <p:stCondLst>
                                            <p:cond delay="1642"/>
                                          </p:stCondLst>
                                        </p:cTn>
                                        <p:tgtEl>
                                          <p:spTgt spid="1026"/>
                                        </p:tgtEl>
                                      </p:cBhvr>
                                      <p:to x="100000" y="90000"/>
                                    </p:animScale>
                                    <p:animScale>
                                      <p:cBhvr>
                                        <p:cTn id="34" dur="166" decel="50000">
                                          <p:stCondLst>
                                            <p:cond delay="1668"/>
                                          </p:stCondLst>
                                        </p:cTn>
                                        <p:tgtEl>
                                          <p:spTgt spid="1026"/>
                                        </p:tgtEl>
                                      </p:cBhvr>
                                      <p:to x="100000" y="100000"/>
                                    </p:animScale>
                                    <p:animScale>
                                      <p:cBhvr>
                                        <p:cTn id="35" dur="26">
                                          <p:stCondLst>
                                            <p:cond delay="1808"/>
                                          </p:stCondLst>
                                        </p:cTn>
                                        <p:tgtEl>
                                          <p:spTgt spid="1026"/>
                                        </p:tgtEl>
                                      </p:cBhvr>
                                      <p:to x="100000" y="95000"/>
                                    </p:animScale>
                                    <p:animScale>
                                      <p:cBhvr>
                                        <p:cTn id="36" dur="166" decel="50000">
                                          <p:stCondLst>
                                            <p:cond delay="1834"/>
                                          </p:stCondLst>
                                        </p:cTn>
                                        <p:tgtEl>
                                          <p:spTgt spid="1026"/>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down)">
                                      <p:cBhvr>
                                        <p:cTn id="39" dur="580">
                                          <p:stCondLst>
                                            <p:cond delay="0"/>
                                          </p:stCondLst>
                                        </p:cTn>
                                        <p:tgtEl>
                                          <p:spTgt spid="7"/>
                                        </p:tgtEl>
                                      </p:cBhvr>
                                    </p:animEffect>
                                    <p:anim calcmode="lin" valueType="num">
                                      <p:cBhvr>
                                        <p:cTn id="4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45" dur="26">
                                          <p:stCondLst>
                                            <p:cond delay="650"/>
                                          </p:stCondLst>
                                        </p:cTn>
                                        <p:tgtEl>
                                          <p:spTgt spid="7"/>
                                        </p:tgtEl>
                                      </p:cBhvr>
                                      <p:to x="100000" y="60000"/>
                                    </p:animScale>
                                    <p:animScale>
                                      <p:cBhvr>
                                        <p:cTn id="46" dur="166" decel="50000">
                                          <p:stCondLst>
                                            <p:cond delay="676"/>
                                          </p:stCondLst>
                                        </p:cTn>
                                        <p:tgtEl>
                                          <p:spTgt spid="7"/>
                                        </p:tgtEl>
                                      </p:cBhvr>
                                      <p:to x="100000" y="100000"/>
                                    </p:animScale>
                                    <p:animScale>
                                      <p:cBhvr>
                                        <p:cTn id="47" dur="26">
                                          <p:stCondLst>
                                            <p:cond delay="1312"/>
                                          </p:stCondLst>
                                        </p:cTn>
                                        <p:tgtEl>
                                          <p:spTgt spid="7"/>
                                        </p:tgtEl>
                                      </p:cBhvr>
                                      <p:to x="100000" y="80000"/>
                                    </p:animScale>
                                    <p:animScale>
                                      <p:cBhvr>
                                        <p:cTn id="48" dur="166" decel="50000">
                                          <p:stCondLst>
                                            <p:cond delay="1338"/>
                                          </p:stCondLst>
                                        </p:cTn>
                                        <p:tgtEl>
                                          <p:spTgt spid="7"/>
                                        </p:tgtEl>
                                      </p:cBhvr>
                                      <p:to x="100000" y="100000"/>
                                    </p:animScale>
                                    <p:animScale>
                                      <p:cBhvr>
                                        <p:cTn id="49" dur="26">
                                          <p:stCondLst>
                                            <p:cond delay="1642"/>
                                          </p:stCondLst>
                                        </p:cTn>
                                        <p:tgtEl>
                                          <p:spTgt spid="7"/>
                                        </p:tgtEl>
                                      </p:cBhvr>
                                      <p:to x="100000" y="90000"/>
                                    </p:animScale>
                                    <p:animScale>
                                      <p:cBhvr>
                                        <p:cTn id="50" dur="166" decel="50000">
                                          <p:stCondLst>
                                            <p:cond delay="1668"/>
                                          </p:stCondLst>
                                        </p:cTn>
                                        <p:tgtEl>
                                          <p:spTgt spid="7"/>
                                        </p:tgtEl>
                                      </p:cBhvr>
                                      <p:to x="100000" y="100000"/>
                                    </p:animScale>
                                    <p:animScale>
                                      <p:cBhvr>
                                        <p:cTn id="51" dur="26">
                                          <p:stCondLst>
                                            <p:cond delay="1808"/>
                                          </p:stCondLst>
                                        </p:cTn>
                                        <p:tgtEl>
                                          <p:spTgt spid="7"/>
                                        </p:tgtEl>
                                      </p:cBhvr>
                                      <p:to x="100000" y="95000"/>
                                    </p:animScale>
                                    <p:animScale>
                                      <p:cBhvr>
                                        <p:cTn id="52"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10831" y="0"/>
            <a:ext cx="7766936" cy="1646302"/>
          </a:xfrm>
        </p:spPr>
        <p:txBody>
          <a:bodyPr/>
          <a:lstStyle/>
          <a:p>
            <a:pPr algn="just"/>
            <a:r>
              <a:rPr lang="es-MX" dirty="0"/>
              <a:t>ENSAMBLADORES Y MACROPROCESADORES</a:t>
            </a:r>
          </a:p>
        </p:txBody>
      </p:sp>
      <p:sp>
        <p:nvSpPr>
          <p:cNvPr id="3" name="Subtítulo 2"/>
          <p:cNvSpPr>
            <a:spLocks noGrp="1"/>
          </p:cNvSpPr>
          <p:nvPr>
            <p:ph type="subTitle" idx="1"/>
          </p:nvPr>
        </p:nvSpPr>
        <p:spPr>
          <a:xfrm>
            <a:off x="715618" y="2047742"/>
            <a:ext cx="9223512" cy="1828799"/>
          </a:xfrm>
        </p:spPr>
        <p:txBody>
          <a:bodyPr>
            <a:normAutofit/>
          </a:bodyPr>
          <a:lstStyle/>
          <a:p>
            <a:pPr algn="just"/>
            <a:r>
              <a:rPr lang="es-MX" dirty="0">
                <a:solidFill>
                  <a:schemeClr val="tx1"/>
                </a:solidFill>
              </a:rPr>
              <a:t>Son los pioneros de los compiladores, ya que en los albores de la informática, los programas se escribían directamente en código máquina, y el primer paso hacia los lenguajes de alto nivel lo constituyen los ensambladores. </a:t>
            </a:r>
          </a:p>
          <a:p>
            <a:pPr algn="just"/>
            <a:r>
              <a:rPr lang="es-MX" b="1" dirty="0">
                <a:solidFill>
                  <a:schemeClr val="tx1"/>
                </a:solidFill>
              </a:rPr>
              <a:t>(Sergio Gálvez Rojas &amp; Miguel Ángel Mora Mata 2005)</a:t>
            </a:r>
            <a:endParaRPr lang="es-MX" dirty="0">
              <a:solidFill>
                <a:schemeClr val="tx1"/>
              </a:solidFill>
            </a:endParaRPr>
          </a:p>
          <a:p>
            <a:pPr algn="just"/>
            <a:endParaRPr lang="es-MX" dirty="0">
              <a:solidFill>
                <a:schemeClr val="tx1"/>
              </a:solidFill>
            </a:endParaRPr>
          </a:p>
        </p:txBody>
      </p:sp>
      <p:sp>
        <p:nvSpPr>
          <p:cNvPr id="5" name="Marcador de número de diapositiva 4"/>
          <p:cNvSpPr>
            <a:spLocks noGrp="1"/>
          </p:cNvSpPr>
          <p:nvPr>
            <p:ph type="sldNum" sz="quarter" idx="12"/>
          </p:nvPr>
        </p:nvSpPr>
        <p:spPr>
          <a:xfrm>
            <a:off x="11753360" y="6492874"/>
            <a:ext cx="683339" cy="365125"/>
          </a:xfrm>
        </p:spPr>
        <p:txBody>
          <a:bodyPr/>
          <a:lstStyle/>
          <a:p>
            <a:pPr algn="just"/>
            <a:fld id="{5B6304BD-7E5E-452F-B95B-B399F4ABBCE9}" type="slidenum">
              <a:rPr lang="es-MX" sz="3200" smtClean="0">
                <a:solidFill>
                  <a:srgbClr val="FF0000"/>
                </a:solidFill>
              </a:rPr>
              <a:pPr algn="just"/>
              <a:t>3</a:t>
            </a:fld>
            <a:endParaRPr lang="es-MX" sz="3200" dirty="0">
              <a:solidFill>
                <a:srgbClr val="FF0000"/>
              </a:solidFill>
            </a:endParaRPr>
          </a:p>
        </p:txBody>
      </p:sp>
      <p:pic>
        <p:nvPicPr>
          <p:cNvPr id="2050" name="Picture 2" descr="Resultado de imagen para ensambladores informatic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426" y="3756386"/>
            <a:ext cx="3889419" cy="1815921"/>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p:cNvSpPr/>
          <p:nvPr/>
        </p:nvSpPr>
        <p:spPr>
          <a:xfrm>
            <a:off x="167426" y="5663459"/>
            <a:ext cx="3889419" cy="646331"/>
          </a:xfrm>
          <a:prstGeom prst="rect">
            <a:avLst/>
          </a:prstGeom>
        </p:spPr>
        <p:txBody>
          <a:bodyPr wrap="square">
            <a:spAutoFit/>
          </a:bodyPr>
          <a:lstStyle/>
          <a:p>
            <a:pPr algn="just"/>
            <a:r>
              <a:rPr lang="es-MX" dirty="0"/>
              <a:t>http://jdavideb.blogspot.mx/2012/11/lenguajes-de-bajo-nivel.html</a:t>
            </a:r>
          </a:p>
        </p:txBody>
      </p:sp>
      <p:pic>
        <p:nvPicPr>
          <p:cNvPr id="7" name="Imagen 6"/>
          <p:cNvPicPr>
            <a:picLocks noChangeAspect="1"/>
          </p:cNvPicPr>
          <p:nvPr/>
        </p:nvPicPr>
        <p:blipFill>
          <a:blip r:embed="rId4"/>
          <a:stretch>
            <a:fillRect/>
          </a:stretch>
        </p:blipFill>
        <p:spPr>
          <a:xfrm>
            <a:off x="6749985" y="3876541"/>
            <a:ext cx="3889419" cy="1815921"/>
          </a:xfrm>
          <a:prstGeom prst="rect">
            <a:avLst/>
          </a:prstGeom>
        </p:spPr>
      </p:pic>
      <p:sp>
        <p:nvSpPr>
          <p:cNvPr id="8" name="Rectángulo 7"/>
          <p:cNvSpPr/>
          <p:nvPr/>
        </p:nvSpPr>
        <p:spPr>
          <a:xfrm>
            <a:off x="6749985" y="5580941"/>
            <a:ext cx="3889419" cy="923330"/>
          </a:xfrm>
          <a:prstGeom prst="rect">
            <a:avLst/>
          </a:prstGeom>
        </p:spPr>
        <p:txBody>
          <a:bodyPr wrap="square">
            <a:spAutoFit/>
          </a:bodyPr>
          <a:lstStyle/>
          <a:p>
            <a:pPr algn="just"/>
            <a:r>
              <a:rPr lang="es-MX" dirty="0"/>
              <a:t>https://mx.depositphotos.com/27992317/stock-photo-macro-processor.html</a:t>
            </a:r>
          </a:p>
        </p:txBody>
      </p:sp>
    </p:spTree>
    <p:extLst>
      <p:ext uri="{BB962C8B-B14F-4D97-AF65-F5344CB8AC3E}">
        <p14:creationId xmlns:p14="http://schemas.microsoft.com/office/powerpoint/2010/main" val="737240350"/>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0" nodeType="clickEffect">
                                  <p:stCondLst>
                                    <p:cond delay="0"/>
                                  </p:stCondLst>
                                  <p:iterate type="lt">
                                    <p:tmPct val="50000"/>
                                  </p:iterate>
                                  <p:childTnLst>
                                    <p:set>
                                      <p:cBhvr>
                                        <p:cTn id="6" dur="1" fill="hold">
                                          <p:stCondLst>
                                            <p:cond delay="0"/>
                                          </p:stCondLst>
                                        </p:cTn>
                                        <p:tgtEl>
                                          <p:spTgt spid="3">
                                            <p:txEl>
                                              <p:pRg st="0" end="0"/>
                                            </p:txEl>
                                          </p:spTgt>
                                        </p:tgtEl>
                                        <p:attrNameLst>
                                          <p:attrName>style.visibility</p:attrName>
                                        </p:attrNameLst>
                                      </p:cBhvr>
                                      <p:to>
                                        <p:strVal val="visible"/>
                                      </p:to>
                                    </p:set>
                                    <p:set>
                                      <p:cBhvr>
                                        <p:cTn id="7" dur="23" fill="hold">
                                          <p:stCondLst>
                                            <p:cond delay="0"/>
                                          </p:stCondLst>
                                        </p:cTn>
                                        <p:tgtEl>
                                          <p:spTgt spid="3">
                                            <p:txEl>
                                              <p:pRg st="0" end="0"/>
                                            </p:txEl>
                                          </p:spTgt>
                                        </p:tgtEl>
                                        <p:attrNameLst>
                                          <p:attrName>style.rotation</p:attrName>
                                        </p:attrNameLst>
                                      </p:cBhvr>
                                      <p:to>
                                        <p:strVal val="-45.0"/>
                                      </p:to>
                                    </p:set>
                                    <p:anim calcmode="lin" valueType="num">
                                      <p:cBhvr>
                                        <p:cTn id="8" dur="23" fill="hold">
                                          <p:stCondLst>
                                            <p:cond delay="23"/>
                                          </p:stCondLst>
                                        </p:cTn>
                                        <p:tgtEl>
                                          <p:spTgt spid="3">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23" fill="hold">
                                          <p:stCondLst>
                                            <p:cond delay="0"/>
                                          </p:stCondLst>
                                        </p:cTn>
                                        <p:tgtEl>
                                          <p:spTgt spid="3">
                                            <p:txEl>
                                              <p:pRg st="0" end="0"/>
                                            </p:txEl>
                                          </p:spTgt>
                                        </p:tgtEl>
                                        <p:attrNameLst>
                                          <p:attrName>ppt_y</p:attrName>
                                        </p:attrNameLst>
                                      </p:cBhvr>
                                      <p:tavLst>
                                        <p:tav tm="0">
                                          <p:val>
                                            <p:strVal val="#ppt_y-1"/>
                                          </p:val>
                                        </p:tav>
                                        <p:tav tm="100000">
                                          <p:val>
                                            <p:strVal val="#ppt_y-(0.354*#ppt_w-0.172*#ppt_h)"/>
                                          </p:val>
                                        </p:tav>
                                      </p:tavLst>
                                    </p:anim>
                                    <p:anim calcmode="lin" valueType="num">
                                      <p:cBhvr>
                                        <p:cTn id="10" dur="8" decel="50000" autoRev="1" fill="hold">
                                          <p:stCondLst>
                                            <p:cond delay="23"/>
                                          </p:stCondLst>
                                        </p:cTn>
                                        <p:tgtEl>
                                          <p:spTgt spid="3">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7" fill="hold">
                                          <p:stCondLst>
                                            <p:cond delay="43"/>
                                          </p:stCondLst>
                                        </p:cTn>
                                        <p:tgtEl>
                                          <p:spTgt spid="3">
                                            <p:txEl>
                                              <p:pRg st="0" end="0"/>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38" presetClass="entr" presetSubtype="0" accel="50000" fill="hold" grpId="0" nodeType="clickEffect">
                                  <p:stCondLst>
                                    <p:cond delay="0"/>
                                  </p:stCondLst>
                                  <p:iterate type="lt">
                                    <p:tmPct val="50000"/>
                                  </p:iterate>
                                  <p:childTnLst>
                                    <p:set>
                                      <p:cBhvr>
                                        <p:cTn id="15" dur="1" fill="hold">
                                          <p:stCondLst>
                                            <p:cond delay="0"/>
                                          </p:stCondLst>
                                        </p:cTn>
                                        <p:tgtEl>
                                          <p:spTgt spid="3">
                                            <p:txEl>
                                              <p:pRg st="1" end="1"/>
                                            </p:txEl>
                                          </p:spTgt>
                                        </p:tgtEl>
                                        <p:attrNameLst>
                                          <p:attrName>style.visibility</p:attrName>
                                        </p:attrNameLst>
                                      </p:cBhvr>
                                      <p:to>
                                        <p:strVal val="visible"/>
                                      </p:to>
                                    </p:set>
                                    <p:set>
                                      <p:cBhvr>
                                        <p:cTn id="16" dur="23" fill="hold">
                                          <p:stCondLst>
                                            <p:cond delay="0"/>
                                          </p:stCondLst>
                                        </p:cTn>
                                        <p:tgtEl>
                                          <p:spTgt spid="3">
                                            <p:txEl>
                                              <p:pRg st="1" end="1"/>
                                            </p:txEl>
                                          </p:spTgt>
                                        </p:tgtEl>
                                        <p:attrNameLst>
                                          <p:attrName>style.rotation</p:attrName>
                                        </p:attrNameLst>
                                      </p:cBhvr>
                                      <p:to>
                                        <p:strVal val="-45.0"/>
                                      </p:to>
                                    </p:set>
                                    <p:anim calcmode="lin" valueType="num">
                                      <p:cBhvr>
                                        <p:cTn id="17" dur="23" fill="hold">
                                          <p:stCondLst>
                                            <p:cond delay="23"/>
                                          </p:stCondLst>
                                        </p:cTn>
                                        <p:tgtEl>
                                          <p:spTgt spid="3">
                                            <p:txEl>
                                              <p:pRg st="1" end="1"/>
                                            </p:txEl>
                                          </p:spTgt>
                                        </p:tgtEl>
                                        <p:attrNameLst>
                                          <p:attrName>style.rotation</p:attrName>
                                        </p:attrNameLst>
                                      </p:cBhvr>
                                      <p:tavLst>
                                        <p:tav tm="0">
                                          <p:val>
                                            <p:fltVal val="-45"/>
                                          </p:val>
                                        </p:tav>
                                        <p:tav tm="69900">
                                          <p:val>
                                            <p:fltVal val="45"/>
                                          </p:val>
                                        </p:tav>
                                        <p:tav tm="100000">
                                          <p:val>
                                            <p:fltVal val="0"/>
                                          </p:val>
                                        </p:tav>
                                      </p:tavLst>
                                    </p:anim>
                                    <p:anim calcmode="lin" valueType="num">
                                      <p:cBhvr>
                                        <p:cTn id="18" dur="23" fill="hold">
                                          <p:stCondLst>
                                            <p:cond delay="0"/>
                                          </p:stCondLst>
                                        </p:cTn>
                                        <p:tgtEl>
                                          <p:spTgt spid="3">
                                            <p:txEl>
                                              <p:pRg st="1" end="1"/>
                                            </p:txEl>
                                          </p:spTgt>
                                        </p:tgtEl>
                                        <p:attrNameLst>
                                          <p:attrName>ppt_y</p:attrName>
                                        </p:attrNameLst>
                                      </p:cBhvr>
                                      <p:tavLst>
                                        <p:tav tm="0">
                                          <p:val>
                                            <p:strVal val="#ppt_y-1"/>
                                          </p:val>
                                        </p:tav>
                                        <p:tav tm="100000">
                                          <p:val>
                                            <p:strVal val="#ppt_y-(0.354*#ppt_w-0.172*#ppt_h)"/>
                                          </p:val>
                                        </p:tav>
                                      </p:tavLst>
                                    </p:anim>
                                    <p:anim calcmode="lin" valueType="num">
                                      <p:cBhvr>
                                        <p:cTn id="19" dur="8" decel="50000" autoRev="1" fill="hold">
                                          <p:stCondLst>
                                            <p:cond delay="23"/>
                                          </p:stCondLst>
                                        </p:cTn>
                                        <p:tgtEl>
                                          <p:spTgt spid="3">
                                            <p:txEl>
                                              <p:pRg st="1" end="1"/>
                                            </p:txEl>
                                          </p:spTgt>
                                        </p:tgtEl>
                                        <p:attrNameLst>
                                          <p:attrName>ppt_y</p:attrName>
                                        </p:attrNameLst>
                                      </p:cBhvr>
                                      <p:tavLst>
                                        <p:tav tm="0">
                                          <p:val>
                                            <p:strVal val="#ppt_y-(0.354*#ppt_w-0.172*#ppt_h)"/>
                                          </p:val>
                                        </p:tav>
                                        <p:tav tm="100000">
                                          <p:val>
                                            <p:strVal val="#ppt_y-(0.354*#ppt_w-0.172*#ppt_h)-#ppt_h/2"/>
                                          </p:val>
                                        </p:tav>
                                      </p:tavLst>
                                    </p:anim>
                                    <p:anim calcmode="lin" valueType="num">
                                      <p:cBhvr>
                                        <p:cTn id="20" dur="7" fill="hold">
                                          <p:stCondLst>
                                            <p:cond delay="43"/>
                                          </p:stCondLst>
                                        </p:cTn>
                                        <p:tgtEl>
                                          <p:spTgt spid="3">
                                            <p:txEl>
                                              <p:pRg st="1" end="1"/>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5" presetClass="entr" presetSubtype="0"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anim calcmode="lin" valueType="num">
                                      <p:cBhvr>
                                        <p:cTn id="25" dur="500" decel="50000" fill="hold">
                                          <p:stCondLst>
                                            <p:cond delay="0"/>
                                          </p:stCondLst>
                                        </p:cTn>
                                        <p:tgtEl>
                                          <p:spTgt spid="2050"/>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2050"/>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2050"/>
                                        </p:tgtEl>
                                        <p:attrNameLst>
                                          <p:attrName>ppt_w</p:attrName>
                                        </p:attrNameLst>
                                      </p:cBhvr>
                                      <p:tavLst>
                                        <p:tav tm="0">
                                          <p:val>
                                            <p:strVal val="#ppt_w*.05"/>
                                          </p:val>
                                        </p:tav>
                                        <p:tav tm="100000">
                                          <p:val>
                                            <p:strVal val="#ppt_w"/>
                                          </p:val>
                                        </p:tav>
                                      </p:tavLst>
                                    </p:anim>
                                    <p:anim calcmode="lin" valueType="num">
                                      <p:cBhvr>
                                        <p:cTn id="28" dur="1000" fill="hold"/>
                                        <p:tgtEl>
                                          <p:spTgt spid="2050"/>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2050"/>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2050"/>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2050"/>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2050"/>
                                        </p:tgtEl>
                                      </p:cBhvr>
                                    </p:animEffect>
                                  </p:childTnLst>
                                </p:cTn>
                              </p:par>
                              <p:par>
                                <p:cTn id="33" presetID="25"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36"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37"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38" dur="1000" fill="hold"/>
                                        <p:tgtEl>
                                          <p:spTgt spid="6"/>
                                        </p:tgtEl>
                                        <p:attrNameLst>
                                          <p:attrName>ppt_h</p:attrName>
                                        </p:attrNameLst>
                                      </p:cBhvr>
                                      <p:tavLst>
                                        <p:tav tm="0">
                                          <p:val>
                                            <p:strVal val="#ppt_h"/>
                                          </p:val>
                                        </p:tav>
                                        <p:tav tm="100000">
                                          <p:val>
                                            <p:strVal val="#ppt_h"/>
                                          </p:val>
                                        </p:tav>
                                      </p:tavLst>
                                    </p:anim>
                                    <p:anim calcmode="lin" valueType="num">
                                      <p:cBhvr>
                                        <p:cTn id="39"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40"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41"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42" dur="1000" decel="50000">
                                          <p:stCondLst>
                                            <p:cond delay="0"/>
                                          </p:stCondLst>
                                        </p:cTn>
                                        <p:tgtEl>
                                          <p:spTgt spid="6"/>
                                        </p:tgtEl>
                                      </p:cBhvr>
                                    </p:animEffect>
                                  </p:childTnLst>
                                </p:cTn>
                              </p:par>
                              <p:par>
                                <p:cTn id="43" presetID="25"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46"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47"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48" dur="1000" fill="hold"/>
                                        <p:tgtEl>
                                          <p:spTgt spid="7"/>
                                        </p:tgtEl>
                                        <p:attrNameLst>
                                          <p:attrName>ppt_h</p:attrName>
                                        </p:attrNameLst>
                                      </p:cBhvr>
                                      <p:tavLst>
                                        <p:tav tm="0">
                                          <p:val>
                                            <p:strVal val="#ppt_h"/>
                                          </p:val>
                                        </p:tav>
                                        <p:tav tm="100000">
                                          <p:val>
                                            <p:strVal val="#ppt_h"/>
                                          </p:val>
                                        </p:tav>
                                      </p:tavLst>
                                    </p:anim>
                                    <p:anim calcmode="lin" valueType="num">
                                      <p:cBhvr>
                                        <p:cTn id="49"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50"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51"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52" dur="1000" decel="50000">
                                          <p:stCondLst>
                                            <p:cond delay="0"/>
                                          </p:stCondLst>
                                        </p:cTn>
                                        <p:tgtEl>
                                          <p:spTgt spid="7"/>
                                        </p:tgtEl>
                                      </p:cBhvr>
                                    </p:animEffect>
                                  </p:childTnLst>
                                </p:cTn>
                              </p:par>
                              <p:par>
                                <p:cTn id="53" presetID="25"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p:cTn id="55"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56"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57"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58" dur="1000" fill="hold"/>
                                        <p:tgtEl>
                                          <p:spTgt spid="8"/>
                                        </p:tgtEl>
                                        <p:attrNameLst>
                                          <p:attrName>ppt_h</p:attrName>
                                        </p:attrNameLst>
                                      </p:cBhvr>
                                      <p:tavLst>
                                        <p:tav tm="0">
                                          <p:val>
                                            <p:strVal val="#ppt_h"/>
                                          </p:val>
                                        </p:tav>
                                        <p:tav tm="100000">
                                          <p:val>
                                            <p:strVal val="#ppt_h"/>
                                          </p:val>
                                        </p:tav>
                                      </p:tavLst>
                                    </p:anim>
                                    <p:anim calcmode="lin" valueType="num">
                                      <p:cBhvr>
                                        <p:cTn id="59"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60"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61"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62" dur="1000" decel="50000">
                                          <p:stCondLst>
                                            <p:cond delay="0"/>
                                          </p:stCondLst>
                                        </p:cTn>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404036" y="0"/>
            <a:ext cx="7766936" cy="862885"/>
          </a:xfrm>
        </p:spPr>
        <p:txBody>
          <a:bodyPr/>
          <a:lstStyle/>
          <a:p>
            <a:pPr algn="just"/>
            <a:r>
              <a:rPr lang="es-MX" dirty="0"/>
              <a:t>COMPILADORES	</a:t>
            </a:r>
          </a:p>
        </p:txBody>
      </p:sp>
      <p:pic>
        <p:nvPicPr>
          <p:cNvPr id="7" name="Imagen 6"/>
          <p:cNvPicPr>
            <a:picLocks noChangeAspect="1"/>
          </p:cNvPicPr>
          <p:nvPr/>
        </p:nvPicPr>
        <p:blipFill>
          <a:blip r:embed="rId3"/>
          <a:stretch>
            <a:fillRect/>
          </a:stretch>
        </p:blipFill>
        <p:spPr>
          <a:xfrm>
            <a:off x="2266682" y="1918952"/>
            <a:ext cx="6748530" cy="2910625"/>
          </a:xfrm>
          <a:prstGeom prst="rect">
            <a:avLst/>
          </a:prstGeom>
        </p:spPr>
      </p:pic>
      <p:sp>
        <p:nvSpPr>
          <p:cNvPr id="5" name="Marcador de número de diapositiva 4"/>
          <p:cNvSpPr>
            <a:spLocks noGrp="1"/>
          </p:cNvSpPr>
          <p:nvPr>
            <p:ph type="sldNum" sz="quarter" idx="12"/>
          </p:nvPr>
        </p:nvSpPr>
        <p:spPr>
          <a:xfrm>
            <a:off x="11508661" y="6492874"/>
            <a:ext cx="683339" cy="365125"/>
          </a:xfrm>
        </p:spPr>
        <p:txBody>
          <a:bodyPr/>
          <a:lstStyle/>
          <a:p>
            <a:fld id="{5B6304BD-7E5E-452F-B95B-B399F4ABBCE9}" type="slidenum">
              <a:rPr lang="es-MX" sz="3200" smtClean="0">
                <a:solidFill>
                  <a:srgbClr val="FF0000"/>
                </a:solidFill>
              </a:rPr>
              <a:t>4</a:t>
            </a:fld>
            <a:endParaRPr lang="es-MX" sz="3200" dirty="0">
              <a:solidFill>
                <a:srgbClr val="FF0000"/>
              </a:solidFill>
            </a:endParaRPr>
          </a:p>
        </p:txBody>
      </p:sp>
      <p:sp>
        <p:nvSpPr>
          <p:cNvPr id="9" name="Rectángulo 8"/>
          <p:cNvSpPr/>
          <p:nvPr/>
        </p:nvSpPr>
        <p:spPr>
          <a:xfrm>
            <a:off x="2266682" y="4829577"/>
            <a:ext cx="6748530" cy="646331"/>
          </a:xfrm>
          <a:prstGeom prst="rect">
            <a:avLst/>
          </a:prstGeom>
        </p:spPr>
        <p:txBody>
          <a:bodyPr wrap="square">
            <a:spAutoFit/>
          </a:bodyPr>
          <a:lstStyle/>
          <a:p>
            <a:pPr algn="just"/>
            <a:r>
              <a:rPr lang="es-MX" dirty="0"/>
              <a:t>http://ingsistemascompilador.blogspot.mx/p/usos-y-funcion-de-los-compiladores.html</a:t>
            </a:r>
          </a:p>
        </p:txBody>
      </p:sp>
    </p:spTree>
    <p:extLst>
      <p:ext uri="{BB962C8B-B14F-4D97-AF65-F5344CB8AC3E}">
        <p14:creationId xmlns:p14="http://schemas.microsoft.com/office/powerpoint/2010/main" val="398391151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0"/>
                                        <p:tgtEl>
                                          <p:spTgt spid="9"/>
                                        </p:tgtEl>
                                      </p:cBhvr>
                                    </p:animEffect>
                                    <p:anim calcmode="lin" valueType="num">
                                      <p:cBhvr>
                                        <p:cTn id="13" dur="2000" fill="hold"/>
                                        <p:tgtEl>
                                          <p:spTgt spid="9"/>
                                        </p:tgtEl>
                                        <p:attrNameLst>
                                          <p:attrName>ppt_w</p:attrName>
                                        </p:attrNameLst>
                                      </p:cBhvr>
                                      <p:tavLst>
                                        <p:tav tm="0" fmla="#ppt_w*sin(2.5*pi*$)">
                                          <p:val>
                                            <p:fltVal val="0"/>
                                          </p:val>
                                        </p:tav>
                                        <p:tav tm="100000">
                                          <p:val>
                                            <p:fltVal val="1"/>
                                          </p:val>
                                        </p:tav>
                                      </p:tavLst>
                                    </p:anim>
                                    <p:anim calcmode="lin" valueType="num">
                                      <p:cBhvr>
                                        <p:cTn id="14" dur="2000" fill="hold"/>
                                        <p:tgtEl>
                                          <p:spTgt spid="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84340" y="1615337"/>
            <a:ext cx="7766936" cy="862885"/>
          </a:xfrm>
        </p:spPr>
        <p:txBody>
          <a:bodyPr/>
          <a:lstStyle/>
          <a:p>
            <a:pPr algn="just"/>
            <a:r>
              <a:rPr lang="es-MX" b="1" dirty="0"/>
              <a:t> </a:t>
            </a:r>
            <a:br>
              <a:rPr lang="es-MX" dirty="0"/>
            </a:br>
            <a:r>
              <a:rPr lang="es-MX" b="1" dirty="0"/>
              <a:t>Sistemas de control de entrada/salida</a:t>
            </a:r>
            <a:br>
              <a:rPr lang="es-MX" dirty="0"/>
            </a:br>
            <a:endParaRPr lang="es-MX" dirty="0"/>
          </a:p>
        </p:txBody>
      </p:sp>
      <p:sp>
        <p:nvSpPr>
          <p:cNvPr id="5" name="Marcador de número de diapositiva 4"/>
          <p:cNvSpPr>
            <a:spLocks noGrp="1"/>
          </p:cNvSpPr>
          <p:nvPr>
            <p:ph type="sldNum" sz="quarter" idx="12"/>
          </p:nvPr>
        </p:nvSpPr>
        <p:spPr>
          <a:xfrm>
            <a:off x="11508661" y="6492874"/>
            <a:ext cx="683339" cy="365125"/>
          </a:xfrm>
        </p:spPr>
        <p:txBody>
          <a:bodyPr/>
          <a:lstStyle/>
          <a:p>
            <a:fld id="{5B6304BD-7E5E-452F-B95B-B399F4ABBCE9}" type="slidenum">
              <a:rPr lang="es-MX" sz="3200" smtClean="0">
                <a:solidFill>
                  <a:srgbClr val="FF0000"/>
                </a:solidFill>
              </a:rPr>
              <a:t>5</a:t>
            </a:fld>
            <a:endParaRPr lang="es-MX" sz="3200" dirty="0">
              <a:solidFill>
                <a:srgbClr val="FF0000"/>
              </a:solidFill>
            </a:endParaRPr>
          </a:p>
        </p:txBody>
      </p:sp>
      <p:sp>
        <p:nvSpPr>
          <p:cNvPr id="8" name="Subtítulo 2"/>
          <p:cNvSpPr>
            <a:spLocks noGrp="1"/>
          </p:cNvSpPr>
          <p:nvPr>
            <p:ph type="subTitle" idx="1"/>
          </p:nvPr>
        </p:nvSpPr>
        <p:spPr>
          <a:xfrm>
            <a:off x="1093304" y="2206486"/>
            <a:ext cx="9541566" cy="3856384"/>
          </a:xfrm>
        </p:spPr>
        <p:txBody>
          <a:bodyPr>
            <a:noAutofit/>
          </a:bodyPr>
          <a:lstStyle/>
          <a:p>
            <a:pPr algn="just"/>
            <a:r>
              <a:rPr lang="es-MX" sz="2400" dirty="0">
                <a:solidFill>
                  <a:schemeClr val="tx1"/>
                </a:solidFill>
              </a:rPr>
              <a:t>Sistema: es la combinación de componentes que actúan conjuntamente y cumplen un determinado objetivo. </a:t>
            </a:r>
          </a:p>
          <a:p>
            <a:pPr algn="just"/>
            <a:r>
              <a:rPr lang="es-MX" sz="2400" dirty="0">
                <a:solidFill>
                  <a:schemeClr val="tx1"/>
                </a:solidFill>
              </a:rPr>
              <a:t>Variable de entrada: es una variable del sistema tal que una modificación de su magnitud o condición puede alterar el estado del sistema. </a:t>
            </a:r>
          </a:p>
          <a:p>
            <a:pPr algn="just"/>
            <a:r>
              <a:rPr lang="es-MX" sz="2400" dirty="0">
                <a:solidFill>
                  <a:schemeClr val="tx1"/>
                </a:solidFill>
              </a:rPr>
              <a:t>Variable de salida: es una variable del sistema cuya magnitud o condición se mide.</a:t>
            </a:r>
          </a:p>
          <a:p>
            <a:pPr algn="just"/>
            <a:r>
              <a:rPr lang="es-MX" sz="2400" dirty="0">
                <a:solidFill>
                  <a:schemeClr val="tx1"/>
                </a:solidFill>
              </a:rPr>
              <a:t>(David Luis La Red Martínez 2001)</a:t>
            </a:r>
          </a:p>
          <a:p>
            <a:pPr algn="just"/>
            <a:endParaRPr lang="es-MX" sz="2400" dirty="0">
              <a:solidFill>
                <a:schemeClr val="tx1"/>
              </a:solidFill>
            </a:endParaRPr>
          </a:p>
        </p:txBody>
      </p:sp>
    </p:spTree>
    <p:extLst>
      <p:ext uri="{BB962C8B-B14F-4D97-AF65-F5344CB8AC3E}">
        <p14:creationId xmlns:p14="http://schemas.microsoft.com/office/powerpoint/2010/main" val="13648326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0" nodeType="clickEffect">
                                  <p:stCondLst>
                                    <p:cond delay="0"/>
                                  </p:stCondLst>
                                  <p:iterate type="lt">
                                    <p:tmPct val="50000"/>
                                  </p:iterate>
                                  <p:childTnLst>
                                    <p:set>
                                      <p:cBhvr>
                                        <p:cTn id="6" dur="1" fill="hold">
                                          <p:stCondLst>
                                            <p:cond delay="0"/>
                                          </p:stCondLst>
                                        </p:cTn>
                                        <p:tgtEl>
                                          <p:spTgt spid="8">
                                            <p:txEl>
                                              <p:pRg st="0" end="0"/>
                                            </p:txEl>
                                          </p:spTgt>
                                        </p:tgtEl>
                                        <p:attrNameLst>
                                          <p:attrName>style.visibility</p:attrName>
                                        </p:attrNameLst>
                                      </p:cBhvr>
                                      <p:to>
                                        <p:strVal val="visible"/>
                                      </p:to>
                                    </p:set>
                                    <p:set>
                                      <p:cBhvr>
                                        <p:cTn id="7" dur="23" fill="hold">
                                          <p:stCondLst>
                                            <p:cond delay="0"/>
                                          </p:stCondLst>
                                        </p:cTn>
                                        <p:tgtEl>
                                          <p:spTgt spid="8">
                                            <p:txEl>
                                              <p:pRg st="0" end="0"/>
                                            </p:txEl>
                                          </p:spTgt>
                                        </p:tgtEl>
                                        <p:attrNameLst>
                                          <p:attrName>style.rotation</p:attrName>
                                        </p:attrNameLst>
                                      </p:cBhvr>
                                      <p:to>
                                        <p:strVal val="-45.0"/>
                                      </p:to>
                                    </p:set>
                                    <p:anim calcmode="lin" valueType="num">
                                      <p:cBhvr>
                                        <p:cTn id="8" dur="23" fill="hold">
                                          <p:stCondLst>
                                            <p:cond delay="23"/>
                                          </p:stCondLst>
                                        </p:cTn>
                                        <p:tgtEl>
                                          <p:spTgt spid="8">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23" fill="hold">
                                          <p:stCondLst>
                                            <p:cond delay="0"/>
                                          </p:stCondLst>
                                        </p:cTn>
                                        <p:tgtEl>
                                          <p:spTgt spid="8">
                                            <p:txEl>
                                              <p:pRg st="0" end="0"/>
                                            </p:txEl>
                                          </p:spTgt>
                                        </p:tgtEl>
                                        <p:attrNameLst>
                                          <p:attrName>ppt_y</p:attrName>
                                        </p:attrNameLst>
                                      </p:cBhvr>
                                      <p:tavLst>
                                        <p:tav tm="0">
                                          <p:val>
                                            <p:strVal val="#ppt_y-1"/>
                                          </p:val>
                                        </p:tav>
                                        <p:tav tm="100000">
                                          <p:val>
                                            <p:strVal val="#ppt_y-(0.354*#ppt_w-0.172*#ppt_h)"/>
                                          </p:val>
                                        </p:tav>
                                      </p:tavLst>
                                    </p:anim>
                                    <p:anim calcmode="lin" valueType="num">
                                      <p:cBhvr>
                                        <p:cTn id="10" dur="8" decel="50000" autoRev="1" fill="hold">
                                          <p:stCondLst>
                                            <p:cond delay="23"/>
                                          </p:stCondLst>
                                        </p:cTn>
                                        <p:tgtEl>
                                          <p:spTgt spid="8">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7" fill="hold">
                                          <p:stCondLst>
                                            <p:cond delay="43"/>
                                          </p:stCondLst>
                                        </p:cTn>
                                        <p:tgtEl>
                                          <p:spTgt spid="8">
                                            <p:txEl>
                                              <p:pRg st="0" end="0"/>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38" presetClass="entr" presetSubtype="0" accel="50000" fill="hold" grpId="0" nodeType="clickEffect">
                                  <p:stCondLst>
                                    <p:cond delay="0"/>
                                  </p:stCondLst>
                                  <p:iterate type="lt">
                                    <p:tmPct val="50000"/>
                                  </p:iterate>
                                  <p:childTnLst>
                                    <p:set>
                                      <p:cBhvr>
                                        <p:cTn id="15" dur="1" fill="hold">
                                          <p:stCondLst>
                                            <p:cond delay="0"/>
                                          </p:stCondLst>
                                        </p:cTn>
                                        <p:tgtEl>
                                          <p:spTgt spid="8">
                                            <p:txEl>
                                              <p:pRg st="1" end="1"/>
                                            </p:txEl>
                                          </p:spTgt>
                                        </p:tgtEl>
                                        <p:attrNameLst>
                                          <p:attrName>style.visibility</p:attrName>
                                        </p:attrNameLst>
                                      </p:cBhvr>
                                      <p:to>
                                        <p:strVal val="visible"/>
                                      </p:to>
                                    </p:set>
                                    <p:set>
                                      <p:cBhvr>
                                        <p:cTn id="16" dur="23" fill="hold">
                                          <p:stCondLst>
                                            <p:cond delay="0"/>
                                          </p:stCondLst>
                                        </p:cTn>
                                        <p:tgtEl>
                                          <p:spTgt spid="8">
                                            <p:txEl>
                                              <p:pRg st="1" end="1"/>
                                            </p:txEl>
                                          </p:spTgt>
                                        </p:tgtEl>
                                        <p:attrNameLst>
                                          <p:attrName>style.rotation</p:attrName>
                                        </p:attrNameLst>
                                      </p:cBhvr>
                                      <p:to>
                                        <p:strVal val="-45.0"/>
                                      </p:to>
                                    </p:set>
                                    <p:anim calcmode="lin" valueType="num">
                                      <p:cBhvr>
                                        <p:cTn id="17" dur="23" fill="hold">
                                          <p:stCondLst>
                                            <p:cond delay="23"/>
                                          </p:stCondLst>
                                        </p:cTn>
                                        <p:tgtEl>
                                          <p:spTgt spid="8">
                                            <p:txEl>
                                              <p:pRg st="1" end="1"/>
                                            </p:txEl>
                                          </p:spTgt>
                                        </p:tgtEl>
                                        <p:attrNameLst>
                                          <p:attrName>style.rotation</p:attrName>
                                        </p:attrNameLst>
                                      </p:cBhvr>
                                      <p:tavLst>
                                        <p:tav tm="0">
                                          <p:val>
                                            <p:fltVal val="-45"/>
                                          </p:val>
                                        </p:tav>
                                        <p:tav tm="69900">
                                          <p:val>
                                            <p:fltVal val="45"/>
                                          </p:val>
                                        </p:tav>
                                        <p:tav tm="100000">
                                          <p:val>
                                            <p:fltVal val="0"/>
                                          </p:val>
                                        </p:tav>
                                      </p:tavLst>
                                    </p:anim>
                                    <p:anim calcmode="lin" valueType="num">
                                      <p:cBhvr>
                                        <p:cTn id="18" dur="23" fill="hold">
                                          <p:stCondLst>
                                            <p:cond delay="0"/>
                                          </p:stCondLst>
                                        </p:cTn>
                                        <p:tgtEl>
                                          <p:spTgt spid="8">
                                            <p:txEl>
                                              <p:pRg st="1" end="1"/>
                                            </p:txEl>
                                          </p:spTgt>
                                        </p:tgtEl>
                                        <p:attrNameLst>
                                          <p:attrName>ppt_y</p:attrName>
                                        </p:attrNameLst>
                                      </p:cBhvr>
                                      <p:tavLst>
                                        <p:tav tm="0">
                                          <p:val>
                                            <p:strVal val="#ppt_y-1"/>
                                          </p:val>
                                        </p:tav>
                                        <p:tav tm="100000">
                                          <p:val>
                                            <p:strVal val="#ppt_y-(0.354*#ppt_w-0.172*#ppt_h)"/>
                                          </p:val>
                                        </p:tav>
                                      </p:tavLst>
                                    </p:anim>
                                    <p:anim calcmode="lin" valueType="num">
                                      <p:cBhvr>
                                        <p:cTn id="19" dur="8" decel="50000" autoRev="1" fill="hold">
                                          <p:stCondLst>
                                            <p:cond delay="23"/>
                                          </p:stCondLst>
                                        </p:cTn>
                                        <p:tgtEl>
                                          <p:spTgt spid="8">
                                            <p:txEl>
                                              <p:pRg st="1" end="1"/>
                                            </p:txEl>
                                          </p:spTgt>
                                        </p:tgtEl>
                                        <p:attrNameLst>
                                          <p:attrName>ppt_y</p:attrName>
                                        </p:attrNameLst>
                                      </p:cBhvr>
                                      <p:tavLst>
                                        <p:tav tm="0">
                                          <p:val>
                                            <p:strVal val="#ppt_y-(0.354*#ppt_w-0.172*#ppt_h)"/>
                                          </p:val>
                                        </p:tav>
                                        <p:tav tm="100000">
                                          <p:val>
                                            <p:strVal val="#ppt_y-(0.354*#ppt_w-0.172*#ppt_h)-#ppt_h/2"/>
                                          </p:val>
                                        </p:tav>
                                      </p:tavLst>
                                    </p:anim>
                                    <p:anim calcmode="lin" valueType="num">
                                      <p:cBhvr>
                                        <p:cTn id="20" dur="7" fill="hold">
                                          <p:stCondLst>
                                            <p:cond delay="43"/>
                                          </p:stCondLst>
                                        </p:cTn>
                                        <p:tgtEl>
                                          <p:spTgt spid="8">
                                            <p:txEl>
                                              <p:pRg st="1" end="1"/>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8" presetClass="entr" presetSubtype="0" accel="50000" fill="hold" grpId="0" nodeType="clickEffect">
                                  <p:stCondLst>
                                    <p:cond delay="0"/>
                                  </p:stCondLst>
                                  <p:iterate type="lt">
                                    <p:tmPct val="50000"/>
                                  </p:iterate>
                                  <p:childTnLst>
                                    <p:set>
                                      <p:cBhvr>
                                        <p:cTn id="24" dur="1" fill="hold">
                                          <p:stCondLst>
                                            <p:cond delay="0"/>
                                          </p:stCondLst>
                                        </p:cTn>
                                        <p:tgtEl>
                                          <p:spTgt spid="8">
                                            <p:txEl>
                                              <p:pRg st="2" end="2"/>
                                            </p:txEl>
                                          </p:spTgt>
                                        </p:tgtEl>
                                        <p:attrNameLst>
                                          <p:attrName>style.visibility</p:attrName>
                                        </p:attrNameLst>
                                      </p:cBhvr>
                                      <p:to>
                                        <p:strVal val="visible"/>
                                      </p:to>
                                    </p:set>
                                    <p:set>
                                      <p:cBhvr>
                                        <p:cTn id="25" dur="23" fill="hold">
                                          <p:stCondLst>
                                            <p:cond delay="0"/>
                                          </p:stCondLst>
                                        </p:cTn>
                                        <p:tgtEl>
                                          <p:spTgt spid="8">
                                            <p:txEl>
                                              <p:pRg st="2" end="2"/>
                                            </p:txEl>
                                          </p:spTgt>
                                        </p:tgtEl>
                                        <p:attrNameLst>
                                          <p:attrName>style.rotation</p:attrName>
                                        </p:attrNameLst>
                                      </p:cBhvr>
                                      <p:to>
                                        <p:strVal val="-45.0"/>
                                      </p:to>
                                    </p:set>
                                    <p:anim calcmode="lin" valueType="num">
                                      <p:cBhvr>
                                        <p:cTn id="26" dur="23" fill="hold">
                                          <p:stCondLst>
                                            <p:cond delay="23"/>
                                          </p:stCondLst>
                                        </p:cTn>
                                        <p:tgtEl>
                                          <p:spTgt spid="8">
                                            <p:txEl>
                                              <p:pRg st="2" end="2"/>
                                            </p:txEl>
                                          </p:spTgt>
                                        </p:tgtEl>
                                        <p:attrNameLst>
                                          <p:attrName>style.rotation</p:attrName>
                                        </p:attrNameLst>
                                      </p:cBhvr>
                                      <p:tavLst>
                                        <p:tav tm="0">
                                          <p:val>
                                            <p:fltVal val="-45"/>
                                          </p:val>
                                        </p:tav>
                                        <p:tav tm="69900">
                                          <p:val>
                                            <p:fltVal val="45"/>
                                          </p:val>
                                        </p:tav>
                                        <p:tav tm="100000">
                                          <p:val>
                                            <p:fltVal val="0"/>
                                          </p:val>
                                        </p:tav>
                                      </p:tavLst>
                                    </p:anim>
                                    <p:anim calcmode="lin" valueType="num">
                                      <p:cBhvr>
                                        <p:cTn id="27" dur="23" fill="hold">
                                          <p:stCondLst>
                                            <p:cond delay="0"/>
                                          </p:stCondLst>
                                        </p:cTn>
                                        <p:tgtEl>
                                          <p:spTgt spid="8">
                                            <p:txEl>
                                              <p:pRg st="2" end="2"/>
                                            </p:txEl>
                                          </p:spTgt>
                                        </p:tgtEl>
                                        <p:attrNameLst>
                                          <p:attrName>ppt_y</p:attrName>
                                        </p:attrNameLst>
                                      </p:cBhvr>
                                      <p:tavLst>
                                        <p:tav tm="0">
                                          <p:val>
                                            <p:strVal val="#ppt_y-1"/>
                                          </p:val>
                                        </p:tav>
                                        <p:tav tm="100000">
                                          <p:val>
                                            <p:strVal val="#ppt_y-(0.354*#ppt_w-0.172*#ppt_h)"/>
                                          </p:val>
                                        </p:tav>
                                      </p:tavLst>
                                    </p:anim>
                                    <p:anim calcmode="lin" valueType="num">
                                      <p:cBhvr>
                                        <p:cTn id="28" dur="8" decel="50000" autoRev="1" fill="hold">
                                          <p:stCondLst>
                                            <p:cond delay="23"/>
                                          </p:stCondLst>
                                        </p:cTn>
                                        <p:tgtEl>
                                          <p:spTgt spid="8">
                                            <p:txEl>
                                              <p:pRg st="2" end="2"/>
                                            </p:txEl>
                                          </p:spTgt>
                                        </p:tgtEl>
                                        <p:attrNameLst>
                                          <p:attrName>ppt_y</p:attrName>
                                        </p:attrNameLst>
                                      </p:cBhvr>
                                      <p:tavLst>
                                        <p:tav tm="0">
                                          <p:val>
                                            <p:strVal val="#ppt_y-(0.354*#ppt_w-0.172*#ppt_h)"/>
                                          </p:val>
                                        </p:tav>
                                        <p:tav tm="100000">
                                          <p:val>
                                            <p:strVal val="#ppt_y-(0.354*#ppt_w-0.172*#ppt_h)-#ppt_h/2"/>
                                          </p:val>
                                        </p:tav>
                                      </p:tavLst>
                                    </p:anim>
                                    <p:anim calcmode="lin" valueType="num">
                                      <p:cBhvr>
                                        <p:cTn id="29" dur="7" fill="hold">
                                          <p:stCondLst>
                                            <p:cond delay="43"/>
                                          </p:stCondLst>
                                        </p:cTn>
                                        <p:tgtEl>
                                          <p:spTgt spid="8">
                                            <p:txEl>
                                              <p:pRg st="2" end="2"/>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8" presetClass="entr" presetSubtype="0" accel="50000" fill="hold" grpId="0" nodeType="clickEffect">
                                  <p:stCondLst>
                                    <p:cond delay="0"/>
                                  </p:stCondLst>
                                  <p:iterate type="lt">
                                    <p:tmPct val="50000"/>
                                  </p:iterate>
                                  <p:childTnLst>
                                    <p:set>
                                      <p:cBhvr>
                                        <p:cTn id="33" dur="1" fill="hold">
                                          <p:stCondLst>
                                            <p:cond delay="0"/>
                                          </p:stCondLst>
                                        </p:cTn>
                                        <p:tgtEl>
                                          <p:spTgt spid="8">
                                            <p:txEl>
                                              <p:pRg st="3" end="3"/>
                                            </p:txEl>
                                          </p:spTgt>
                                        </p:tgtEl>
                                        <p:attrNameLst>
                                          <p:attrName>style.visibility</p:attrName>
                                        </p:attrNameLst>
                                      </p:cBhvr>
                                      <p:to>
                                        <p:strVal val="visible"/>
                                      </p:to>
                                    </p:set>
                                    <p:set>
                                      <p:cBhvr>
                                        <p:cTn id="34" dur="23" fill="hold">
                                          <p:stCondLst>
                                            <p:cond delay="0"/>
                                          </p:stCondLst>
                                        </p:cTn>
                                        <p:tgtEl>
                                          <p:spTgt spid="8">
                                            <p:txEl>
                                              <p:pRg st="3" end="3"/>
                                            </p:txEl>
                                          </p:spTgt>
                                        </p:tgtEl>
                                        <p:attrNameLst>
                                          <p:attrName>style.rotation</p:attrName>
                                        </p:attrNameLst>
                                      </p:cBhvr>
                                      <p:to>
                                        <p:strVal val="-45.0"/>
                                      </p:to>
                                    </p:set>
                                    <p:anim calcmode="lin" valueType="num">
                                      <p:cBhvr>
                                        <p:cTn id="35" dur="23" fill="hold">
                                          <p:stCondLst>
                                            <p:cond delay="23"/>
                                          </p:stCondLst>
                                        </p:cTn>
                                        <p:tgtEl>
                                          <p:spTgt spid="8">
                                            <p:txEl>
                                              <p:pRg st="3" end="3"/>
                                            </p:txEl>
                                          </p:spTgt>
                                        </p:tgtEl>
                                        <p:attrNameLst>
                                          <p:attrName>style.rotation</p:attrName>
                                        </p:attrNameLst>
                                      </p:cBhvr>
                                      <p:tavLst>
                                        <p:tav tm="0">
                                          <p:val>
                                            <p:fltVal val="-45"/>
                                          </p:val>
                                        </p:tav>
                                        <p:tav tm="69900">
                                          <p:val>
                                            <p:fltVal val="45"/>
                                          </p:val>
                                        </p:tav>
                                        <p:tav tm="100000">
                                          <p:val>
                                            <p:fltVal val="0"/>
                                          </p:val>
                                        </p:tav>
                                      </p:tavLst>
                                    </p:anim>
                                    <p:anim calcmode="lin" valueType="num">
                                      <p:cBhvr>
                                        <p:cTn id="36" dur="23" fill="hold">
                                          <p:stCondLst>
                                            <p:cond delay="0"/>
                                          </p:stCondLst>
                                        </p:cTn>
                                        <p:tgtEl>
                                          <p:spTgt spid="8">
                                            <p:txEl>
                                              <p:pRg st="3" end="3"/>
                                            </p:txEl>
                                          </p:spTgt>
                                        </p:tgtEl>
                                        <p:attrNameLst>
                                          <p:attrName>ppt_y</p:attrName>
                                        </p:attrNameLst>
                                      </p:cBhvr>
                                      <p:tavLst>
                                        <p:tav tm="0">
                                          <p:val>
                                            <p:strVal val="#ppt_y-1"/>
                                          </p:val>
                                        </p:tav>
                                        <p:tav tm="100000">
                                          <p:val>
                                            <p:strVal val="#ppt_y-(0.354*#ppt_w-0.172*#ppt_h)"/>
                                          </p:val>
                                        </p:tav>
                                      </p:tavLst>
                                    </p:anim>
                                    <p:anim calcmode="lin" valueType="num">
                                      <p:cBhvr>
                                        <p:cTn id="37" dur="8" decel="50000" autoRev="1" fill="hold">
                                          <p:stCondLst>
                                            <p:cond delay="23"/>
                                          </p:stCondLst>
                                        </p:cTn>
                                        <p:tgtEl>
                                          <p:spTgt spid="8">
                                            <p:txEl>
                                              <p:pRg st="3" end="3"/>
                                            </p:txEl>
                                          </p:spTgt>
                                        </p:tgtEl>
                                        <p:attrNameLst>
                                          <p:attrName>ppt_y</p:attrName>
                                        </p:attrNameLst>
                                      </p:cBhvr>
                                      <p:tavLst>
                                        <p:tav tm="0">
                                          <p:val>
                                            <p:strVal val="#ppt_y-(0.354*#ppt_w-0.172*#ppt_h)"/>
                                          </p:val>
                                        </p:tav>
                                        <p:tav tm="100000">
                                          <p:val>
                                            <p:strVal val="#ppt_y-(0.354*#ppt_w-0.172*#ppt_h)-#ppt_h/2"/>
                                          </p:val>
                                        </p:tav>
                                      </p:tavLst>
                                    </p:anim>
                                    <p:anim calcmode="lin" valueType="num">
                                      <p:cBhvr>
                                        <p:cTn id="38" dur="7" fill="hold">
                                          <p:stCondLst>
                                            <p:cond delay="43"/>
                                          </p:stCondLst>
                                        </p:cTn>
                                        <p:tgtEl>
                                          <p:spTgt spid="8">
                                            <p:txEl>
                                              <p:pRg st="3" end="3"/>
                                            </p:txEl>
                                          </p:spTgt>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16160" y="1622738"/>
            <a:ext cx="7766936" cy="862885"/>
          </a:xfrm>
        </p:spPr>
        <p:txBody>
          <a:bodyPr/>
          <a:lstStyle/>
          <a:p>
            <a:pPr algn="just"/>
            <a:r>
              <a:rPr lang="es-MX" b="1" dirty="0"/>
              <a:t>Utilización del SPOOL</a:t>
            </a:r>
            <a:endParaRPr lang="es-MX" dirty="0"/>
          </a:p>
        </p:txBody>
      </p:sp>
      <p:sp>
        <p:nvSpPr>
          <p:cNvPr id="5" name="Marcador de número de diapositiva 4"/>
          <p:cNvSpPr>
            <a:spLocks noGrp="1"/>
          </p:cNvSpPr>
          <p:nvPr>
            <p:ph type="sldNum" sz="quarter" idx="12"/>
          </p:nvPr>
        </p:nvSpPr>
        <p:spPr>
          <a:xfrm>
            <a:off x="11663208" y="6492874"/>
            <a:ext cx="683339" cy="365125"/>
          </a:xfrm>
        </p:spPr>
        <p:txBody>
          <a:bodyPr/>
          <a:lstStyle/>
          <a:p>
            <a:pPr algn="just"/>
            <a:fld id="{5B6304BD-7E5E-452F-B95B-B399F4ABBCE9}" type="slidenum">
              <a:rPr lang="es-MX" sz="3200" smtClean="0">
                <a:solidFill>
                  <a:srgbClr val="FF0000"/>
                </a:solidFill>
              </a:rPr>
              <a:pPr algn="just"/>
              <a:t>6</a:t>
            </a:fld>
            <a:endParaRPr lang="es-MX" sz="3200" dirty="0">
              <a:solidFill>
                <a:srgbClr val="FF0000"/>
              </a:solidFill>
            </a:endParaRPr>
          </a:p>
        </p:txBody>
      </p:sp>
      <p:sp>
        <p:nvSpPr>
          <p:cNvPr id="8" name="Subtítulo 2"/>
          <p:cNvSpPr>
            <a:spLocks noGrp="1"/>
          </p:cNvSpPr>
          <p:nvPr>
            <p:ph type="subTitle" idx="1"/>
          </p:nvPr>
        </p:nvSpPr>
        <p:spPr>
          <a:xfrm>
            <a:off x="974036" y="2823554"/>
            <a:ext cx="9342782" cy="2762237"/>
          </a:xfrm>
        </p:spPr>
        <p:txBody>
          <a:bodyPr>
            <a:noAutofit/>
          </a:bodyPr>
          <a:lstStyle/>
          <a:p>
            <a:pPr algn="just"/>
            <a:r>
              <a:rPr lang="es-MX" sz="2000" dirty="0">
                <a:solidFill>
                  <a:schemeClr val="tx1"/>
                </a:solidFill>
              </a:rPr>
              <a:t>Un mecanismo de entrada/salida que permitía que una computadora de propósito específico, mucho más económica y limitada, leyera las tarjetas y las fuera convirtiendo a cinta magnética, un medio mucho más rápido, teniéndola lista para que la computadora central la cargara cuando terminara con el trabajo anterior. </a:t>
            </a:r>
          </a:p>
          <a:p>
            <a:pPr algn="just"/>
            <a:r>
              <a:rPr lang="es-MX" sz="2000" dirty="0">
                <a:solidFill>
                  <a:schemeClr val="tx1"/>
                </a:solidFill>
              </a:rPr>
              <a:t>(Gunnar Wolf, Esteban Ruiz, Federico Bergero &amp; Erwin Meza Vega Marzo 2014)</a:t>
            </a:r>
          </a:p>
          <a:p>
            <a:pPr algn="just"/>
            <a:endParaRPr lang="es-MX" sz="2000" dirty="0">
              <a:solidFill>
                <a:schemeClr val="tx1"/>
              </a:solidFill>
            </a:endParaRPr>
          </a:p>
        </p:txBody>
      </p:sp>
    </p:spTree>
    <p:extLst>
      <p:ext uri="{BB962C8B-B14F-4D97-AF65-F5344CB8AC3E}">
        <p14:creationId xmlns:p14="http://schemas.microsoft.com/office/powerpoint/2010/main" val="1416624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0" nodeType="clickEffect">
                                  <p:stCondLst>
                                    <p:cond delay="0"/>
                                  </p:stCondLst>
                                  <p:iterate type="lt">
                                    <p:tmPct val="50000"/>
                                  </p:iterate>
                                  <p:childTnLst>
                                    <p:set>
                                      <p:cBhvr>
                                        <p:cTn id="6" dur="1" fill="hold">
                                          <p:stCondLst>
                                            <p:cond delay="0"/>
                                          </p:stCondLst>
                                        </p:cTn>
                                        <p:tgtEl>
                                          <p:spTgt spid="8">
                                            <p:txEl>
                                              <p:pRg st="0" end="0"/>
                                            </p:txEl>
                                          </p:spTgt>
                                        </p:tgtEl>
                                        <p:attrNameLst>
                                          <p:attrName>style.visibility</p:attrName>
                                        </p:attrNameLst>
                                      </p:cBhvr>
                                      <p:to>
                                        <p:strVal val="visible"/>
                                      </p:to>
                                    </p:set>
                                    <p:set>
                                      <p:cBhvr>
                                        <p:cTn id="7" dur="23" fill="hold">
                                          <p:stCondLst>
                                            <p:cond delay="0"/>
                                          </p:stCondLst>
                                        </p:cTn>
                                        <p:tgtEl>
                                          <p:spTgt spid="8">
                                            <p:txEl>
                                              <p:pRg st="0" end="0"/>
                                            </p:txEl>
                                          </p:spTgt>
                                        </p:tgtEl>
                                        <p:attrNameLst>
                                          <p:attrName>style.rotation</p:attrName>
                                        </p:attrNameLst>
                                      </p:cBhvr>
                                      <p:to>
                                        <p:strVal val="-45.0"/>
                                      </p:to>
                                    </p:set>
                                    <p:anim calcmode="lin" valueType="num">
                                      <p:cBhvr>
                                        <p:cTn id="8" dur="23" fill="hold">
                                          <p:stCondLst>
                                            <p:cond delay="23"/>
                                          </p:stCondLst>
                                        </p:cTn>
                                        <p:tgtEl>
                                          <p:spTgt spid="8">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23" fill="hold">
                                          <p:stCondLst>
                                            <p:cond delay="0"/>
                                          </p:stCondLst>
                                        </p:cTn>
                                        <p:tgtEl>
                                          <p:spTgt spid="8">
                                            <p:txEl>
                                              <p:pRg st="0" end="0"/>
                                            </p:txEl>
                                          </p:spTgt>
                                        </p:tgtEl>
                                        <p:attrNameLst>
                                          <p:attrName>ppt_y</p:attrName>
                                        </p:attrNameLst>
                                      </p:cBhvr>
                                      <p:tavLst>
                                        <p:tav tm="0">
                                          <p:val>
                                            <p:strVal val="#ppt_y-1"/>
                                          </p:val>
                                        </p:tav>
                                        <p:tav tm="100000">
                                          <p:val>
                                            <p:strVal val="#ppt_y-(0.354*#ppt_w-0.172*#ppt_h)"/>
                                          </p:val>
                                        </p:tav>
                                      </p:tavLst>
                                    </p:anim>
                                    <p:anim calcmode="lin" valueType="num">
                                      <p:cBhvr>
                                        <p:cTn id="10" dur="8" decel="50000" autoRev="1" fill="hold">
                                          <p:stCondLst>
                                            <p:cond delay="23"/>
                                          </p:stCondLst>
                                        </p:cTn>
                                        <p:tgtEl>
                                          <p:spTgt spid="8">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7" fill="hold">
                                          <p:stCondLst>
                                            <p:cond delay="43"/>
                                          </p:stCondLst>
                                        </p:cTn>
                                        <p:tgtEl>
                                          <p:spTgt spid="8">
                                            <p:txEl>
                                              <p:pRg st="0" end="0"/>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38" presetClass="entr" presetSubtype="0" accel="50000" fill="hold" grpId="0" nodeType="clickEffect">
                                  <p:stCondLst>
                                    <p:cond delay="0"/>
                                  </p:stCondLst>
                                  <p:iterate type="lt">
                                    <p:tmPct val="50000"/>
                                  </p:iterate>
                                  <p:childTnLst>
                                    <p:set>
                                      <p:cBhvr>
                                        <p:cTn id="15" dur="1" fill="hold">
                                          <p:stCondLst>
                                            <p:cond delay="0"/>
                                          </p:stCondLst>
                                        </p:cTn>
                                        <p:tgtEl>
                                          <p:spTgt spid="8">
                                            <p:txEl>
                                              <p:pRg st="1" end="1"/>
                                            </p:txEl>
                                          </p:spTgt>
                                        </p:tgtEl>
                                        <p:attrNameLst>
                                          <p:attrName>style.visibility</p:attrName>
                                        </p:attrNameLst>
                                      </p:cBhvr>
                                      <p:to>
                                        <p:strVal val="visible"/>
                                      </p:to>
                                    </p:set>
                                    <p:set>
                                      <p:cBhvr>
                                        <p:cTn id="16" dur="23" fill="hold">
                                          <p:stCondLst>
                                            <p:cond delay="0"/>
                                          </p:stCondLst>
                                        </p:cTn>
                                        <p:tgtEl>
                                          <p:spTgt spid="8">
                                            <p:txEl>
                                              <p:pRg st="1" end="1"/>
                                            </p:txEl>
                                          </p:spTgt>
                                        </p:tgtEl>
                                        <p:attrNameLst>
                                          <p:attrName>style.rotation</p:attrName>
                                        </p:attrNameLst>
                                      </p:cBhvr>
                                      <p:to>
                                        <p:strVal val="-45.0"/>
                                      </p:to>
                                    </p:set>
                                    <p:anim calcmode="lin" valueType="num">
                                      <p:cBhvr>
                                        <p:cTn id="17" dur="23" fill="hold">
                                          <p:stCondLst>
                                            <p:cond delay="23"/>
                                          </p:stCondLst>
                                        </p:cTn>
                                        <p:tgtEl>
                                          <p:spTgt spid="8">
                                            <p:txEl>
                                              <p:pRg st="1" end="1"/>
                                            </p:txEl>
                                          </p:spTgt>
                                        </p:tgtEl>
                                        <p:attrNameLst>
                                          <p:attrName>style.rotation</p:attrName>
                                        </p:attrNameLst>
                                      </p:cBhvr>
                                      <p:tavLst>
                                        <p:tav tm="0">
                                          <p:val>
                                            <p:fltVal val="-45"/>
                                          </p:val>
                                        </p:tav>
                                        <p:tav tm="69900">
                                          <p:val>
                                            <p:fltVal val="45"/>
                                          </p:val>
                                        </p:tav>
                                        <p:tav tm="100000">
                                          <p:val>
                                            <p:fltVal val="0"/>
                                          </p:val>
                                        </p:tav>
                                      </p:tavLst>
                                    </p:anim>
                                    <p:anim calcmode="lin" valueType="num">
                                      <p:cBhvr>
                                        <p:cTn id="18" dur="23" fill="hold">
                                          <p:stCondLst>
                                            <p:cond delay="0"/>
                                          </p:stCondLst>
                                        </p:cTn>
                                        <p:tgtEl>
                                          <p:spTgt spid="8">
                                            <p:txEl>
                                              <p:pRg st="1" end="1"/>
                                            </p:txEl>
                                          </p:spTgt>
                                        </p:tgtEl>
                                        <p:attrNameLst>
                                          <p:attrName>ppt_y</p:attrName>
                                        </p:attrNameLst>
                                      </p:cBhvr>
                                      <p:tavLst>
                                        <p:tav tm="0">
                                          <p:val>
                                            <p:strVal val="#ppt_y-1"/>
                                          </p:val>
                                        </p:tav>
                                        <p:tav tm="100000">
                                          <p:val>
                                            <p:strVal val="#ppt_y-(0.354*#ppt_w-0.172*#ppt_h)"/>
                                          </p:val>
                                        </p:tav>
                                      </p:tavLst>
                                    </p:anim>
                                    <p:anim calcmode="lin" valueType="num">
                                      <p:cBhvr>
                                        <p:cTn id="19" dur="8" decel="50000" autoRev="1" fill="hold">
                                          <p:stCondLst>
                                            <p:cond delay="23"/>
                                          </p:stCondLst>
                                        </p:cTn>
                                        <p:tgtEl>
                                          <p:spTgt spid="8">
                                            <p:txEl>
                                              <p:pRg st="1" end="1"/>
                                            </p:txEl>
                                          </p:spTgt>
                                        </p:tgtEl>
                                        <p:attrNameLst>
                                          <p:attrName>ppt_y</p:attrName>
                                        </p:attrNameLst>
                                      </p:cBhvr>
                                      <p:tavLst>
                                        <p:tav tm="0">
                                          <p:val>
                                            <p:strVal val="#ppt_y-(0.354*#ppt_w-0.172*#ppt_h)"/>
                                          </p:val>
                                        </p:tav>
                                        <p:tav tm="100000">
                                          <p:val>
                                            <p:strVal val="#ppt_y-(0.354*#ppt_w-0.172*#ppt_h)-#ppt_h/2"/>
                                          </p:val>
                                        </p:tav>
                                      </p:tavLst>
                                    </p:anim>
                                    <p:anim calcmode="lin" valueType="num">
                                      <p:cBhvr>
                                        <p:cTn id="20" dur="7" fill="hold">
                                          <p:stCondLst>
                                            <p:cond delay="43"/>
                                          </p:stCondLst>
                                        </p:cTn>
                                        <p:tgtEl>
                                          <p:spTgt spid="8">
                                            <p:txEl>
                                              <p:pRg st="1" end="1"/>
                                            </p:txEl>
                                          </p:spTgt>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2A4CB9-FED9-424E-BE76-853624AB2ABC}"/>
              </a:ext>
            </a:extLst>
          </p:cNvPr>
          <p:cNvSpPr>
            <a:spLocks noGrp="1"/>
          </p:cNvSpPr>
          <p:nvPr>
            <p:ph type="title"/>
          </p:nvPr>
        </p:nvSpPr>
        <p:spPr>
          <a:xfrm>
            <a:off x="577941" y="544640"/>
            <a:ext cx="9222042" cy="2034210"/>
          </a:xfrm>
        </p:spPr>
        <p:txBody>
          <a:bodyPr>
            <a:noAutofit/>
          </a:bodyPr>
          <a:lstStyle/>
          <a:p>
            <a:r>
              <a:rPr lang="es-MX" b="1" dirty="0"/>
              <a:t>Lenguajes orientados hacia el procedimiento versus lenguajes orientados hacia el problema: </a:t>
            </a:r>
            <a:br>
              <a:rPr lang="es-MX" dirty="0"/>
            </a:br>
            <a:endParaRPr lang="es-MX" dirty="0"/>
          </a:p>
        </p:txBody>
      </p:sp>
      <p:sp>
        <p:nvSpPr>
          <p:cNvPr id="3" name="Marcador de contenido 2">
            <a:extLst>
              <a:ext uri="{FF2B5EF4-FFF2-40B4-BE49-F238E27FC236}">
                <a16:creationId xmlns:a16="http://schemas.microsoft.com/office/drawing/2014/main" id="{AC9BFCAA-F0D4-5A43-AAC3-B1E83C95EECE}"/>
              </a:ext>
            </a:extLst>
          </p:cNvPr>
          <p:cNvSpPr>
            <a:spLocks noGrp="1"/>
          </p:cNvSpPr>
          <p:nvPr>
            <p:ph idx="1"/>
          </p:nvPr>
        </p:nvSpPr>
        <p:spPr>
          <a:xfrm>
            <a:off x="1360673" y="2955721"/>
            <a:ext cx="7913329" cy="2331898"/>
          </a:xfrm>
        </p:spPr>
        <p:txBody>
          <a:bodyPr/>
          <a:lstStyle/>
          <a:p>
            <a:r>
              <a:rPr lang="es-MX" sz="3200" dirty="0">
                <a:solidFill>
                  <a:schemeClr val="tx1"/>
                </a:solidFill>
              </a:rPr>
              <a:t>Orientado </a:t>
            </a:r>
          </a:p>
          <a:p>
            <a:pPr lvl="1"/>
            <a:r>
              <a:rPr lang="es-MX" sz="2800" dirty="0">
                <a:solidFill>
                  <a:schemeClr val="tx1"/>
                </a:solidFill>
              </a:rPr>
              <a:t>Hacia el procedimiento</a:t>
            </a:r>
          </a:p>
          <a:p>
            <a:pPr lvl="1"/>
            <a:r>
              <a:rPr lang="es-MX" sz="2800" dirty="0">
                <a:solidFill>
                  <a:schemeClr val="tx1"/>
                </a:solidFill>
              </a:rPr>
              <a:t>Hacia el problema</a:t>
            </a:r>
            <a:endParaRPr lang="es-MX" dirty="0">
              <a:solidFill>
                <a:schemeClr val="tx1"/>
              </a:solidFill>
            </a:endParaRPr>
          </a:p>
        </p:txBody>
      </p:sp>
      <p:sp>
        <p:nvSpPr>
          <p:cNvPr id="4" name="Marcador de fecha 3">
            <a:extLst>
              <a:ext uri="{FF2B5EF4-FFF2-40B4-BE49-F238E27FC236}">
                <a16:creationId xmlns:a16="http://schemas.microsoft.com/office/drawing/2014/main" id="{CFE28A70-445E-0142-B023-113CCEFEFD24}"/>
              </a:ext>
            </a:extLst>
          </p:cNvPr>
          <p:cNvSpPr>
            <a:spLocks noGrp="1"/>
          </p:cNvSpPr>
          <p:nvPr>
            <p:ph type="dt" sz="half" idx="10"/>
          </p:nvPr>
        </p:nvSpPr>
        <p:spPr/>
        <p:txBody>
          <a:bodyPr/>
          <a:lstStyle/>
          <a:p>
            <a:fld id="{74F2F7F4-6626-45B2-9106-73608F631EF6}" type="datetime1">
              <a:rPr lang="es-MX" smtClean="0"/>
              <a:t>10/02/21</a:t>
            </a:fld>
            <a:endParaRPr lang="es-MX" dirty="0"/>
          </a:p>
        </p:txBody>
      </p:sp>
      <p:sp>
        <p:nvSpPr>
          <p:cNvPr id="5" name="Marcador de número de diapositiva 4">
            <a:extLst>
              <a:ext uri="{FF2B5EF4-FFF2-40B4-BE49-F238E27FC236}">
                <a16:creationId xmlns:a16="http://schemas.microsoft.com/office/drawing/2014/main" id="{D9E5646B-2AAD-C249-9397-07D07B06420C}"/>
              </a:ext>
            </a:extLst>
          </p:cNvPr>
          <p:cNvSpPr>
            <a:spLocks noGrp="1"/>
          </p:cNvSpPr>
          <p:nvPr>
            <p:ph type="sldNum" sz="quarter" idx="12"/>
          </p:nvPr>
        </p:nvSpPr>
        <p:spPr/>
        <p:txBody>
          <a:bodyPr/>
          <a:lstStyle/>
          <a:p>
            <a:fld id="{5B6304BD-7E5E-452F-B95B-B399F4ABBCE9}" type="slidenum">
              <a:rPr lang="es-MX" smtClean="0"/>
              <a:t>7</a:t>
            </a:fld>
            <a:endParaRPr lang="es-MX" dirty="0"/>
          </a:p>
        </p:txBody>
      </p:sp>
      <p:pic>
        <p:nvPicPr>
          <p:cNvPr id="6" name="Imagen 5">
            <a:extLst>
              <a:ext uri="{FF2B5EF4-FFF2-40B4-BE49-F238E27FC236}">
                <a16:creationId xmlns:a16="http://schemas.microsoft.com/office/drawing/2014/main" id="{A7DBDC27-DABA-1A4A-822F-99875035A821}"/>
              </a:ext>
            </a:extLst>
          </p:cNvPr>
          <p:cNvPicPr>
            <a:picLocks noChangeAspect="1"/>
          </p:cNvPicPr>
          <p:nvPr/>
        </p:nvPicPr>
        <p:blipFill>
          <a:blip r:embed="rId3"/>
          <a:stretch>
            <a:fillRect/>
          </a:stretch>
        </p:blipFill>
        <p:spPr>
          <a:xfrm>
            <a:off x="6519448" y="2497210"/>
            <a:ext cx="1141654" cy="1141654"/>
          </a:xfrm>
          <a:prstGeom prst="rect">
            <a:avLst/>
          </a:prstGeom>
        </p:spPr>
      </p:pic>
      <p:pic>
        <p:nvPicPr>
          <p:cNvPr id="8" name="Imagen 7">
            <a:extLst>
              <a:ext uri="{FF2B5EF4-FFF2-40B4-BE49-F238E27FC236}">
                <a16:creationId xmlns:a16="http://schemas.microsoft.com/office/drawing/2014/main" id="{E53B11B9-29B3-A246-96AB-F263CD420A5B}"/>
              </a:ext>
            </a:extLst>
          </p:cNvPr>
          <p:cNvPicPr>
            <a:picLocks noChangeAspect="1"/>
          </p:cNvPicPr>
          <p:nvPr/>
        </p:nvPicPr>
        <p:blipFill rotWithShape="1">
          <a:blip r:embed="rId4"/>
          <a:srcRect t="39728" b="40376"/>
          <a:stretch/>
        </p:blipFill>
        <p:spPr>
          <a:xfrm>
            <a:off x="7621229" y="3638864"/>
            <a:ext cx="1938867" cy="385770"/>
          </a:xfrm>
          <a:prstGeom prst="rect">
            <a:avLst/>
          </a:prstGeom>
        </p:spPr>
      </p:pic>
      <p:pic>
        <p:nvPicPr>
          <p:cNvPr id="9" name="Imagen 8">
            <a:extLst>
              <a:ext uri="{FF2B5EF4-FFF2-40B4-BE49-F238E27FC236}">
                <a16:creationId xmlns:a16="http://schemas.microsoft.com/office/drawing/2014/main" id="{3109651B-0EF9-604C-A0E5-8DC5A0FD45AC}"/>
              </a:ext>
            </a:extLst>
          </p:cNvPr>
          <p:cNvPicPr>
            <a:picLocks noChangeAspect="1"/>
          </p:cNvPicPr>
          <p:nvPr/>
        </p:nvPicPr>
        <p:blipFill rotWithShape="1">
          <a:blip r:embed="rId5"/>
          <a:srcRect l="24402" t="28195" r="22772" b="27822"/>
          <a:stretch/>
        </p:blipFill>
        <p:spPr>
          <a:xfrm>
            <a:off x="9274002" y="2587130"/>
            <a:ext cx="2504040" cy="1000083"/>
          </a:xfrm>
          <a:prstGeom prst="rect">
            <a:avLst/>
          </a:prstGeom>
        </p:spPr>
      </p:pic>
      <p:pic>
        <p:nvPicPr>
          <p:cNvPr id="10" name="Imagen 9">
            <a:extLst>
              <a:ext uri="{FF2B5EF4-FFF2-40B4-BE49-F238E27FC236}">
                <a16:creationId xmlns:a16="http://schemas.microsoft.com/office/drawing/2014/main" id="{A14C8382-6770-8149-B5A9-9A1651D33418}"/>
              </a:ext>
            </a:extLst>
          </p:cNvPr>
          <p:cNvPicPr>
            <a:picLocks noChangeAspect="1"/>
          </p:cNvPicPr>
          <p:nvPr/>
        </p:nvPicPr>
        <p:blipFill>
          <a:blip r:embed="rId6"/>
          <a:stretch>
            <a:fillRect/>
          </a:stretch>
        </p:blipFill>
        <p:spPr>
          <a:xfrm>
            <a:off x="6519448" y="4177446"/>
            <a:ext cx="2179983" cy="847771"/>
          </a:xfrm>
          <a:prstGeom prst="rect">
            <a:avLst/>
          </a:prstGeom>
        </p:spPr>
      </p:pic>
      <p:pic>
        <p:nvPicPr>
          <p:cNvPr id="11" name="Imagen 10">
            <a:extLst>
              <a:ext uri="{FF2B5EF4-FFF2-40B4-BE49-F238E27FC236}">
                <a16:creationId xmlns:a16="http://schemas.microsoft.com/office/drawing/2014/main" id="{36E4FC5A-1BB8-9B4B-ACE4-65BE70BB1614}"/>
              </a:ext>
            </a:extLst>
          </p:cNvPr>
          <p:cNvPicPr>
            <a:picLocks noChangeAspect="1"/>
          </p:cNvPicPr>
          <p:nvPr/>
        </p:nvPicPr>
        <p:blipFill>
          <a:blip r:embed="rId7"/>
          <a:stretch>
            <a:fillRect/>
          </a:stretch>
        </p:blipFill>
        <p:spPr>
          <a:xfrm>
            <a:off x="1586120" y="5025676"/>
            <a:ext cx="1277627" cy="1277627"/>
          </a:xfrm>
          <a:prstGeom prst="rect">
            <a:avLst/>
          </a:prstGeom>
        </p:spPr>
      </p:pic>
      <p:pic>
        <p:nvPicPr>
          <p:cNvPr id="12" name="Imagen 11">
            <a:extLst>
              <a:ext uri="{FF2B5EF4-FFF2-40B4-BE49-F238E27FC236}">
                <a16:creationId xmlns:a16="http://schemas.microsoft.com/office/drawing/2014/main" id="{816FE407-1C20-1C4E-BB48-2A79CCEEDDAF}"/>
              </a:ext>
            </a:extLst>
          </p:cNvPr>
          <p:cNvPicPr>
            <a:picLocks noChangeAspect="1"/>
          </p:cNvPicPr>
          <p:nvPr/>
        </p:nvPicPr>
        <p:blipFill>
          <a:blip r:embed="rId8"/>
          <a:stretch>
            <a:fillRect/>
          </a:stretch>
        </p:blipFill>
        <p:spPr>
          <a:xfrm>
            <a:off x="4446974" y="4908584"/>
            <a:ext cx="1497903" cy="1497903"/>
          </a:xfrm>
          <a:prstGeom prst="rect">
            <a:avLst/>
          </a:prstGeom>
        </p:spPr>
      </p:pic>
      <p:sp>
        <p:nvSpPr>
          <p:cNvPr id="13" name="Marcador de número de diapositiva 4">
            <a:extLst>
              <a:ext uri="{FF2B5EF4-FFF2-40B4-BE49-F238E27FC236}">
                <a16:creationId xmlns:a16="http://schemas.microsoft.com/office/drawing/2014/main" id="{C2B1FFB8-EEC9-FE44-AE6F-6417ADC4495E}"/>
              </a:ext>
            </a:extLst>
          </p:cNvPr>
          <p:cNvSpPr txBox="1">
            <a:spLocks/>
          </p:cNvSpPr>
          <p:nvPr/>
        </p:nvSpPr>
        <p:spPr>
          <a:xfrm>
            <a:off x="11663208" y="6492874"/>
            <a:ext cx="683339" cy="365125"/>
          </a:xfrm>
          <a:prstGeom prst="rect">
            <a:avLst/>
          </a:prstGeom>
        </p:spPr>
        <p:txBody>
          <a:bodyPr vert="horz" lIns="91440" tIns="45720" rIns="91440" bIns="45720" rtlCol="0" anchor="ctr"/>
          <a:lstStyle>
            <a:defPPr>
              <a:defRPr lang="es-MX"/>
            </a:defPPr>
            <a:lvl1pPr marL="0" algn="r" defTabSz="914400" rtl="0" eaLnBrk="1" latinLnBrk="0" hangingPunct="1">
              <a:defRPr sz="9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fld id="{5B6304BD-7E5E-452F-B95B-B399F4ABBCE9}" type="slidenum">
              <a:rPr lang="es-MX" sz="3200" smtClean="0">
                <a:solidFill>
                  <a:srgbClr val="FF0000"/>
                </a:solidFill>
              </a:rPr>
              <a:pPr algn="just"/>
              <a:t>7</a:t>
            </a:fld>
            <a:endParaRPr lang="es-MX" sz="3200" dirty="0">
              <a:solidFill>
                <a:srgbClr val="FF0000"/>
              </a:solidFill>
            </a:endParaRPr>
          </a:p>
        </p:txBody>
      </p:sp>
    </p:spTree>
    <p:extLst>
      <p:ext uri="{BB962C8B-B14F-4D97-AF65-F5344CB8AC3E}">
        <p14:creationId xmlns:p14="http://schemas.microsoft.com/office/powerpoint/2010/main" val="2934896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D8302D-F860-7D41-BDFB-4F9B24D1D3B6}"/>
              </a:ext>
            </a:extLst>
          </p:cNvPr>
          <p:cNvSpPr>
            <a:spLocks noGrp="1"/>
          </p:cNvSpPr>
          <p:nvPr>
            <p:ph type="title"/>
          </p:nvPr>
        </p:nvSpPr>
        <p:spPr/>
        <p:txBody>
          <a:bodyPr/>
          <a:lstStyle/>
          <a:p>
            <a:r>
              <a:rPr lang="es-MX" dirty="0"/>
              <a:t>Compiladores rápidos y sucios versus compiladores optimizadores</a:t>
            </a:r>
          </a:p>
        </p:txBody>
      </p:sp>
      <p:sp>
        <p:nvSpPr>
          <p:cNvPr id="3" name="Marcador de contenido 2">
            <a:extLst>
              <a:ext uri="{FF2B5EF4-FFF2-40B4-BE49-F238E27FC236}">
                <a16:creationId xmlns:a16="http://schemas.microsoft.com/office/drawing/2014/main" id="{4E882E93-8C02-CD41-BAC7-0BE7205CEBBE}"/>
              </a:ext>
            </a:extLst>
          </p:cNvPr>
          <p:cNvSpPr>
            <a:spLocks noGrp="1"/>
          </p:cNvSpPr>
          <p:nvPr>
            <p:ph idx="1"/>
          </p:nvPr>
        </p:nvSpPr>
        <p:spPr>
          <a:xfrm>
            <a:off x="677334" y="2160590"/>
            <a:ext cx="5246388" cy="2053602"/>
          </a:xfrm>
        </p:spPr>
        <p:txBody>
          <a:bodyPr/>
          <a:lstStyle/>
          <a:p>
            <a:pPr>
              <a:lnSpc>
                <a:spcPct val="150000"/>
              </a:lnSpc>
            </a:pPr>
            <a:r>
              <a:rPr lang="es-MX" sz="2800" i="1" dirty="0">
                <a:solidFill>
                  <a:schemeClr val="tx1"/>
                </a:solidFill>
              </a:rPr>
              <a:t>“rápidos y sucios” </a:t>
            </a:r>
          </a:p>
          <a:p>
            <a:pPr>
              <a:lnSpc>
                <a:spcPct val="150000"/>
              </a:lnSpc>
            </a:pPr>
            <a:r>
              <a:rPr lang="es-MX" sz="2800" i="1" dirty="0">
                <a:solidFill>
                  <a:schemeClr val="tx1"/>
                </a:solidFill>
              </a:rPr>
              <a:t>“optimizadores” </a:t>
            </a:r>
            <a:endParaRPr lang="es-MX" sz="2800" dirty="0">
              <a:solidFill>
                <a:schemeClr val="tx1"/>
              </a:solidFill>
            </a:endParaRPr>
          </a:p>
          <a:p>
            <a:pPr>
              <a:lnSpc>
                <a:spcPct val="150000"/>
              </a:lnSpc>
            </a:pPr>
            <a:endParaRPr lang="es-MX" dirty="0"/>
          </a:p>
          <a:p>
            <a:pPr>
              <a:lnSpc>
                <a:spcPct val="150000"/>
              </a:lnSpc>
            </a:pPr>
            <a:endParaRPr lang="es-MX" dirty="0"/>
          </a:p>
        </p:txBody>
      </p:sp>
      <p:sp>
        <p:nvSpPr>
          <p:cNvPr id="4" name="Marcador de fecha 3">
            <a:extLst>
              <a:ext uri="{FF2B5EF4-FFF2-40B4-BE49-F238E27FC236}">
                <a16:creationId xmlns:a16="http://schemas.microsoft.com/office/drawing/2014/main" id="{A5F3E996-69E3-024C-BDC9-AA01A6D2ADF1}"/>
              </a:ext>
            </a:extLst>
          </p:cNvPr>
          <p:cNvSpPr>
            <a:spLocks noGrp="1"/>
          </p:cNvSpPr>
          <p:nvPr>
            <p:ph type="dt" sz="half" idx="10"/>
          </p:nvPr>
        </p:nvSpPr>
        <p:spPr/>
        <p:txBody>
          <a:bodyPr/>
          <a:lstStyle/>
          <a:p>
            <a:fld id="{74F2F7F4-6626-45B2-9106-73608F631EF6}" type="datetime1">
              <a:rPr lang="es-MX" smtClean="0"/>
              <a:t>10/02/21</a:t>
            </a:fld>
            <a:endParaRPr lang="es-MX" dirty="0"/>
          </a:p>
        </p:txBody>
      </p:sp>
      <p:sp>
        <p:nvSpPr>
          <p:cNvPr id="5" name="Marcador de número de diapositiva 4">
            <a:extLst>
              <a:ext uri="{FF2B5EF4-FFF2-40B4-BE49-F238E27FC236}">
                <a16:creationId xmlns:a16="http://schemas.microsoft.com/office/drawing/2014/main" id="{E5ECE8DB-5432-CF4F-8401-A40710A80CF9}"/>
              </a:ext>
            </a:extLst>
          </p:cNvPr>
          <p:cNvSpPr>
            <a:spLocks noGrp="1"/>
          </p:cNvSpPr>
          <p:nvPr>
            <p:ph type="sldNum" sz="quarter" idx="12"/>
          </p:nvPr>
        </p:nvSpPr>
        <p:spPr/>
        <p:txBody>
          <a:bodyPr/>
          <a:lstStyle/>
          <a:p>
            <a:fld id="{5B6304BD-7E5E-452F-B95B-B399F4ABBCE9}" type="slidenum">
              <a:rPr lang="es-MX" smtClean="0"/>
              <a:t>8</a:t>
            </a:fld>
            <a:endParaRPr lang="es-MX" dirty="0"/>
          </a:p>
        </p:txBody>
      </p:sp>
      <p:sp>
        <p:nvSpPr>
          <p:cNvPr id="6" name="Título 1">
            <a:extLst>
              <a:ext uri="{FF2B5EF4-FFF2-40B4-BE49-F238E27FC236}">
                <a16:creationId xmlns:a16="http://schemas.microsoft.com/office/drawing/2014/main" id="{EC62B011-A43C-2943-B3FD-4F0E20056AD1}"/>
              </a:ext>
            </a:extLst>
          </p:cNvPr>
          <p:cNvSpPr txBox="1">
            <a:spLocks/>
          </p:cNvSpPr>
          <p:nvPr/>
        </p:nvSpPr>
        <p:spPr>
          <a:xfrm>
            <a:off x="471925" y="3644347"/>
            <a:ext cx="8596668" cy="98728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dirty="0"/>
              <a:t>Interpretadores</a:t>
            </a:r>
          </a:p>
        </p:txBody>
      </p:sp>
      <p:sp>
        <p:nvSpPr>
          <p:cNvPr id="8" name="Título 1">
            <a:extLst>
              <a:ext uri="{FF2B5EF4-FFF2-40B4-BE49-F238E27FC236}">
                <a16:creationId xmlns:a16="http://schemas.microsoft.com/office/drawing/2014/main" id="{5157038D-2C9C-E748-A45D-C1D3C5D1447B}"/>
              </a:ext>
            </a:extLst>
          </p:cNvPr>
          <p:cNvSpPr txBox="1">
            <a:spLocks/>
          </p:cNvSpPr>
          <p:nvPr/>
        </p:nvSpPr>
        <p:spPr>
          <a:xfrm>
            <a:off x="471925" y="4425411"/>
            <a:ext cx="8596668" cy="98728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dirty="0"/>
              <a:t>Cargadores absolutos y de relocalización</a:t>
            </a:r>
          </a:p>
        </p:txBody>
      </p:sp>
      <p:sp>
        <p:nvSpPr>
          <p:cNvPr id="9" name="Título 1">
            <a:extLst>
              <a:ext uri="{FF2B5EF4-FFF2-40B4-BE49-F238E27FC236}">
                <a16:creationId xmlns:a16="http://schemas.microsoft.com/office/drawing/2014/main" id="{7DB20630-662F-BD45-9BA7-FBEE14F8CA61}"/>
              </a:ext>
            </a:extLst>
          </p:cNvPr>
          <p:cNvSpPr txBox="1">
            <a:spLocks/>
          </p:cNvSpPr>
          <p:nvPr/>
        </p:nvSpPr>
        <p:spPr>
          <a:xfrm>
            <a:off x="471925" y="5338181"/>
            <a:ext cx="8596668" cy="987288"/>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dirty="0"/>
              <a:t>Cargadores de enlace y editores de enlace</a:t>
            </a:r>
          </a:p>
        </p:txBody>
      </p:sp>
      <p:sp>
        <p:nvSpPr>
          <p:cNvPr id="10" name="Marcador de número de diapositiva 4">
            <a:extLst>
              <a:ext uri="{FF2B5EF4-FFF2-40B4-BE49-F238E27FC236}">
                <a16:creationId xmlns:a16="http://schemas.microsoft.com/office/drawing/2014/main" id="{699C7D3B-1648-E342-98A0-9768F0880720}"/>
              </a:ext>
            </a:extLst>
          </p:cNvPr>
          <p:cNvSpPr txBox="1">
            <a:spLocks/>
          </p:cNvSpPr>
          <p:nvPr/>
        </p:nvSpPr>
        <p:spPr>
          <a:xfrm>
            <a:off x="11663208" y="6492874"/>
            <a:ext cx="683339" cy="365125"/>
          </a:xfrm>
          <a:prstGeom prst="rect">
            <a:avLst/>
          </a:prstGeom>
        </p:spPr>
        <p:txBody>
          <a:bodyPr vert="horz" lIns="91440" tIns="45720" rIns="91440" bIns="45720" rtlCol="0" anchor="ctr"/>
          <a:lstStyle>
            <a:defPPr>
              <a:defRPr lang="es-MX"/>
            </a:defPPr>
            <a:lvl1pPr marL="0" algn="r" defTabSz="914400" rtl="0" eaLnBrk="1" latinLnBrk="0" hangingPunct="1">
              <a:defRPr sz="9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fld id="{5B6304BD-7E5E-452F-B95B-B399F4ABBCE9}" type="slidenum">
              <a:rPr lang="es-MX" sz="3200" smtClean="0">
                <a:solidFill>
                  <a:srgbClr val="FF0000"/>
                </a:solidFill>
              </a:rPr>
              <a:pPr algn="just"/>
              <a:t>8</a:t>
            </a:fld>
            <a:endParaRPr lang="es-MX" sz="3200" dirty="0">
              <a:solidFill>
                <a:srgbClr val="FF0000"/>
              </a:solidFill>
            </a:endParaRPr>
          </a:p>
        </p:txBody>
      </p:sp>
    </p:spTree>
    <p:extLst>
      <p:ext uri="{BB962C8B-B14F-4D97-AF65-F5344CB8AC3E}">
        <p14:creationId xmlns:p14="http://schemas.microsoft.com/office/powerpoint/2010/main" val="4057018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p:cNvSpPr>
            <a:spLocks noGrp="1"/>
          </p:cNvSpPr>
          <p:nvPr>
            <p:ph type="sldNum" sz="quarter" idx="12"/>
          </p:nvPr>
        </p:nvSpPr>
        <p:spPr>
          <a:xfrm>
            <a:off x="11425946" y="6406487"/>
            <a:ext cx="683339" cy="365125"/>
          </a:xfrm>
        </p:spPr>
        <p:txBody>
          <a:bodyPr/>
          <a:lstStyle/>
          <a:p>
            <a:fld id="{D1081FAF-1A8D-4371-8D58-E14FA7C565C5}" type="slidenum">
              <a:rPr lang="es-MX" sz="3200" smtClean="0">
                <a:solidFill>
                  <a:srgbClr val="FF0000"/>
                </a:solidFill>
              </a:rPr>
              <a:t>9</a:t>
            </a:fld>
            <a:endParaRPr lang="es-MX" sz="3200" dirty="0">
              <a:solidFill>
                <a:srgbClr val="FF0000"/>
              </a:solidFill>
            </a:endParaRPr>
          </a:p>
        </p:txBody>
      </p:sp>
      <p:sp>
        <p:nvSpPr>
          <p:cNvPr id="11" name="CuadroTexto 10">
            <a:extLst>
              <a:ext uri="{FF2B5EF4-FFF2-40B4-BE49-F238E27FC236}">
                <a16:creationId xmlns:a16="http://schemas.microsoft.com/office/drawing/2014/main" id="{BFAA3D5D-889C-7642-A243-19C952556E34}"/>
              </a:ext>
            </a:extLst>
          </p:cNvPr>
          <p:cNvSpPr txBox="1"/>
          <p:nvPr/>
        </p:nvSpPr>
        <p:spPr>
          <a:xfrm>
            <a:off x="337931" y="616225"/>
            <a:ext cx="11489634" cy="5909310"/>
          </a:xfrm>
          <a:prstGeom prst="rect">
            <a:avLst/>
          </a:prstGeom>
          <a:noFill/>
        </p:spPr>
        <p:txBody>
          <a:bodyPr wrap="square" rtlCol="0">
            <a:spAutoFit/>
          </a:bodyPr>
          <a:lstStyle/>
          <a:p>
            <a:r>
              <a:rPr lang="es-MX" b="1" dirty="0"/>
              <a:t>¿Qué es el lenguaje máquina?</a:t>
            </a:r>
          </a:p>
          <a:p>
            <a:r>
              <a:rPr lang="es-MX" dirty="0"/>
              <a:t>El lenguaje de máquina o código máquina es el sistema de códigos directamente interpretable por un circuito microprogramable, como el microprocesador de una computadora o el microcontrolador de un autómata.</a:t>
            </a:r>
          </a:p>
          <a:p>
            <a:endParaRPr lang="es-MX" dirty="0"/>
          </a:p>
          <a:p>
            <a:r>
              <a:rPr lang="es-MX" b="1" dirty="0"/>
              <a:t>¿Para qué se desarrollaron los macro procesadores?</a:t>
            </a:r>
          </a:p>
          <a:p>
            <a:r>
              <a:rPr lang="es-MX" dirty="0"/>
              <a:t>Para acelerar la codificación de un programa ensamblador.</a:t>
            </a:r>
          </a:p>
          <a:p>
            <a:endParaRPr lang="es-MX" dirty="0"/>
          </a:p>
          <a:p>
            <a:r>
              <a:rPr lang="es-MX" b="1" dirty="0"/>
              <a:t>¿Para qué sirven los compiladores?</a:t>
            </a:r>
          </a:p>
          <a:p>
            <a:r>
              <a:rPr lang="es-MX" dirty="0"/>
              <a:t>Es aquel traductor que tiene como entrada una sentencia en lenguaje formal y como salida tiene un fichero ejecutable, es decir, realiza una traducción de un código de alto nivel a código máquina (también se entiende por compilador aquel programa que proporciona un fichero objeto en lugar del ejecutable final).</a:t>
            </a:r>
          </a:p>
          <a:p>
            <a:endParaRPr lang="es-MX" dirty="0"/>
          </a:p>
          <a:p>
            <a:r>
              <a:rPr lang="es-MX" b="1" dirty="0"/>
              <a:t>¿Qué es una variable de entrada y una variable de salida?</a:t>
            </a:r>
          </a:p>
          <a:p>
            <a:r>
              <a:rPr lang="es-MX" dirty="0"/>
              <a:t>Variable de entrada: es una variable del sistema tal que una modificación de su magnitud o condición puede alterar el estado del sistema. </a:t>
            </a:r>
          </a:p>
          <a:p>
            <a:r>
              <a:rPr lang="es-MX" dirty="0"/>
              <a:t>Variable de salida: es una variable del sistema cuya magnitud o condición se mide.</a:t>
            </a:r>
          </a:p>
          <a:p>
            <a:endParaRPr lang="es-MX" dirty="0"/>
          </a:p>
          <a:p>
            <a:r>
              <a:rPr lang="es-MX" b="1" dirty="0"/>
              <a:t>¿Cuál era la utilización del Spool?</a:t>
            </a:r>
          </a:p>
          <a:p>
            <a:r>
              <a:rPr lang="es-MX" dirty="0"/>
              <a:t>En el modo spool, un dispositivo de alta velocidad como un disco duro se interpone entre un programa en ejecución y un dispositivo de baja velocidad relacionado con la entrada y salida del programa.</a:t>
            </a:r>
          </a:p>
          <a:p>
            <a:endParaRPr lang="es-MX" dirty="0"/>
          </a:p>
        </p:txBody>
      </p:sp>
      <p:sp>
        <p:nvSpPr>
          <p:cNvPr id="12" name="CuadroTexto 11">
            <a:extLst>
              <a:ext uri="{FF2B5EF4-FFF2-40B4-BE49-F238E27FC236}">
                <a16:creationId xmlns:a16="http://schemas.microsoft.com/office/drawing/2014/main" id="{53E878FD-AC54-1B4A-B99C-88E92B05F08B}"/>
              </a:ext>
            </a:extLst>
          </p:cNvPr>
          <p:cNvSpPr txBox="1"/>
          <p:nvPr/>
        </p:nvSpPr>
        <p:spPr>
          <a:xfrm>
            <a:off x="477078" y="0"/>
            <a:ext cx="1447832" cy="400110"/>
          </a:xfrm>
          <a:prstGeom prst="rect">
            <a:avLst/>
          </a:prstGeom>
          <a:noFill/>
        </p:spPr>
        <p:txBody>
          <a:bodyPr wrap="none" rtlCol="0">
            <a:spAutoFit/>
          </a:bodyPr>
          <a:lstStyle/>
          <a:p>
            <a:r>
              <a:rPr lang="es-MX" sz="2000" b="1" dirty="0"/>
              <a:t>Preguntas </a:t>
            </a:r>
          </a:p>
        </p:txBody>
      </p:sp>
    </p:spTree>
    <p:extLst>
      <p:ext uri="{BB962C8B-B14F-4D97-AF65-F5344CB8AC3E}">
        <p14:creationId xmlns:p14="http://schemas.microsoft.com/office/powerpoint/2010/main" val="4184870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651</TotalTime>
  <Words>2166</Words>
  <Application>Microsoft Macintosh PowerPoint</Application>
  <PresentationFormat>Panorámica</PresentationFormat>
  <Paragraphs>161</Paragraphs>
  <Slides>9</Slides>
  <Notes>9</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9</vt:i4>
      </vt:variant>
    </vt:vector>
  </HeadingPairs>
  <TitlesOfParts>
    <vt:vector size="18" baseType="lpstr">
      <vt:lpstr>Arial</vt:lpstr>
      <vt:lpstr>Calibri</vt:lpstr>
      <vt:lpstr>CourierNewPSMT</vt:lpstr>
      <vt:lpstr>SymbolMT</vt:lpstr>
      <vt:lpstr>TimesNewRomanPS</vt:lpstr>
      <vt:lpstr>TimesNewRomanPSMT</vt:lpstr>
      <vt:lpstr>Trebuchet MS</vt:lpstr>
      <vt:lpstr>Wingdings 3</vt:lpstr>
      <vt:lpstr>Faceta</vt:lpstr>
      <vt:lpstr>Presentación de PowerPoint</vt:lpstr>
      <vt:lpstr>Programación lenguaje máquina</vt:lpstr>
      <vt:lpstr>ENSAMBLADORES Y MACROPROCESADORES</vt:lpstr>
      <vt:lpstr>COMPILADORES </vt:lpstr>
      <vt:lpstr>  Sistemas de control de entrada/salida </vt:lpstr>
      <vt:lpstr>Utilización del SPOOL</vt:lpstr>
      <vt:lpstr>Lenguajes orientados hacia el procedimiento versus lenguajes orientados hacia el problema:  </vt:lpstr>
      <vt:lpstr>Compiladores rápidos y sucios versus compiladores optimizadores</vt:lpstr>
      <vt:lpstr>Presentación de PowerPoint</vt:lpstr>
    </vt:vector>
  </TitlesOfParts>
  <Company>Hewlett-Packard</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TRABAJO DE INVESTIGACION 1</dc:title>
  <dc:creator>Paco Acuario</dc:creator>
  <cp:lastModifiedBy>RENE EDMUNDO CUEVAS VALENCIA</cp:lastModifiedBy>
  <cp:revision>28</cp:revision>
  <dcterms:created xsi:type="dcterms:W3CDTF">2017-09-01T15:29:03Z</dcterms:created>
  <dcterms:modified xsi:type="dcterms:W3CDTF">2021-02-11T05:33:23Z</dcterms:modified>
</cp:coreProperties>
</file>