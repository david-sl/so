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8" r:id="rId2"/>
    <p:sldId id="261" r:id="rId3"/>
    <p:sldId id="260" r:id="rId4"/>
    <p:sldId id="262" r:id="rId5"/>
    <p:sldId id="270" r:id="rId6"/>
    <p:sldId id="263" r:id="rId7"/>
    <p:sldId id="264" r:id="rId8"/>
    <p:sldId id="272" r:id="rId9"/>
    <p:sldId id="271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4" autoAdjust="0"/>
    <p:restoredTop sz="65027" autoAdjust="0"/>
  </p:normalViewPr>
  <p:slideViewPr>
    <p:cSldViewPr snapToGrid="0">
      <p:cViewPr varScale="1">
        <p:scale>
          <a:sx n="58" d="100"/>
          <a:sy n="58" d="100"/>
        </p:scale>
        <p:origin x="1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04C3F-FC73-4633-A4E7-318BA0CE5B1C}" type="datetimeFigureOut">
              <a:rPr lang="es-MX" smtClean="0"/>
              <a:t>02/02/21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02796-CAA1-4B98-9541-6C99A35E5D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7058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concepto de </a:t>
            </a:r>
            <a:r>
              <a:rPr lang="es-MX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“microprogramación” 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suele atribuirse al prof. Maurice Wilkes (1951) [7, Deitel]. </a:t>
            </a:r>
            <a:endParaRPr lang="es-MX" dirty="0"/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primer aplicación a gran escala fueron los S/360 (IBM - ’60) [24, Tanenbaum]. </a:t>
            </a:r>
            <a:endParaRPr lang="es-MX" dirty="0"/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702796-CAA1-4B98-9541-6C99A35E5D2C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7809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dirty="0">
                <a:effectLst/>
                <a:latin typeface="TimesNewRomanPSMT" panose="02020603050405020304" pitchFamily="18" charset="0"/>
              </a:rPr>
              <a:t>La </a:t>
            </a:r>
            <a:r>
              <a:rPr lang="es-MX" sz="1200" i="1" dirty="0">
                <a:effectLst/>
                <a:latin typeface="TimesNewRomanPS"/>
              </a:rPr>
              <a:t>“microprogramación dinámica”: </a:t>
            </a:r>
            <a:r>
              <a:rPr lang="es-MX" sz="1200" dirty="0">
                <a:effectLst/>
                <a:latin typeface="TimesNewRomanPSMT" panose="02020603050405020304" pitchFamily="18" charset="0"/>
              </a:rPr>
              <a:t>permite cargar fácilmente los nuevos </a:t>
            </a:r>
            <a:r>
              <a:rPr lang="es-MX" sz="1200" i="1" dirty="0">
                <a:effectLst/>
                <a:latin typeface="TimesNewRomanPS"/>
              </a:rPr>
              <a:t>“microprogramas” (“microcódigo”) </a:t>
            </a:r>
            <a:r>
              <a:rPr lang="es-MX" sz="1200" dirty="0">
                <a:effectLst/>
                <a:latin typeface="TimesNewRomanPSMT" panose="02020603050405020304" pitchFamily="18" charset="0"/>
              </a:rPr>
              <a:t>dentro del </a:t>
            </a:r>
            <a:r>
              <a:rPr lang="es-MX" sz="1200" i="1" dirty="0">
                <a:effectLst/>
                <a:latin typeface="TimesNewRomanPS"/>
              </a:rPr>
              <a:t>“almacenamiento de control ”</a:t>
            </a:r>
            <a:r>
              <a:rPr lang="es-MX" sz="1200" dirty="0">
                <a:effectLst/>
                <a:latin typeface="TimesNewRomanPSMT" panose="02020603050405020304" pitchFamily="18" charset="0"/>
              </a:rPr>
              <a:t>, desde donde son ejecutados: </a:t>
            </a:r>
            <a:endParaRPr lang="es-MX" dirty="0"/>
          </a:p>
          <a:p>
            <a:endParaRPr lang="es-MX" dirty="0"/>
          </a:p>
          <a:p>
            <a:endParaRPr lang="es-MX" dirty="0"/>
          </a:p>
          <a:p>
            <a:r>
              <a:rPr lang="es-MX" sz="1000" dirty="0">
                <a:effectLst/>
                <a:latin typeface="SymbolMT"/>
              </a:rPr>
              <a:t>• </a:t>
            </a:r>
            <a:r>
              <a:rPr lang="es-MX" sz="1200" dirty="0">
                <a:effectLst/>
                <a:latin typeface="TimesNewRomanPSMT" panose="02020603050405020304" pitchFamily="18" charset="0"/>
              </a:rPr>
              <a:t>Permite variar dinámica y frecuentemente los conjuntos de instrucciones de máquina. </a:t>
            </a:r>
            <a:endParaRPr lang="es-MX" dirty="0"/>
          </a:p>
          <a:p>
            <a:endParaRPr lang="es-MX" dirty="0"/>
          </a:p>
          <a:p>
            <a:r>
              <a:rPr lang="es-MX" sz="1200" dirty="0">
                <a:effectLst/>
                <a:latin typeface="TimesNewRomanPSMT" panose="02020603050405020304" pitchFamily="18" charset="0"/>
              </a:rPr>
              <a:t>La </a:t>
            </a:r>
            <a:r>
              <a:rPr lang="es-MX" sz="1200" i="1" dirty="0">
                <a:effectLst/>
                <a:latin typeface="TimesNewRomanPS"/>
              </a:rPr>
              <a:t>“microprogramación” </a:t>
            </a:r>
            <a:r>
              <a:rPr lang="es-MX" sz="1200" dirty="0">
                <a:effectLst/>
                <a:latin typeface="TimesNewRomanPSMT" panose="02020603050405020304" pitchFamily="18" charset="0"/>
              </a:rPr>
              <a:t>introduce una capa de programación por debajo del lenguaje de máquina: </a:t>
            </a:r>
            <a:endParaRPr lang="es-MX" dirty="0"/>
          </a:p>
          <a:p>
            <a:pPr lvl="1"/>
            <a:r>
              <a:rPr lang="es-MX" sz="1000" dirty="0">
                <a:effectLst/>
                <a:latin typeface="SymbolMT"/>
              </a:rPr>
              <a:t>• </a:t>
            </a:r>
            <a:r>
              <a:rPr lang="es-MX" sz="1200" dirty="0">
                <a:effectLst/>
                <a:latin typeface="TimesNewRomanPSMT" panose="02020603050405020304" pitchFamily="18" charset="0"/>
              </a:rPr>
              <a:t>Hace posible definir las instrucciones del lenguaje de máquina.</a:t>
            </a:r>
          </a:p>
          <a:p>
            <a:pPr lvl="1"/>
            <a:endParaRPr lang="es-MX" sz="1200" dirty="0">
              <a:effectLst/>
              <a:latin typeface="TimesNewRomanPSMT" panose="02020603050405020304" pitchFamily="18" charset="0"/>
            </a:endParaRPr>
          </a:p>
          <a:p>
            <a:pPr lvl="0"/>
            <a:r>
              <a:rPr lang="es-MX" sz="1200" dirty="0">
                <a:effectLst/>
                <a:latin typeface="TimesNewRomanPSMT" panose="02020603050405020304" pitchFamily="18" charset="0"/>
              </a:rPr>
              <a:t>Los </a:t>
            </a:r>
            <a:r>
              <a:rPr lang="es-MX" sz="1200" i="1" dirty="0">
                <a:effectLst/>
                <a:latin typeface="TimesNewRomanPS"/>
              </a:rPr>
              <a:t>“microprogramas” </a:t>
            </a:r>
            <a:r>
              <a:rPr lang="es-MX" sz="1200" dirty="0">
                <a:effectLst/>
                <a:latin typeface="TimesNewRomanPSMT" panose="02020603050405020304" pitchFamily="18" charset="0"/>
              </a:rPr>
              <a:t>están formados por </a:t>
            </a:r>
            <a:r>
              <a:rPr lang="es-MX" sz="1200" i="1" dirty="0">
                <a:effectLst/>
                <a:latin typeface="TimesNewRomanPS"/>
              </a:rPr>
              <a:t>“microinstrucciones” </a:t>
            </a:r>
            <a:r>
              <a:rPr lang="es-MX" sz="1200" dirty="0">
                <a:effectLst/>
                <a:latin typeface="TimesNewRomanPSMT" panose="02020603050405020304" pitchFamily="18" charset="0"/>
              </a:rPr>
              <a:t>individuales que en relación a las instrucciones de los lenguajes de máquina son de: </a:t>
            </a:r>
            <a:endParaRPr lang="es-MX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MX" sz="1200" dirty="0">
                <a:effectLst/>
                <a:latin typeface="TimesNewRomanPSMT" panose="02020603050405020304" pitchFamily="18" charset="0"/>
              </a:rPr>
              <a:t>Naturaleza mucho más elemental. </a:t>
            </a:r>
            <a:endParaRPr lang="es-MX" sz="1000" dirty="0">
              <a:effectLst/>
              <a:latin typeface="SymbolM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s-MX" sz="1200" dirty="0">
                <a:effectLst/>
                <a:latin typeface="TimesNewRomanPSMT" panose="02020603050405020304" pitchFamily="18" charset="0"/>
              </a:rPr>
              <a:t>Función más dispersa. </a:t>
            </a:r>
            <a:endParaRPr lang="es-MX" sz="1000" dirty="0">
              <a:effectLst/>
              <a:latin typeface="SymbolMT"/>
            </a:endParaRPr>
          </a:p>
          <a:p>
            <a:endParaRPr lang="es-MX" sz="1200" dirty="0">
              <a:effectLst/>
              <a:latin typeface="TimesNewRomanPSMT" panose="02020603050405020304" pitchFamily="18" charset="0"/>
            </a:endParaRPr>
          </a:p>
          <a:p>
            <a:r>
              <a:rPr lang="es-MX" sz="1200" dirty="0">
                <a:effectLst/>
                <a:latin typeface="TimesNewRomanPSMT" panose="02020603050405020304" pitchFamily="18" charset="0"/>
              </a:rPr>
              <a:t>Cada instrucción de lenguaje de máquina es implementada por un microprograma completo que puede ser extenso: </a:t>
            </a:r>
            <a:endParaRPr lang="es-MX" dirty="0"/>
          </a:p>
          <a:p>
            <a:endParaRPr lang="es-MX" sz="1000" dirty="0">
              <a:effectLst/>
              <a:latin typeface="SymbolMT"/>
            </a:endParaRPr>
          </a:p>
          <a:p>
            <a:pPr lvl="1"/>
            <a:r>
              <a:rPr lang="es-MX" sz="1000" dirty="0">
                <a:effectLst/>
                <a:latin typeface="SymbolMT"/>
              </a:rPr>
              <a:t>• </a:t>
            </a:r>
            <a:r>
              <a:rPr lang="es-MX" sz="1200" dirty="0">
                <a:effectLst/>
                <a:latin typeface="TimesNewRomanPSMT" panose="02020603050405020304" pitchFamily="18" charset="0"/>
              </a:rPr>
              <a:t>El almacenamiento de control debe ser mucho más rápido que el almacenamiento primario. </a:t>
            </a:r>
            <a:endParaRPr lang="es-MX" dirty="0"/>
          </a:p>
          <a:p>
            <a:endParaRPr lang="es-MX" dirty="0"/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702796-CAA1-4B98-9541-6C99A35E5D2C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694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dirty="0">
                <a:effectLst/>
                <a:latin typeface="TimesNewRomanPSMT" panose="02020603050405020304" pitchFamily="18" charset="0"/>
              </a:rPr>
              <a:t>El </a:t>
            </a:r>
            <a:r>
              <a:rPr lang="es-MX" sz="1200" i="1" dirty="0">
                <a:effectLst/>
                <a:latin typeface="TimesNewRomanPS"/>
              </a:rPr>
              <a:t>“microcódigo vertical ”: </a:t>
            </a:r>
          </a:p>
          <a:p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effectLst/>
                <a:latin typeface="TimesNewRomanPSMT" panose="02020603050405020304" pitchFamily="18" charset="0"/>
              </a:rPr>
              <a:t>Es similar a la ejecución de instrucciones en lenguaje de máquina. </a:t>
            </a:r>
            <a:endParaRPr lang="es-MX" sz="100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effectLst/>
                <a:latin typeface="TimesNewRomanPSMT" panose="02020603050405020304" pitchFamily="18" charset="0"/>
              </a:rPr>
              <a:t>Especifica el movimiento de uno o varios datos entre registros. 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200" dirty="0">
              <a:effectLst/>
              <a:latin typeface="TimesNewRomanPSMT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s-MX" sz="1200" dirty="0">
                <a:effectLst/>
                <a:latin typeface="TimesNewRomanPSMT" panose="02020603050405020304" pitchFamily="18" charset="0"/>
              </a:rPr>
              <a:t>El </a:t>
            </a:r>
            <a:r>
              <a:rPr lang="es-MX" sz="1200" i="1" dirty="0">
                <a:effectLst/>
                <a:latin typeface="TimesNewRomanPS"/>
              </a:rPr>
              <a:t>“microcódigo horizontal ”: </a:t>
            </a:r>
          </a:p>
          <a:p>
            <a:pPr>
              <a:buFont typeface="Arial" panose="020B0604020202020204" pitchFamily="34" charset="0"/>
              <a:buNone/>
            </a:pPr>
            <a:endParaRPr lang="es-MX" sz="100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effectLst/>
                <a:latin typeface="TimesNewRomanPSMT" panose="02020603050405020304" pitchFamily="18" charset="0"/>
              </a:rPr>
              <a:t>Está constituído por microinstrucciones que requieren muchos más bits. </a:t>
            </a:r>
            <a:endParaRPr lang="es-MX" sz="100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effectLst/>
                <a:latin typeface="TimesNewRomanPSMT" panose="02020603050405020304" pitchFamily="18" charset="0"/>
              </a:rPr>
              <a:t>Puede especificar la operación paralela de movimiento de datos entre muchos o todos los registros de datos de la unidad de control. </a:t>
            </a:r>
            <a:endParaRPr lang="es-MX" sz="100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effectLst/>
                <a:latin typeface="TimesNewRomanPSMT" panose="02020603050405020304" pitchFamily="18" charset="0"/>
              </a:rPr>
              <a:t>Es más poderoso pero más complejo que el microcódigo vertical. 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00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s-MX" sz="1200" b="1" dirty="0">
                <a:effectLst/>
                <a:latin typeface="TimesNewRomanPS"/>
              </a:rPr>
              <a:t>Decisión de qué funciones implementar en microcódigo: </a:t>
            </a:r>
            <a:endParaRPr lang="es-MX" sz="1000" dirty="0">
              <a:effectLst/>
              <a:latin typeface="SymbolM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200" dirty="0">
                <a:effectLst/>
                <a:latin typeface="TimesNewRomanPSMT" panose="02020603050405020304" pitchFamily="18" charset="0"/>
              </a:rPr>
              <a:t>Una importante cuestión de diseño es decidir qué funciones del sistema computacional se implementarán en microcódigo. </a:t>
            </a:r>
            <a:endParaRPr lang="es-MX" sz="1000" dirty="0">
              <a:effectLst/>
              <a:latin typeface="SymbolM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200" dirty="0">
                <a:effectLst/>
                <a:latin typeface="TimesNewRomanPSMT" panose="02020603050405020304" pitchFamily="18" charset="0"/>
              </a:rPr>
              <a:t>El microcódigo permite mejorar el rendimiento en la ejecución de un sistema computacional. </a:t>
            </a:r>
            <a:endParaRPr lang="es-MX" sz="1000" dirty="0">
              <a:effectLst/>
              <a:latin typeface="SymbolM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200" dirty="0">
                <a:effectLst/>
                <a:latin typeface="TimesNewRomanPSMT" panose="02020603050405020304" pitchFamily="18" charset="0"/>
              </a:rPr>
              <a:t>El criterio frecuentemente es colocar en la memoria fija (en vez de en el software) las secuencias de instrucciones utilizadas con más frecuencia. </a:t>
            </a:r>
            <a:endParaRPr lang="es-MX" sz="1000" dirty="0">
              <a:effectLst/>
              <a:latin typeface="SymbolM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702796-CAA1-4B98-9541-6C99A35E5D2C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0110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effectLst/>
                <a:latin typeface="TimesNewRomanPSMT" panose="02020603050405020304" pitchFamily="18" charset="0"/>
              </a:rPr>
              <a:t>Es una técnica por medio de la cual se hace que una máquina aparente ser otra. </a:t>
            </a:r>
            <a:endParaRPr lang="es-MX" sz="100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effectLst/>
                <a:latin typeface="TimesNewRomanPSMT" panose="02020603050405020304" pitchFamily="18" charset="0"/>
              </a:rPr>
              <a:t>El conjunto de instrucciones de lenguaje de máquina que va a ser emulada se microprograma en la </a:t>
            </a:r>
            <a:r>
              <a:rPr lang="es-MX" sz="1200" i="1" dirty="0">
                <a:effectLst/>
                <a:latin typeface="TimesNewRomanPS"/>
              </a:rPr>
              <a:t>“máquina anfitriona”. </a:t>
            </a:r>
            <a:endParaRPr lang="es-MX" sz="100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effectLst/>
                <a:latin typeface="TimesNewRomanPSMT" panose="02020603050405020304" pitchFamily="18" charset="0"/>
              </a:rPr>
              <a:t>Los programas de lenguaje de máquina de la máquina emulada pueden ejecutarse directamente en la anfitriona. </a:t>
            </a:r>
            <a:endParaRPr lang="es-MX" sz="100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effectLst/>
                <a:latin typeface="TimesNewRomanPSMT" panose="02020603050405020304" pitchFamily="18" charset="0"/>
              </a:rPr>
              <a:t>Es útil para compatibilidad y migración de sistemas. </a:t>
            </a:r>
            <a:endParaRPr lang="es-MX" sz="1000" dirty="0">
              <a:effectLst/>
              <a:latin typeface="SymbolMT"/>
            </a:endParaRPr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702796-CAA1-4B98-9541-6C99A35E5D2C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4397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None/>
            </a:pPr>
            <a:r>
              <a:rPr lang="es-MX" sz="1200" dirty="0">
                <a:effectLst/>
                <a:latin typeface="TimesNewRomanPSMT" panose="02020603050405020304" pitchFamily="18" charset="0"/>
              </a:rPr>
              <a:t>Los microprogramas tienen más acceso al hardware que los programas de lenguaje de máquina: </a:t>
            </a:r>
            <a:endParaRPr lang="es-MX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200" dirty="0">
                <a:effectLst/>
                <a:latin typeface="TimesNewRomanPSMT" panose="02020603050405020304" pitchFamily="18" charset="0"/>
              </a:rPr>
              <a:t>Es posible efectuar detección y corrección de errores más amplia a un nivel más fino. </a:t>
            </a:r>
            <a:endParaRPr lang="es-MX" sz="1000" dirty="0">
              <a:effectLst/>
              <a:latin typeface="SymbolM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200" dirty="0">
                <a:effectLst/>
                <a:latin typeface="TimesNewRomanPSMT" panose="02020603050405020304" pitchFamily="18" charset="0"/>
              </a:rPr>
              <a:t>Se puede intercalar el </a:t>
            </a:r>
            <a:r>
              <a:rPr lang="es-MX" sz="1200" i="1" dirty="0">
                <a:effectLst/>
                <a:latin typeface="TimesNewRomanPS"/>
              </a:rPr>
              <a:t>“microdiagnóstico” </a:t>
            </a:r>
            <a:r>
              <a:rPr lang="es-MX" sz="1200" dirty="0">
                <a:effectLst/>
                <a:latin typeface="TimesNewRomanPSMT" panose="02020603050405020304" pitchFamily="18" charset="0"/>
              </a:rPr>
              <a:t>con las instrucciones de programas de lenguaje de máquina. </a:t>
            </a:r>
            <a:endParaRPr lang="es-MX" sz="1000" dirty="0">
              <a:effectLst/>
              <a:latin typeface="SymbolMT"/>
            </a:endParaRPr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702796-CAA1-4B98-9541-6C99A35E5D2C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371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hardware proporciona un ambiente de propósito general para ejecutar programas de software: </a:t>
            </a:r>
            <a:endParaRPr lang="es-MX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effectLst/>
                <a:latin typeface="TimesNewRomanPSMT" panose="02020603050405020304" pitchFamily="18" charset="0"/>
              </a:rPr>
              <a:t>Moldean el sistema computacional según las necesidades del usuario. </a:t>
            </a:r>
            <a:endParaRPr lang="es-MX" sz="100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effectLst/>
                <a:latin typeface="TimesNewRomanPSMT" panose="02020603050405020304" pitchFamily="18" charset="0"/>
              </a:rPr>
              <a:t>En algunos sistemas los usuarios pueden efectuar esta adaptación por medio del microcódigo. </a:t>
            </a:r>
            <a:endParaRPr lang="es-MX" sz="1000" dirty="0">
              <a:effectLst/>
              <a:latin typeface="SymbolMT"/>
            </a:endParaRPr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702796-CAA1-4B98-9541-6C99A35E5D2C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63454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Asistencias de microcódigo: </a:t>
            </a:r>
            <a:endParaRPr lang="es-MX" dirty="0">
              <a:effectLst/>
            </a:endParaRP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Implementan varias rutinas de manejo de interrupciones de uso más frecuente en microcódigo a fin de lograr mejoras significativas en la ejecución.</a:t>
            </a:r>
            <a:b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s-MX" dirty="0">
              <a:effectLst/>
            </a:endParaRPr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702796-CAA1-4B98-9541-6C99A35E5D2C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9164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Microprogramación y sistemas operativos:</a:t>
            </a:r>
            <a:b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 funciones implementadas frecuentemente en microcódigo son las siguientes: </a:t>
            </a:r>
            <a:endParaRPr lang="es-MX" dirty="0">
              <a:effectLst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Manejo de interrupciones. </a:t>
            </a:r>
            <a:endParaRPr lang="es-MX" sz="10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Mantenimiento de varios tipos de estructuras de datos. </a:t>
            </a:r>
            <a:endParaRPr lang="es-MX" sz="10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Primitivas de sincronización que controlan el acceso a los datos compartidos y otros recursos. </a:t>
            </a:r>
            <a:endParaRPr lang="es-MX" sz="10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Operaciones de palabras parciales que permiten que las operaciones de manipulación de bits sean manejadas en forma eficiente. </a:t>
            </a:r>
            <a:endParaRPr lang="es-MX" sz="10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MX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“Intercambio de contexto”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por ej., intercambio rápido del procesador entre los usuarios de un sistema de usuarios múltiples. </a:t>
            </a:r>
            <a:endParaRPr lang="es-MX" sz="10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Secuencias de regreso y llamada al procedimiento. </a:t>
            </a:r>
            <a:endParaRPr lang="es-MX" sz="10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702796-CAA1-4B98-9541-6C99A35E5D2C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5790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331A-EDB8-409D-82C3-6A9DEB7984F0}" type="datetimeFigureOut">
              <a:rPr lang="es-MX" smtClean="0"/>
              <a:t>02/02/21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4058F5E-D708-49B5-B197-F1897428FD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83326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331A-EDB8-409D-82C3-6A9DEB7984F0}" type="datetimeFigureOut">
              <a:rPr lang="es-MX" smtClean="0"/>
              <a:t>02/02/21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58F5E-D708-49B5-B197-F1897428FD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3583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331A-EDB8-409D-82C3-6A9DEB7984F0}" type="datetimeFigureOut">
              <a:rPr lang="es-MX" smtClean="0"/>
              <a:t>02/02/21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4058F5E-D708-49B5-B197-F1897428FD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6420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331A-EDB8-409D-82C3-6A9DEB7984F0}" type="datetimeFigureOut">
              <a:rPr lang="es-MX" smtClean="0"/>
              <a:t>02/02/21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4058F5E-D708-49B5-B197-F1897428FD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05507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331A-EDB8-409D-82C3-6A9DEB7984F0}" type="datetimeFigureOut">
              <a:rPr lang="es-MX" smtClean="0"/>
              <a:t>02/02/21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4058F5E-D708-49B5-B197-F1897428FD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6939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331A-EDB8-409D-82C3-6A9DEB7984F0}" type="datetimeFigureOut">
              <a:rPr lang="es-MX" smtClean="0"/>
              <a:t>02/02/21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58F5E-D708-49B5-B197-F1897428FD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2182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331A-EDB8-409D-82C3-6A9DEB7984F0}" type="datetimeFigureOut">
              <a:rPr lang="es-MX" smtClean="0"/>
              <a:t>02/02/21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58F5E-D708-49B5-B197-F1897428FD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6331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331A-EDB8-409D-82C3-6A9DEB7984F0}" type="datetimeFigureOut">
              <a:rPr lang="es-MX" smtClean="0"/>
              <a:t>02/02/21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58F5E-D708-49B5-B197-F1897428FD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7458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331A-EDB8-409D-82C3-6A9DEB7984F0}" type="datetimeFigureOut">
              <a:rPr lang="es-MX" smtClean="0"/>
              <a:t>02/02/21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4058F5E-D708-49B5-B197-F1897428FD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7544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331A-EDB8-409D-82C3-6A9DEB7984F0}" type="datetimeFigureOut">
              <a:rPr lang="es-MX" smtClean="0"/>
              <a:t>02/02/21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4058F5E-D708-49B5-B197-F1897428FD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5281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331A-EDB8-409D-82C3-6A9DEB7984F0}" type="datetimeFigureOut">
              <a:rPr lang="es-MX" smtClean="0"/>
              <a:t>02/02/21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4058F5E-D708-49B5-B197-F1897428FD9F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9582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331A-EDB8-409D-82C3-6A9DEB7984F0}" type="datetimeFigureOut">
              <a:rPr lang="es-MX" smtClean="0"/>
              <a:t>02/02/21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4058F5E-D708-49B5-B197-F1897428FD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92388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331A-EDB8-409D-82C3-6A9DEB7984F0}" type="datetimeFigureOut">
              <a:rPr lang="es-MX" smtClean="0"/>
              <a:t>02/02/21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4058F5E-D708-49B5-B197-F1897428FD9F}" type="slidenum">
              <a:rPr lang="es-MX" smtClean="0"/>
              <a:t>‹Nº›</a:t>
            </a:fld>
            <a:endParaRPr lang="es-MX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27737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331A-EDB8-409D-82C3-6A9DEB7984F0}" type="datetimeFigureOut">
              <a:rPr lang="es-MX" smtClean="0"/>
              <a:t>02/02/21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4058F5E-D708-49B5-B197-F1897428FD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2734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331A-EDB8-409D-82C3-6A9DEB7984F0}" type="datetimeFigureOut">
              <a:rPr lang="es-MX" smtClean="0"/>
              <a:t>02/02/21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58F5E-D708-49B5-B197-F1897428FD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5594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331A-EDB8-409D-82C3-6A9DEB7984F0}" type="datetimeFigureOut">
              <a:rPr lang="es-MX" smtClean="0"/>
              <a:t>02/02/21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58F5E-D708-49B5-B197-F1897428FD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283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3331A-EDB8-409D-82C3-6A9DEB7984F0}" type="datetimeFigureOut">
              <a:rPr lang="es-MX" smtClean="0"/>
              <a:t>02/02/21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4058F5E-D708-49B5-B197-F1897428FD9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3551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22746-2306-4BD9-8376-BC7088C0BC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9971" y="2809460"/>
            <a:ext cx="5030787" cy="1027016"/>
          </a:xfrm>
        </p:spPr>
        <p:txBody>
          <a:bodyPr/>
          <a:lstStyle/>
          <a:p>
            <a:r>
              <a:rPr lang="es-MX" dirty="0"/>
              <a:t>Memoria fija</a:t>
            </a:r>
          </a:p>
        </p:txBody>
      </p:sp>
    </p:spTree>
    <p:extLst>
      <p:ext uri="{BB962C8B-B14F-4D97-AF65-F5344CB8AC3E}">
        <p14:creationId xmlns:p14="http://schemas.microsoft.com/office/powerpoint/2010/main" val="1327297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A96E95-3351-4E51-9E9C-B1BA0841A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3513" y="450573"/>
            <a:ext cx="8984974" cy="965546"/>
          </a:xfrm>
        </p:spPr>
        <p:txBody>
          <a:bodyPr/>
          <a:lstStyle/>
          <a:p>
            <a:r>
              <a:rPr lang="es-MX" dirty="0"/>
              <a:t>Microprogramación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A1C3B1-3FA5-4C9A-807E-6790E53A3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55304"/>
            <a:ext cx="8971722" cy="3402496"/>
          </a:xfrm>
        </p:spPr>
        <p:txBody>
          <a:bodyPr>
            <a:normAutofit/>
          </a:bodyPr>
          <a:lstStyle/>
          <a:p>
            <a:pPr algn="just"/>
            <a:r>
              <a:rPr lang="es-MX" dirty="0">
                <a:solidFill>
                  <a:schemeClr val="tx1"/>
                </a:solidFill>
              </a:rPr>
              <a:t>están formadas por microinstrucciones individuales que en la relación de la instrucción de los lenguajes de maquina son de: </a:t>
            </a:r>
          </a:p>
          <a:p>
            <a:pPr algn="just"/>
            <a:endParaRPr lang="es-MX" dirty="0">
              <a:solidFill>
                <a:schemeClr val="tx1"/>
              </a:solidFill>
            </a:endParaRPr>
          </a:p>
          <a:p>
            <a:pPr algn="just"/>
            <a:r>
              <a:rPr lang="es-MX" dirty="0">
                <a:solidFill>
                  <a:schemeClr val="tx1"/>
                </a:solidFill>
              </a:rPr>
              <a:t>Naturaleza mucho más elemental.</a:t>
            </a:r>
          </a:p>
          <a:p>
            <a:pPr algn="just"/>
            <a:r>
              <a:rPr lang="es-MX" dirty="0">
                <a:solidFill>
                  <a:schemeClr val="tx1"/>
                </a:solidFill>
              </a:rPr>
              <a:t>Función más dispersa.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53426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E8DDC-8B06-4604-AF77-902702C13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8243" y="424069"/>
            <a:ext cx="6175513" cy="992050"/>
          </a:xfrm>
        </p:spPr>
        <p:txBody>
          <a:bodyPr/>
          <a:lstStyle/>
          <a:p>
            <a:r>
              <a:rPr lang="es-MX" dirty="0"/>
              <a:t>Microcódigos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8E8D4D-4DEB-459E-8DFD-2F13411FD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2607" y="1958769"/>
            <a:ext cx="3246783" cy="1460292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3200" dirty="0">
                <a:solidFill>
                  <a:schemeClr val="tx1"/>
                </a:solidFill>
              </a:rPr>
              <a:t>Vertical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3200" dirty="0">
                <a:solidFill>
                  <a:schemeClr val="tx1"/>
                </a:solidFill>
              </a:rPr>
              <a:t>Horizontal</a:t>
            </a:r>
          </a:p>
        </p:txBody>
      </p:sp>
    </p:spTree>
    <p:extLst>
      <p:ext uri="{BB962C8B-B14F-4D97-AF65-F5344CB8AC3E}">
        <p14:creationId xmlns:p14="http://schemas.microsoft.com/office/powerpoint/2010/main" val="3346992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51865-6616-4F82-919B-2C0DB4C85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4835" y="0"/>
            <a:ext cx="5062330" cy="2029522"/>
          </a:xfrm>
        </p:spPr>
        <p:txBody>
          <a:bodyPr>
            <a:noAutofit/>
          </a:bodyPr>
          <a:lstStyle/>
          <a:p>
            <a:r>
              <a:rPr lang="es-MX" sz="4000" dirty="0"/>
              <a:t>Emulación</a:t>
            </a:r>
            <a:br>
              <a:rPr lang="es-MX" sz="6000" dirty="0"/>
            </a:br>
            <a:endParaRPr lang="es-MX" sz="6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FBE113-F426-42D4-A35D-5F1A4ECF69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86609"/>
            <a:ext cx="9872546" cy="2608415"/>
          </a:xfrm>
        </p:spPr>
        <p:txBody>
          <a:bodyPr>
            <a:normAutofit/>
          </a:bodyPr>
          <a:lstStyle/>
          <a:p>
            <a:pPr algn="just"/>
            <a:r>
              <a:rPr lang="es-MX" sz="2800" dirty="0">
                <a:solidFill>
                  <a:schemeClr val="tx1"/>
                </a:solidFill>
              </a:rPr>
              <a:t>Es el conjunto de instrucciones de lenguaje de máquina que va a ser emulada se microprograma en la máquina anfitriona. Los programas de lenguaje de máquina de la máquina emulada pueden ejecutarse directamente en la anfitriona.</a:t>
            </a:r>
          </a:p>
        </p:txBody>
      </p:sp>
    </p:spTree>
    <p:extLst>
      <p:ext uri="{BB962C8B-B14F-4D97-AF65-F5344CB8AC3E}">
        <p14:creationId xmlns:p14="http://schemas.microsoft.com/office/powerpoint/2010/main" val="281911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A5B83D-605E-439A-BEC7-0FCCBC4AA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507381"/>
            <a:ext cx="6933929" cy="1745166"/>
          </a:xfrm>
        </p:spPr>
        <p:txBody>
          <a:bodyPr/>
          <a:lstStyle/>
          <a:p>
            <a:r>
              <a:rPr lang="es-MX" dirty="0"/>
              <a:t>Microdiagnósticos:</a:t>
            </a:r>
            <a:br>
              <a:rPr lang="es-MX" dirty="0"/>
            </a:b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AD2B3A-02A8-4B7C-8294-6332790CC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2099" y="2051824"/>
            <a:ext cx="10660564" cy="2921620"/>
          </a:xfrm>
        </p:spPr>
        <p:txBody>
          <a:bodyPr>
            <a:normAutofit/>
          </a:bodyPr>
          <a:lstStyle/>
          <a:p>
            <a:pPr algn="just"/>
            <a:r>
              <a:rPr lang="es-MX" sz="2400" dirty="0">
                <a:solidFill>
                  <a:schemeClr val="tx1"/>
                </a:solidFill>
              </a:rPr>
              <a:t>tienen más acceso al hardware que los programas de lenguaje de máquina:</a:t>
            </a:r>
          </a:p>
          <a:p>
            <a:pPr algn="just"/>
            <a:r>
              <a:rPr lang="es-MX" sz="2400" dirty="0">
                <a:solidFill>
                  <a:schemeClr val="tx1"/>
                </a:solidFill>
              </a:rPr>
              <a:t>Es posible afectar detección y corrección de errores más amplia a un nivel más fino.    Se puede intercalar el “microdiagnóstico” con las instrucciones de programas de lenguaje de máquina.</a:t>
            </a:r>
          </a:p>
          <a:p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1023772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7D7D02-EFC3-4847-9624-C8051D8230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74983"/>
            <a:ext cx="6634300" cy="2262781"/>
          </a:xfrm>
        </p:spPr>
        <p:txBody>
          <a:bodyPr/>
          <a:lstStyle/>
          <a:p>
            <a:r>
              <a:rPr lang="es-MX" dirty="0"/>
              <a:t>Computadores personalizados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33D957-3997-4C00-BCAE-968EBF8A8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5768" y="3095514"/>
            <a:ext cx="8627753" cy="2438400"/>
          </a:xfrm>
        </p:spPr>
        <p:txBody>
          <a:bodyPr>
            <a:normAutofit/>
          </a:bodyPr>
          <a:lstStyle/>
          <a:p>
            <a:pPr algn="just"/>
            <a:r>
              <a:rPr lang="es-MX" sz="2800" dirty="0">
                <a:solidFill>
                  <a:schemeClr val="tx1"/>
                </a:solidFill>
              </a:rPr>
              <a:t>Moldean el sistema computacional según las necesidades del usuario.</a:t>
            </a:r>
          </a:p>
          <a:p>
            <a:pPr algn="just"/>
            <a:r>
              <a:rPr lang="es-MX" sz="2800" dirty="0">
                <a:solidFill>
                  <a:schemeClr val="tx1"/>
                </a:solidFill>
              </a:rPr>
              <a:t>En algunos sistemas los usuarios pueden efectuar esta adaptación por medio de un microcódigo.</a:t>
            </a:r>
          </a:p>
          <a:p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3577464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0596B5-F21D-4624-808D-A0A308BED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552" y="274983"/>
            <a:ext cx="9896060" cy="1076739"/>
          </a:xfrm>
        </p:spPr>
        <p:txBody>
          <a:bodyPr/>
          <a:lstStyle/>
          <a:p>
            <a:r>
              <a:rPr lang="es-MX" dirty="0"/>
              <a:t>Asistencias de microcódigo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FC156D-8449-4EF5-9CC3-29A49E04E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2709" y="2454692"/>
            <a:ext cx="9567746" cy="2853289"/>
          </a:xfrm>
        </p:spPr>
        <p:txBody>
          <a:bodyPr>
            <a:normAutofit/>
          </a:bodyPr>
          <a:lstStyle/>
          <a:p>
            <a:pPr algn="just"/>
            <a:r>
              <a:rPr lang="es-MX" sz="3200" dirty="0">
                <a:solidFill>
                  <a:schemeClr val="tx1"/>
                </a:solidFill>
              </a:rPr>
              <a:t>Implementan varias rutinas de manejo de interrupciones de uso más frecuente en microcódigo a fin de lograr mejoras significativas en la ejecución.</a:t>
            </a:r>
          </a:p>
        </p:txBody>
      </p:sp>
    </p:spTree>
    <p:extLst>
      <p:ext uri="{BB962C8B-B14F-4D97-AF65-F5344CB8AC3E}">
        <p14:creationId xmlns:p14="http://schemas.microsoft.com/office/powerpoint/2010/main" val="2339008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BE33B6-EC31-7246-8B35-256E2E9CA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Microprogramación y sistemas operativos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EB4863-2F7E-0945-8B54-4F1FFC674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800" dirty="0">
                <a:solidFill>
                  <a:schemeClr val="tx1"/>
                </a:solidFill>
              </a:rPr>
              <a:t>Manejo </a:t>
            </a:r>
          </a:p>
          <a:p>
            <a:r>
              <a:rPr lang="es-MX" sz="2800" dirty="0">
                <a:solidFill>
                  <a:schemeClr val="tx1"/>
                </a:solidFill>
              </a:rPr>
              <a:t>Mantenimiento</a:t>
            </a:r>
          </a:p>
          <a:p>
            <a:r>
              <a:rPr lang="es-MX" sz="2800" dirty="0">
                <a:solidFill>
                  <a:schemeClr val="tx1"/>
                </a:solidFill>
              </a:rPr>
              <a:t>Primitivas</a:t>
            </a:r>
          </a:p>
          <a:p>
            <a:r>
              <a:rPr lang="es-MX" sz="2800" dirty="0">
                <a:solidFill>
                  <a:schemeClr val="tx1"/>
                </a:solidFill>
              </a:rPr>
              <a:t>Operaciones</a:t>
            </a:r>
          </a:p>
          <a:p>
            <a:r>
              <a:rPr lang="es-MX" sz="2800" dirty="0">
                <a:solidFill>
                  <a:schemeClr val="tx1"/>
                </a:solidFill>
              </a:rPr>
              <a:t>Intercambio de contexto</a:t>
            </a:r>
          </a:p>
          <a:p>
            <a:r>
              <a:rPr lang="es-MX" sz="2800" dirty="0">
                <a:solidFill>
                  <a:schemeClr val="tx1"/>
                </a:solidFill>
              </a:rPr>
              <a:t>Secuencias </a:t>
            </a:r>
          </a:p>
        </p:txBody>
      </p:sp>
    </p:spTree>
    <p:extLst>
      <p:ext uri="{BB962C8B-B14F-4D97-AF65-F5344CB8AC3E}">
        <p14:creationId xmlns:p14="http://schemas.microsoft.com/office/powerpoint/2010/main" val="3247191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98F487-8C70-8C46-9D54-F7A08FD75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701" y="1494263"/>
            <a:ext cx="10838987" cy="47727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sz="2000" dirty="0">
                <a:solidFill>
                  <a:schemeClr val="tx1"/>
                </a:solidFill>
              </a:rPr>
              <a:t>¿Qué hace la microprogramación cuando introduce una capa de programación por debajo del leguaje de la maquina? Define las instrucciones del lenguaje de la máquina.</a:t>
            </a:r>
          </a:p>
          <a:p>
            <a:pPr marL="0" indent="0">
              <a:buNone/>
            </a:pPr>
            <a:r>
              <a:rPr lang="es-MX" sz="2000" dirty="0">
                <a:solidFill>
                  <a:schemeClr val="tx1"/>
                </a:solidFill>
              </a:rPr>
              <a:t>¿Cómo están formadas las microprogramaciones? por microinstrucciones individuales.</a:t>
            </a:r>
          </a:p>
          <a:p>
            <a:pPr marL="0" indent="0">
              <a:buNone/>
            </a:pPr>
            <a:r>
              <a:rPr lang="es-MX" sz="2000" dirty="0">
                <a:solidFill>
                  <a:schemeClr val="tx1"/>
                </a:solidFill>
              </a:rPr>
              <a:t>¿Cuáles son las 2 microprogramaciones? Naturaleza mucho mas elemental y función mas rápida.</a:t>
            </a:r>
          </a:p>
          <a:p>
            <a:pPr marL="0" indent="0">
              <a:buNone/>
            </a:pPr>
            <a:r>
              <a:rPr lang="es-MX" sz="2000" dirty="0">
                <a:solidFill>
                  <a:schemeClr val="tx1"/>
                </a:solidFill>
              </a:rPr>
              <a:t>¿Cómo se implementa una instrucción? Por un microprograma.</a:t>
            </a:r>
          </a:p>
          <a:p>
            <a:pPr marL="0" lvl="0" indent="0" defTabSz="914400">
              <a:spcBef>
                <a:spcPts val="0"/>
              </a:spcBef>
              <a:buClrTx/>
              <a:buNone/>
              <a:defRPr/>
            </a:pPr>
            <a:r>
              <a:rPr lang="es-MX" sz="2000" dirty="0">
                <a:solidFill>
                  <a:schemeClr val="tx1"/>
                </a:solidFill>
              </a:rPr>
              <a:t>¿Qué especifica el microcódigo vertical? el movimiento de uno o varios datos entre registros.</a:t>
            </a:r>
          </a:p>
          <a:p>
            <a:pPr marL="0" indent="0">
              <a:buNone/>
            </a:pPr>
            <a:r>
              <a:rPr lang="es-MX" sz="2000" dirty="0">
                <a:solidFill>
                  <a:schemeClr val="tx1"/>
                </a:solidFill>
              </a:rPr>
              <a:t>¿A qué es similar el microcódigo vertical? a la ejecución de instrucciones en lenguaje de máquina.</a:t>
            </a:r>
          </a:p>
          <a:p>
            <a:pPr marL="0" indent="0">
              <a:buNone/>
            </a:pPr>
            <a:r>
              <a:rPr lang="es-MX" sz="2000" dirty="0">
                <a:solidFill>
                  <a:schemeClr val="tx1"/>
                </a:solidFill>
              </a:rPr>
              <a:t>¿Cómo esta constituido el microcódigo horizontal? por microinstrucciones que requieren muchos más bits.</a:t>
            </a:r>
          </a:p>
          <a:p>
            <a:pPr marL="0" indent="0">
              <a:buNone/>
            </a:pPr>
            <a:endParaRPr lang="es-MX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s-MX" sz="2000" dirty="0">
              <a:solidFill>
                <a:schemeClr val="tx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BBA1499-AAAA-D84B-B9E1-2EBB6F74B9ED}"/>
              </a:ext>
            </a:extLst>
          </p:cNvPr>
          <p:cNvSpPr txBox="1"/>
          <p:nvPr/>
        </p:nvSpPr>
        <p:spPr>
          <a:xfrm>
            <a:off x="3189249" y="535259"/>
            <a:ext cx="20008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b="1" dirty="0"/>
              <a:t>Preguntas </a:t>
            </a:r>
          </a:p>
        </p:txBody>
      </p:sp>
    </p:spTree>
    <p:extLst>
      <p:ext uri="{BB962C8B-B14F-4D97-AF65-F5344CB8AC3E}">
        <p14:creationId xmlns:p14="http://schemas.microsoft.com/office/powerpoint/2010/main" val="2590569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ítulo 5">
            <a:extLst>
              <a:ext uri="{FF2B5EF4-FFF2-40B4-BE49-F238E27FC236}">
                <a16:creationId xmlns:a16="http://schemas.microsoft.com/office/drawing/2014/main" id="{AEAD7644-212F-5449-9C9C-7ED7506DDB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8009" y="1003610"/>
            <a:ext cx="9367025" cy="5597911"/>
          </a:xfrm>
        </p:spPr>
        <p:txBody>
          <a:bodyPr>
            <a:normAutofit lnSpcReduction="10000"/>
          </a:bodyPr>
          <a:lstStyle/>
          <a:p>
            <a:pPr algn="just"/>
            <a:r>
              <a:rPr lang="es-MX" dirty="0">
                <a:solidFill>
                  <a:schemeClr val="tx1"/>
                </a:solidFill>
              </a:rPr>
              <a:t>¿Quién permite mejorar el rendimiento en la ejecución de un sistema computacional? El microcódigo.</a:t>
            </a:r>
          </a:p>
          <a:p>
            <a:pPr algn="just"/>
            <a:endParaRPr lang="es-MX" dirty="0">
              <a:solidFill>
                <a:schemeClr val="tx1"/>
              </a:solidFill>
            </a:endParaRPr>
          </a:p>
          <a:p>
            <a:pPr algn="just"/>
            <a:r>
              <a:rPr lang="es-MX" dirty="0">
                <a:solidFill>
                  <a:schemeClr val="tx1"/>
                </a:solidFill>
              </a:rPr>
              <a:t>¿Qué es la emulación? Es el conjunto de instrucciones de lenguaje de máquina que va a ser emulada se microprograma en la máquina anfitriona. </a:t>
            </a:r>
          </a:p>
          <a:p>
            <a:pPr algn="just"/>
            <a:endParaRPr lang="es-MX" dirty="0">
              <a:solidFill>
                <a:schemeClr val="tx1"/>
              </a:solidFill>
            </a:endParaRPr>
          </a:p>
          <a:p>
            <a:pPr algn="just"/>
            <a:r>
              <a:rPr lang="es-MX" dirty="0">
                <a:solidFill>
                  <a:schemeClr val="tx1"/>
                </a:solidFill>
              </a:rPr>
              <a:t>¿Con qué se puede intercalar el micro-diagnostico? Con las instrucciones de programas de lenguaje de maquina.</a:t>
            </a:r>
          </a:p>
          <a:p>
            <a:pPr algn="just"/>
            <a:endParaRPr lang="es-MX" dirty="0">
              <a:solidFill>
                <a:schemeClr val="tx1"/>
              </a:solidFill>
            </a:endParaRPr>
          </a:p>
          <a:p>
            <a:pPr algn="just"/>
            <a:r>
              <a:rPr lang="es-MX" dirty="0">
                <a:solidFill>
                  <a:schemeClr val="tx1"/>
                </a:solidFill>
              </a:rPr>
              <a:t>¿Qué hacen los computadores personalizados? Moldean el sistema computacional según las necesidades del usuario. </a:t>
            </a:r>
          </a:p>
          <a:p>
            <a:pPr algn="just"/>
            <a:r>
              <a:rPr lang="es-MX" dirty="0">
                <a:solidFill>
                  <a:schemeClr val="tx1"/>
                </a:solidFill>
              </a:rPr>
              <a:t>¿por medio de que pueden afectar  los usuarios una adaptación? Por medio de un microcódigo.</a:t>
            </a:r>
          </a:p>
          <a:p>
            <a:pPr algn="just"/>
            <a:endParaRPr lang="es-MX" dirty="0">
              <a:solidFill>
                <a:schemeClr val="tx1"/>
              </a:solidFill>
            </a:endParaRPr>
          </a:p>
          <a:p>
            <a:pPr algn="just"/>
            <a:r>
              <a:rPr lang="es-MX" dirty="0">
                <a:solidFill>
                  <a:schemeClr val="tx1"/>
                </a:solidFill>
              </a:rPr>
              <a:t>¿Qué implementan las asistencias de microcódigo? Varias rutinas de manejo de interrupciones.</a:t>
            </a:r>
          </a:p>
          <a:p>
            <a:pPr algn="just"/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93FB46B-F674-E448-BC4C-34DE86B9F609}"/>
              </a:ext>
            </a:extLst>
          </p:cNvPr>
          <p:cNvSpPr txBox="1"/>
          <p:nvPr/>
        </p:nvSpPr>
        <p:spPr>
          <a:xfrm>
            <a:off x="2542478" y="12038"/>
            <a:ext cx="20008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b="1" dirty="0"/>
              <a:t>Preguntas </a:t>
            </a:r>
          </a:p>
        </p:txBody>
      </p:sp>
    </p:spTree>
    <p:extLst>
      <p:ext uri="{BB962C8B-B14F-4D97-AF65-F5344CB8AC3E}">
        <p14:creationId xmlns:p14="http://schemas.microsoft.com/office/powerpoint/2010/main" val="2151671747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544</TotalTime>
  <Words>1019</Words>
  <Application>Microsoft Macintosh PowerPoint</Application>
  <PresentationFormat>Panorámica</PresentationFormat>
  <Paragraphs>104</Paragraphs>
  <Slides>10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8" baseType="lpstr">
      <vt:lpstr>Arial</vt:lpstr>
      <vt:lpstr>Calibri</vt:lpstr>
      <vt:lpstr>Century Gothic</vt:lpstr>
      <vt:lpstr>SymbolMT</vt:lpstr>
      <vt:lpstr>TimesNewRomanPS</vt:lpstr>
      <vt:lpstr>TimesNewRomanPSMT</vt:lpstr>
      <vt:lpstr>Wingdings 3</vt:lpstr>
      <vt:lpstr>Espiral</vt:lpstr>
      <vt:lpstr>Memoria fija</vt:lpstr>
      <vt:lpstr>Microprogramación </vt:lpstr>
      <vt:lpstr>Microcódigos</vt:lpstr>
      <vt:lpstr>Emulación </vt:lpstr>
      <vt:lpstr>Microdiagnósticos: </vt:lpstr>
      <vt:lpstr>Computadores personalizados</vt:lpstr>
      <vt:lpstr>Asistencias de microcódigo</vt:lpstr>
      <vt:lpstr>Microprogramación y sistemas operativos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operativos </dc:title>
  <dc:creator>nuvia jaramillo</dc:creator>
  <cp:lastModifiedBy>RENE EDMUNDO CUEVAS VALENCIA</cp:lastModifiedBy>
  <cp:revision>17</cp:revision>
  <dcterms:created xsi:type="dcterms:W3CDTF">2017-09-01T14:34:48Z</dcterms:created>
  <dcterms:modified xsi:type="dcterms:W3CDTF">2021-02-03T01:59:03Z</dcterms:modified>
</cp:coreProperties>
</file>