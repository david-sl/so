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s-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038" autoAdjust="0"/>
    <p:restoredTop sz="79775" autoAdjust="0"/>
  </p:normalViewPr>
  <p:slideViewPr>
    <p:cSldViewPr snapToGrid="0">
      <p:cViewPr varScale="1">
        <p:scale>
          <a:sx n="52" d="100"/>
          <a:sy n="52" d="100"/>
        </p:scale>
        <p:origin x="200" y="5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73A93F-2B80-4280-B13E-6AA93A308BEB}" type="datetimeFigureOut">
              <a:rPr lang="es-US" smtClean="0"/>
              <a:t>2/23/21</a:t>
            </a:fld>
            <a:endParaRPr lang="es-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E3BC7B-C81A-4572-8F33-EFAC51E41CE3}" type="slidenum">
              <a:rPr lang="es-US" smtClean="0"/>
              <a:t>‹Nº›</a:t>
            </a:fld>
            <a:endParaRPr lang="es-US"/>
          </a:p>
        </p:txBody>
      </p:sp>
    </p:spTree>
    <p:extLst>
      <p:ext uri="{BB962C8B-B14F-4D97-AF65-F5344CB8AC3E}">
        <p14:creationId xmlns:p14="http://schemas.microsoft.com/office/powerpoint/2010/main" val="1256195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US" dirty="0"/>
          </a:p>
        </p:txBody>
      </p:sp>
      <p:sp>
        <p:nvSpPr>
          <p:cNvPr id="4" name="Marcador de número de diapositiva 3"/>
          <p:cNvSpPr>
            <a:spLocks noGrp="1"/>
          </p:cNvSpPr>
          <p:nvPr>
            <p:ph type="sldNum" sz="quarter" idx="10"/>
          </p:nvPr>
        </p:nvSpPr>
        <p:spPr/>
        <p:txBody>
          <a:bodyPr/>
          <a:lstStyle/>
          <a:p>
            <a:fld id="{BAE3BC7B-C81A-4572-8F33-EFAC51E41CE3}" type="slidenum">
              <a:rPr lang="es-US" smtClean="0"/>
              <a:t>1</a:t>
            </a:fld>
            <a:endParaRPr lang="es-US"/>
          </a:p>
        </p:txBody>
      </p:sp>
    </p:spTree>
    <p:extLst>
      <p:ext uri="{BB962C8B-B14F-4D97-AF65-F5344CB8AC3E}">
        <p14:creationId xmlns:p14="http://schemas.microsoft.com/office/powerpoint/2010/main" val="3253451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sz="1200" b="1" kern="1200" dirty="0">
                <a:solidFill>
                  <a:schemeClr val="tx1"/>
                </a:solidFill>
                <a:effectLst/>
                <a:latin typeface="+mn-lt"/>
                <a:ea typeface="+mn-ea"/>
                <a:cs typeface="+mn-cs"/>
              </a:rPr>
              <a:t>Según Martínez: “Un S. O. es un grupo de programas de proceso con las rutinas de control </a:t>
            </a:r>
            <a:r>
              <a:rPr lang="es-MX" sz="1200" b="0" kern="1200" dirty="0">
                <a:solidFill>
                  <a:schemeClr val="tx1"/>
                </a:solidFill>
                <a:effectLst/>
                <a:latin typeface="+mn-lt"/>
                <a:ea typeface="+mn-ea"/>
                <a:cs typeface="+mn-cs"/>
              </a:rPr>
              <a:t> </a:t>
            </a:r>
            <a:r>
              <a:rPr lang="es-MX" sz="1200" b="1" kern="1200" dirty="0">
                <a:solidFill>
                  <a:schemeClr val="tx1"/>
                </a:solidFill>
                <a:effectLst/>
                <a:latin typeface="+mn-lt"/>
                <a:ea typeface="+mn-ea"/>
                <a:cs typeface="+mn-cs"/>
              </a:rPr>
              <a:t>necesarias para mantener continuamente operativos dichos programas”. </a:t>
            </a:r>
            <a:endParaRPr lang="es-MX" dirty="0"/>
          </a:p>
          <a:p>
            <a:endParaRPr lang="es-MX" dirty="0"/>
          </a:p>
        </p:txBody>
      </p:sp>
      <p:sp>
        <p:nvSpPr>
          <p:cNvPr id="4" name="Marcador de número de diapositiva 3"/>
          <p:cNvSpPr>
            <a:spLocks noGrp="1"/>
          </p:cNvSpPr>
          <p:nvPr>
            <p:ph type="sldNum" sz="quarter" idx="5"/>
          </p:nvPr>
        </p:nvSpPr>
        <p:spPr/>
        <p:txBody>
          <a:bodyPr/>
          <a:lstStyle/>
          <a:p>
            <a:fld id="{BAE3BC7B-C81A-4572-8F33-EFAC51E41CE3}" type="slidenum">
              <a:rPr lang="es-US" smtClean="0"/>
              <a:t>2</a:t>
            </a:fld>
            <a:endParaRPr lang="es-US"/>
          </a:p>
        </p:txBody>
      </p:sp>
    </p:spTree>
    <p:extLst>
      <p:ext uri="{BB962C8B-B14F-4D97-AF65-F5344CB8AC3E}">
        <p14:creationId xmlns:p14="http://schemas.microsoft.com/office/powerpoint/2010/main" val="2263555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200" kern="1200" dirty="0">
                <a:solidFill>
                  <a:schemeClr val="tx1"/>
                </a:solidFill>
                <a:effectLst/>
                <a:latin typeface="+mn-lt"/>
                <a:ea typeface="+mn-ea"/>
                <a:cs typeface="+mn-cs"/>
              </a:rPr>
              <a:t>El </a:t>
            </a:r>
            <a:r>
              <a:rPr lang="es-MX" sz="1200" i="1" kern="1200" dirty="0">
                <a:solidFill>
                  <a:schemeClr val="tx1"/>
                </a:solidFill>
                <a:effectLst/>
                <a:latin typeface="+mn-lt"/>
                <a:ea typeface="+mn-ea"/>
                <a:cs typeface="+mn-cs"/>
              </a:rPr>
              <a:t>objetivo primario </a:t>
            </a:r>
            <a:r>
              <a:rPr lang="es-MX" sz="1200" kern="1200" dirty="0">
                <a:solidFill>
                  <a:schemeClr val="tx1"/>
                </a:solidFill>
                <a:effectLst/>
                <a:latin typeface="+mn-lt"/>
                <a:ea typeface="+mn-ea"/>
                <a:cs typeface="+mn-cs"/>
              </a:rPr>
              <a:t>de un Sistema Operativo es:</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 Optimizar todos los recursos del sistema para soportar los requerimientos. </a:t>
            </a:r>
            <a:endParaRPr lang="es-MX" dirty="0"/>
          </a:p>
          <a:p>
            <a:endParaRPr lang="es-US" dirty="0"/>
          </a:p>
        </p:txBody>
      </p:sp>
      <p:sp>
        <p:nvSpPr>
          <p:cNvPr id="4" name="Marcador de número de diapositiva 3"/>
          <p:cNvSpPr>
            <a:spLocks noGrp="1"/>
          </p:cNvSpPr>
          <p:nvPr>
            <p:ph type="sldNum" sz="quarter" idx="10"/>
          </p:nvPr>
        </p:nvSpPr>
        <p:spPr/>
        <p:txBody>
          <a:bodyPr/>
          <a:lstStyle/>
          <a:p>
            <a:fld id="{BAE3BC7B-C81A-4572-8F33-EFAC51E41CE3}" type="slidenum">
              <a:rPr lang="es-US" smtClean="0"/>
              <a:t>3</a:t>
            </a:fld>
            <a:endParaRPr lang="es-US"/>
          </a:p>
        </p:txBody>
      </p:sp>
    </p:spTree>
    <p:extLst>
      <p:ext uri="{BB962C8B-B14F-4D97-AF65-F5344CB8AC3E}">
        <p14:creationId xmlns:p14="http://schemas.microsoft.com/office/powerpoint/2010/main" val="2302258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sz="1200" kern="1200" dirty="0">
                <a:solidFill>
                  <a:schemeClr val="tx1"/>
                </a:solidFill>
                <a:effectLst/>
                <a:latin typeface="+mn-lt"/>
                <a:ea typeface="+mn-ea"/>
                <a:cs typeface="+mn-cs"/>
              </a:rPr>
              <a:t>A los efectos de situar a los S. O. en el conjunto del software para computadoras, podemos clasificar a este de la siguiente manera:</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 </a:t>
            </a:r>
            <a:r>
              <a:rPr lang="es-MX" sz="1200" i="1" kern="1200" dirty="0">
                <a:solidFill>
                  <a:schemeClr val="tx1"/>
                </a:solidFill>
                <a:effectLst/>
                <a:latin typeface="+mn-lt"/>
                <a:ea typeface="+mn-ea"/>
                <a:cs typeface="+mn-cs"/>
              </a:rPr>
              <a:t>Programas de sistema: </a:t>
            </a:r>
            <a:endParaRPr lang="es-MX" dirty="0"/>
          </a:p>
          <a:p>
            <a:r>
              <a:rPr lang="es-MX" sz="1200" kern="1200" dirty="0">
                <a:solidFill>
                  <a:schemeClr val="tx1"/>
                </a:solidFill>
                <a:effectLst/>
                <a:latin typeface="+mn-lt"/>
                <a:ea typeface="+mn-ea"/>
                <a:cs typeface="+mn-cs"/>
              </a:rPr>
              <a:t>            o Controlan la operación de la computadora en sí. </a:t>
            </a:r>
          </a:p>
          <a:p>
            <a:r>
              <a:rPr lang="es-MX" sz="1200" kern="1200" dirty="0">
                <a:solidFill>
                  <a:schemeClr val="tx1"/>
                </a:solidFill>
                <a:effectLst/>
                <a:latin typeface="+mn-lt"/>
                <a:ea typeface="+mn-ea"/>
                <a:cs typeface="+mn-cs"/>
              </a:rPr>
              <a:t>• </a:t>
            </a:r>
            <a:r>
              <a:rPr lang="es-MX" sz="1200" i="1" kern="1200" dirty="0">
                <a:solidFill>
                  <a:schemeClr val="tx1"/>
                </a:solidFill>
                <a:effectLst/>
                <a:latin typeface="+mn-lt"/>
                <a:ea typeface="+mn-ea"/>
                <a:cs typeface="+mn-cs"/>
              </a:rPr>
              <a:t>Programas de aplicación: </a:t>
            </a:r>
            <a:endParaRPr lang="es-MX" dirty="0"/>
          </a:p>
          <a:p>
            <a:r>
              <a:rPr lang="es-MX" sz="1200" kern="1200" dirty="0">
                <a:solidFill>
                  <a:schemeClr val="tx1"/>
                </a:solidFill>
                <a:effectLst/>
                <a:latin typeface="+mn-lt"/>
                <a:ea typeface="+mn-ea"/>
                <a:cs typeface="+mn-cs"/>
              </a:rPr>
              <a:t>            o Resuelven problemas para los usuarios. </a:t>
            </a:r>
          </a:p>
          <a:p>
            <a:endParaRPr lang="es-MX" dirty="0"/>
          </a:p>
          <a:p>
            <a:r>
              <a:rPr lang="es-MX" sz="1200" kern="1200" dirty="0">
                <a:solidFill>
                  <a:schemeClr val="tx1"/>
                </a:solidFill>
                <a:effectLst/>
                <a:latin typeface="+mn-lt"/>
                <a:ea typeface="+mn-ea"/>
                <a:cs typeface="+mn-cs"/>
              </a:rPr>
              <a:t>En este contexto, el Sistema Operativo es el </a:t>
            </a:r>
            <a:r>
              <a:rPr lang="es-MX" sz="1200" u="sng" kern="1200" dirty="0">
                <a:solidFill>
                  <a:schemeClr val="tx1"/>
                </a:solidFill>
                <a:effectLst/>
                <a:latin typeface="+mn-lt"/>
                <a:ea typeface="+mn-ea"/>
                <a:cs typeface="+mn-cs"/>
              </a:rPr>
              <a:t>programa fundamental</a:t>
            </a:r>
            <a:r>
              <a:rPr lang="es-MX" sz="1200" kern="1200" dirty="0">
                <a:solidFill>
                  <a:schemeClr val="tx1"/>
                </a:solidFill>
                <a:effectLst/>
                <a:latin typeface="+mn-lt"/>
                <a:ea typeface="+mn-ea"/>
                <a:cs typeface="+mn-cs"/>
              </a:rPr>
              <a:t> de todos los programas de sistema. El S. O. protege y libera a los programadores de la complejidad del hardware, colocándose un nivel de software por sobre el hardware para: </a:t>
            </a:r>
            <a:endParaRPr lang="es-MX" dirty="0"/>
          </a:p>
          <a:p>
            <a:endParaRPr lang="es-MX" sz="1200" kern="1200" dirty="0">
              <a:solidFill>
                <a:schemeClr val="tx1"/>
              </a:solidFill>
              <a:effectLst/>
              <a:latin typeface="+mn-lt"/>
              <a:ea typeface="+mn-ea"/>
              <a:cs typeface="+mn-cs"/>
            </a:endParaRPr>
          </a:p>
          <a:p>
            <a:pPr marL="171450" indent="-171450">
              <a:buFont typeface="Arial" panose="020B0604020202020204" pitchFamily="34" charset="0"/>
              <a:buChar char="•"/>
            </a:pPr>
            <a:r>
              <a:rPr lang="es-MX" sz="1200" kern="1200" dirty="0">
                <a:solidFill>
                  <a:schemeClr val="tx1"/>
                </a:solidFill>
                <a:effectLst/>
                <a:latin typeface="+mn-lt"/>
                <a:ea typeface="+mn-ea"/>
                <a:cs typeface="+mn-cs"/>
              </a:rPr>
              <a:t>Controlar todas las partes del sistema. </a:t>
            </a:r>
          </a:p>
          <a:p>
            <a:pPr marL="171450" indent="-171450">
              <a:buFont typeface="Arial" panose="020B0604020202020204" pitchFamily="34" charset="0"/>
              <a:buChar char="•"/>
            </a:pPr>
            <a:r>
              <a:rPr lang="es-MX" sz="1200" kern="1200" dirty="0">
                <a:solidFill>
                  <a:schemeClr val="tx1"/>
                </a:solidFill>
                <a:effectLst/>
                <a:latin typeface="+mn-lt"/>
                <a:ea typeface="+mn-ea"/>
                <a:cs typeface="+mn-cs"/>
              </a:rPr>
              <a:t>Presentar al usuario una interfaz o máquina virtual. </a:t>
            </a:r>
          </a:p>
          <a:p>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El </a:t>
            </a:r>
            <a:r>
              <a:rPr lang="es-MX" sz="1200" i="1" kern="1200" dirty="0">
                <a:solidFill>
                  <a:schemeClr val="tx1"/>
                </a:solidFill>
                <a:effectLst/>
                <a:latin typeface="+mn-lt"/>
                <a:ea typeface="+mn-ea"/>
                <a:cs typeface="+mn-cs"/>
              </a:rPr>
              <a:t>esquema típico de un sistema de cómputos </a:t>
            </a:r>
            <a:r>
              <a:rPr lang="es-MX" sz="1200" kern="1200" dirty="0">
                <a:solidFill>
                  <a:schemeClr val="tx1"/>
                </a:solidFill>
                <a:effectLst/>
                <a:latin typeface="+mn-lt"/>
                <a:ea typeface="+mn-ea"/>
                <a:cs typeface="+mn-cs"/>
              </a:rPr>
              <a:t>incluye: </a:t>
            </a:r>
          </a:p>
          <a:p>
            <a:r>
              <a:rPr lang="es-MX" sz="1200" kern="1200" dirty="0">
                <a:solidFill>
                  <a:schemeClr val="tx1"/>
                </a:solidFill>
                <a:effectLst/>
                <a:latin typeface="+mn-lt"/>
                <a:ea typeface="+mn-ea"/>
                <a:cs typeface="+mn-cs"/>
              </a:rPr>
              <a:t>• Programas de aplicación: </a:t>
            </a:r>
          </a:p>
          <a:p>
            <a:r>
              <a:rPr lang="es-MX" sz="1200" kern="1200" dirty="0">
                <a:solidFill>
                  <a:schemeClr val="tx1"/>
                </a:solidFill>
                <a:effectLst/>
                <a:latin typeface="+mn-lt"/>
                <a:ea typeface="+mn-ea"/>
                <a:cs typeface="+mn-cs"/>
              </a:rPr>
              <a:t>          o Sistema bancario, reservaciones en una línea aérea, juegos, etc. </a:t>
            </a:r>
          </a:p>
          <a:p>
            <a:r>
              <a:rPr lang="es-MX" sz="1200" kern="1200" dirty="0">
                <a:solidFill>
                  <a:schemeClr val="tx1"/>
                </a:solidFill>
                <a:effectLst/>
                <a:latin typeface="+mn-lt"/>
                <a:ea typeface="+mn-ea"/>
                <a:cs typeface="+mn-cs"/>
              </a:rPr>
              <a:t>• Programas de sistema: </a:t>
            </a:r>
            <a:endParaRPr lang="es-MX" dirty="0"/>
          </a:p>
          <a:p>
            <a:r>
              <a:rPr lang="es-MX" sz="1200" kern="1200" dirty="0">
                <a:solidFill>
                  <a:schemeClr val="tx1"/>
                </a:solidFill>
                <a:effectLst/>
                <a:latin typeface="+mn-lt"/>
                <a:ea typeface="+mn-ea"/>
                <a:cs typeface="+mn-cs"/>
              </a:rPr>
              <a:t>          o Compiladores, editores, intérpretes de comandos. </a:t>
            </a:r>
          </a:p>
          <a:p>
            <a:r>
              <a:rPr lang="es-MX" sz="1200" kern="1200" dirty="0">
                <a:solidFill>
                  <a:schemeClr val="tx1"/>
                </a:solidFill>
                <a:effectLst/>
                <a:latin typeface="+mn-lt"/>
                <a:ea typeface="+mn-ea"/>
                <a:cs typeface="+mn-cs"/>
              </a:rPr>
              <a:t>          o Sistema Operativo. </a:t>
            </a:r>
            <a:endParaRPr lang="es-MX" dirty="0"/>
          </a:p>
          <a:p>
            <a:r>
              <a:rPr lang="es-MX" sz="1200" kern="1200" dirty="0">
                <a:solidFill>
                  <a:schemeClr val="tx1"/>
                </a:solidFill>
                <a:effectLst/>
                <a:latin typeface="+mn-lt"/>
                <a:ea typeface="+mn-ea"/>
                <a:cs typeface="+mn-cs"/>
              </a:rPr>
              <a:t>• Hardware: </a:t>
            </a:r>
            <a:endParaRPr lang="es-MX" dirty="0"/>
          </a:p>
          <a:p>
            <a:r>
              <a:rPr lang="es-MX" sz="1200" kern="1200" dirty="0">
                <a:solidFill>
                  <a:schemeClr val="tx1"/>
                </a:solidFill>
                <a:effectLst/>
                <a:latin typeface="+mn-lt"/>
                <a:ea typeface="+mn-ea"/>
                <a:cs typeface="+mn-cs"/>
              </a:rPr>
              <a:t>          o Lenguaje de máquina. </a:t>
            </a:r>
          </a:p>
          <a:p>
            <a:r>
              <a:rPr lang="es-MX" sz="1200" kern="1200" dirty="0">
                <a:solidFill>
                  <a:schemeClr val="tx1"/>
                </a:solidFill>
                <a:effectLst/>
                <a:latin typeface="+mn-lt"/>
                <a:ea typeface="+mn-ea"/>
                <a:cs typeface="+mn-cs"/>
              </a:rPr>
              <a:t>          o Microprogramación. </a:t>
            </a:r>
          </a:p>
          <a:p>
            <a:r>
              <a:rPr lang="es-MX" sz="1200" kern="1200" dirty="0">
                <a:solidFill>
                  <a:schemeClr val="tx1"/>
                </a:solidFill>
                <a:effectLst/>
                <a:latin typeface="+mn-lt"/>
                <a:ea typeface="+mn-ea"/>
                <a:cs typeface="+mn-cs"/>
              </a:rPr>
              <a:t>          o Dispositivos físicos. </a:t>
            </a:r>
            <a:endParaRPr lang="es-MX" dirty="0"/>
          </a:p>
          <a:p>
            <a:endParaRPr lang="es-MX" dirty="0"/>
          </a:p>
        </p:txBody>
      </p:sp>
      <p:sp>
        <p:nvSpPr>
          <p:cNvPr id="4" name="Marcador de número de diapositiva 3"/>
          <p:cNvSpPr>
            <a:spLocks noGrp="1"/>
          </p:cNvSpPr>
          <p:nvPr>
            <p:ph type="sldNum" sz="quarter" idx="5"/>
          </p:nvPr>
        </p:nvSpPr>
        <p:spPr/>
        <p:txBody>
          <a:bodyPr/>
          <a:lstStyle/>
          <a:p>
            <a:fld id="{BAE3BC7B-C81A-4572-8F33-EFAC51E41CE3}" type="slidenum">
              <a:rPr lang="es-US" smtClean="0"/>
              <a:t>5</a:t>
            </a:fld>
            <a:endParaRPr lang="es-US"/>
          </a:p>
        </p:txBody>
      </p:sp>
    </p:spTree>
    <p:extLst>
      <p:ext uri="{BB962C8B-B14F-4D97-AF65-F5344CB8AC3E}">
        <p14:creationId xmlns:p14="http://schemas.microsoft.com/office/powerpoint/2010/main" val="28487209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sz="1200" kern="1200" dirty="0">
                <a:solidFill>
                  <a:schemeClr val="tx1"/>
                </a:solidFill>
                <a:effectLst/>
                <a:latin typeface="+mn-lt"/>
                <a:ea typeface="+mn-ea"/>
                <a:cs typeface="+mn-cs"/>
              </a:rPr>
              <a:t>• Se trata de software que generalmente se localiza en la memoria de solo lectura. </a:t>
            </a:r>
          </a:p>
          <a:p>
            <a:r>
              <a:rPr lang="es-MX" sz="1200" kern="1200" dirty="0">
                <a:solidFill>
                  <a:schemeClr val="tx1"/>
                </a:solidFill>
                <a:effectLst/>
                <a:latin typeface="+mn-lt"/>
                <a:ea typeface="+mn-ea"/>
                <a:cs typeface="+mn-cs"/>
              </a:rPr>
              <a:t>• Busca las instrucciones de lenguaje de máquina para ejecutarlas como una serie de pequeños pasos. </a:t>
            </a:r>
          </a:p>
          <a:p>
            <a:r>
              <a:rPr lang="es-MX" sz="1200" kern="1200" dirty="0">
                <a:solidFill>
                  <a:schemeClr val="tx1"/>
                </a:solidFill>
                <a:effectLst/>
                <a:latin typeface="+mn-lt"/>
                <a:ea typeface="+mn-ea"/>
                <a:cs typeface="+mn-cs"/>
              </a:rPr>
              <a:t>• El conjunto de instrucciones que interpreta define al lenguaje de máquina. </a:t>
            </a:r>
          </a:p>
          <a:p>
            <a:r>
              <a:rPr lang="es-MX" sz="1200" kern="1200" dirty="0">
                <a:solidFill>
                  <a:schemeClr val="tx1"/>
                </a:solidFill>
                <a:effectLst/>
                <a:latin typeface="+mn-lt"/>
                <a:ea typeface="+mn-ea"/>
                <a:cs typeface="+mn-cs"/>
              </a:rPr>
              <a:t>• En ciertas máquinas se implanta en el hardware y no es en realidad una capa distinta. </a:t>
            </a:r>
            <a:endParaRPr lang="es-MX" dirty="0"/>
          </a:p>
          <a:p>
            <a:endParaRPr lang="es-MX" dirty="0"/>
          </a:p>
        </p:txBody>
      </p:sp>
      <p:sp>
        <p:nvSpPr>
          <p:cNvPr id="4" name="Marcador de número de diapositiva 3"/>
          <p:cNvSpPr>
            <a:spLocks noGrp="1"/>
          </p:cNvSpPr>
          <p:nvPr>
            <p:ph type="sldNum" sz="quarter" idx="5"/>
          </p:nvPr>
        </p:nvSpPr>
        <p:spPr/>
        <p:txBody>
          <a:bodyPr/>
          <a:lstStyle/>
          <a:p>
            <a:fld id="{BAE3BC7B-C81A-4572-8F33-EFAC51E41CE3}" type="slidenum">
              <a:rPr lang="es-US" smtClean="0"/>
              <a:t>6</a:t>
            </a:fld>
            <a:endParaRPr lang="es-US"/>
          </a:p>
        </p:txBody>
      </p:sp>
    </p:spTree>
    <p:extLst>
      <p:ext uri="{BB962C8B-B14F-4D97-AF65-F5344CB8AC3E}">
        <p14:creationId xmlns:p14="http://schemas.microsoft.com/office/powerpoint/2010/main" val="2123841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MX" sz="1200" kern="1200" dirty="0">
                <a:solidFill>
                  <a:schemeClr val="tx1"/>
                </a:solidFill>
                <a:effectLst/>
                <a:latin typeface="+mn-lt"/>
                <a:ea typeface="+mn-ea"/>
                <a:cs typeface="+mn-cs"/>
              </a:rPr>
              <a:t>Generalmente posee entre 50 y 300 instrucciones, sirviendo la mayoría para desplazar datos, hacer operaciones aritméticas y comparar valores. </a:t>
            </a:r>
          </a:p>
          <a:p>
            <a:pPr marL="171450" indent="-171450">
              <a:buFont typeface="Arial" panose="020B0604020202020204" pitchFamily="34" charset="0"/>
              <a:buChar char="•"/>
            </a:pPr>
            <a:r>
              <a:rPr lang="es-MX" sz="1200" kern="1200" dirty="0">
                <a:solidFill>
                  <a:schemeClr val="tx1"/>
                </a:solidFill>
                <a:effectLst/>
                <a:latin typeface="+mn-lt"/>
                <a:ea typeface="+mn-ea"/>
                <a:cs typeface="+mn-cs"/>
              </a:rPr>
              <a:t>Los dispositivos de e / s (entrada / salida) se controlan al cargar valores en registros del dispositivo especiales. </a:t>
            </a:r>
          </a:p>
          <a:p>
            <a:endParaRPr lang="es-US" dirty="0"/>
          </a:p>
        </p:txBody>
      </p:sp>
      <p:sp>
        <p:nvSpPr>
          <p:cNvPr id="4" name="Marcador de número de diapositiva 3"/>
          <p:cNvSpPr>
            <a:spLocks noGrp="1"/>
          </p:cNvSpPr>
          <p:nvPr>
            <p:ph type="sldNum" sz="quarter" idx="10"/>
          </p:nvPr>
        </p:nvSpPr>
        <p:spPr/>
        <p:txBody>
          <a:bodyPr/>
          <a:lstStyle/>
          <a:p>
            <a:fld id="{BAE3BC7B-C81A-4572-8F33-EFAC51E41CE3}" type="slidenum">
              <a:rPr lang="es-US" smtClean="0"/>
              <a:t>7</a:t>
            </a:fld>
            <a:endParaRPr lang="es-US"/>
          </a:p>
        </p:txBody>
      </p:sp>
    </p:spTree>
    <p:extLst>
      <p:ext uri="{BB962C8B-B14F-4D97-AF65-F5344CB8AC3E}">
        <p14:creationId xmlns:p14="http://schemas.microsoft.com/office/powerpoint/2010/main" val="986527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U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US"/>
          </a:p>
        </p:txBody>
      </p:sp>
      <p:sp>
        <p:nvSpPr>
          <p:cNvPr id="4" name="Marcador de fecha 3"/>
          <p:cNvSpPr>
            <a:spLocks noGrp="1"/>
          </p:cNvSpPr>
          <p:nvPr>
            <p:ph type="dt" sz="half" idx="10"/>
          </p:nvPr>
        </p:nvSpPr>
        <p:spPr/>
        <p:txBody>
          <a:bodyPr/>
          <a:lstStyle/>
          <a:p>
            <a:fld id="{1F7E97BC-B63F-49E2-B78B-F032877FB5CE}" type="datetime1">
              <a:rPr lang="es-US" smtClean="0"/>
              <a:t>2/23/21</a:t>
            </a:fld>
            <a:endParaRPr lang="es-US"/>
          </a:p>
        </p:txBody>
      </p:sp>
      <p:sp>
        <p:nvSpPr>
          <p:cNvPr id="5" name="Marcador de pie de página 4"/>
          <p:cNvSpPr>
            <a:spLocks noGrp="1"/>
          </p:cNvSpPr>
          <p:nvPr>
            <p:ph type="ftr" sz="quarter" idx="11"/>
          </p:nvPr>
        </p:nvSpPr>
        <p:spPr/>
        <p:txBody>
          <a:bodyPr/>
          <a:lstStyle/>
          <a:p>
            <a:endParaRPr lang="es-US"/>
          </a:p>
        </p:txBody>
      </p:sp>
      <p:sp>
        <p:nvSpPr>
          <p:cNvPr id="6" name="Marcador de número de diapositiva 5"/>
          <p:cNvSpPr>
            <a:spLocks noGrp="1"/>
          </p:cNvSpPr>
          <p:nvPr>
            <p:ph type="sldNum" sz="quarter" idx="12"/>
          </p:nvPr>
        </p:nvSpPr>
        <p:spPr/>
        <p:txBody>
          <a:bodyPr/>
          <a:lstStyle/>
          <a:p>
            <a:fld id="{40292F9B-08DB-4982-BD6A-C3B16382487C}" type="slidenum">
              <a:rPr lang="es-US" smtClean="0"/>
              <a:t>‹Nº›</a:t>
            </a:fld>
            <a:endParaRPr lang="es-US"/>
          </a:p>
        </p:txBody>
      </p:sp>
    </p:spTree>
    <p:extLst>
      <p:ext uri="{BB962C8B-B14F-4D97-AF65-F5344CB8AC3E}">
        <p14:creationId xmlns:p14="http://schemas.microsoft.com/office/powerpoint/2010/main" val="1938492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US"/>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US"/>
          </a:p>
        </p:txBody>
      </p:sp>
      <p:sp>
        <p:nvSpPr>
          <p:cNvPr id="4" name="Marcador de fecha 3"/>
          <p:cNvSpPr>
            <a:spLocks noGrp="1"/>
          </p:cNvSpPr>
          <p:nvPr>
            <p:ph type="dt" sz="half" idx="10"/>
          </p:nvPr>
        </p:nvSpPr>
        <p:spPr/>
        <p:txBody>
          <a:bodyPr/>
          <a:lstStyle/>
          <a:p>
            <a:fld id="{99B56BA3-4F80-4029-BB9B-72AF068D4BCA}" type="datetime1">
              <a:rPr lang="es-US" smtClean="0"/>
              <a:t>2/23/21</a:t>
            </a:fld>
            <a:endParaRPr lang="es-US"/>
          </a:p>
        </p:txBody>
      </p:sp>
      <p:sp>
        <p:nvSpPr>
          <p:cNvPr id="5" name="Marcador de pie de página 4"/>
          <p:cNvSpPr>
            <a:spLocks noGrp="1"/>
          </p:cNvSpPr>
          <p:nvPr>
            <p:ph type="ftr" sz="quarter" idx="11"/>
          </p:nvPr>
        </p:nvSpPr>
        <p:spPr/>
        <p:txBody>
          <a:bodyPr/>
          <a:lstStyle/>
          <a:p>
            <a:endParaRPr lang="es-US"/>
          </a:p>
        </p:txBody>
      </p:sp>
      <p:sp>
        <p:nvSpPr>
          <p:cNvPr id="6" name="Marcador de número de diapositiva 5"/>
          <p:cNvSpPr>
            <a:spLocks noGrp="1"/>
          </p:cNvSpPr>
          <p:nvPr>
            <p:ph type="sldNum" sz="quarter" idx="12"/>
          </p:nvPr>
        </p:nvSpPr>
        <p:spPr/>
        <p:txBody>
          <a:bodyPr/>
          <a:lstStyle/>
          <a:p>
            <a:fld id="{40292F9B-08DB-4982-BD6A-C3B16382487C}" type="slidenum">
              <a:rPr lang="es-US" smtClean="0"/>
              <a:t>‹Nº›</a:t>
            </a:fld>
            <a:endParaRPr lang="es-US"/>
          </a:p>
        </p:txBody>
      </p:sp>
    </p:spTree>
    <p:extLst>
      <p:ext uri="{BB962C8B-B14F-4D97-AF65-F5344CB8AC3E}">
        <p14:creationId xmlns:p14="http://schemas.microsoft.com/office/powerpoint/2010/main" val="4046224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U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B50AFBEF-3EB1-43D3-AB06-34C8F52FB49A}" type="datetime1">
              <a:rPr lang="es-US" smtClean="0"/>
              <a:t>2/23/21</a:t>
            </a:fld>
            <a:endParaRPr lang="es-US"/>
          </a:p>
        </p:txBody>
      </p:sp>
      <p:sp>
        <p:nvSpPr>
          <p:cNvPr id="5" name="Marcador de pie de página 4"/>
          <p:cNvSpPr>
            <a:spLocks noGrp="1"/>
          </p:cNvSpPr>
          <p:nvPr>
            <p:ph type="ftr" sz="quarter" idx="11"/>
          </p:nvPr>
        </p:nvSpPr>
        <p:spPr/>
        <p:txBody>
          <a:bodyPr/>
          <a:lstStyle/>
          <a:p>
            <a:endParaRPr lang="es-US"/>
          </a:p>
        </p:txBody>
      </p:sp>
      <p:sp>
        <p:nvSpPr>
          <p:cNvPr id="6" name="Marcador de número de diapositiva 5"/>
          <p:cNvSpPr>
            <a:spLocks noGrp="1"/>
          </p:cNvSpPr>
          <p:nvPr>
            <p:ph type="sldNum" sz="quarter" idx="12"/>
          </p:nvPr>
        </p:nvSpPr>
        <p:spPr/>
        <p:txBody>
          <a:bodyPr/>
          <a:lstStyle/>
          <a:p>
            <a:fld id="{40292F9B-08DB-4982-BD6A-C3B16382487C}" type="slidenum">
              <a:rPr lang="es-US" smtClean="0"/>
              <a:t>‹Nº›</a:t>
            </a:fld>
            <a:endParaRPr lang="es-US"/>
          </a:p>
        </p:txBody>
      </p:sp>
    </p:spTree>
    <p:extLst>
      <p:ext uri="{BB962C8B-B14F-4D97-AF65-F5344CB8AC3E}">
        <p14:creationId xmlns:p14="http://schemas.microsoft.com/office/powerpoint/2010/main" val="1440775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US"/>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US"/>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US"/>
          </a:p>
        </p:txBody>
      </p:sp>
      <p:sp>
        <p:nvSpPr>
          <p:cNvPr id="5" name="Marcador de fecha 4"/>
          <p:cNvSpPr>
            <a:spLocks noGrp="1"/>
          </p:cNvSpPr>
          <p:nvPr>
            <p:ph type="dt" sz="half" idx="10"/>
          </p:nvPr>
        </p:nvSpPr>
        <p:spPr/>
        <p:txBody>
          <a:bodyPr/>
          <a:lstStyle/>
          <a:p>
            <a:fld id="{216A9B61-55AB-4389-98FF-4454D0F2E2F5}" type="datetime1">
              <a:rPr lang="es-US" smtClean="0"/>
              <a:t>2/23/21</a:t>
            </a:fld>
            <a:endParaRPr lang="es-US"/>
          </a:p>
        </p:txBody>
      </p:sp>
      <p:sp>
        <p:nvSpPr>
          <p:cNvPr id="6" name="Marcador de pie de página 5"/>
          <p:cNvSpPr>
            <a:spLocks noGrp="1"/>
          </p:cNvSpPr>
          <p:nvPr>
            <p:ph type="ftr" sz="quarter" idx="11"/>
          </p:nvPr>
        </p:nvSpPr>
        <p:spPr/>
        <p:txBody>
          <a:bodyPr/>
          <a:lstStyle/>
          <a:p>
            <a:endParaRPr lang="es-US"/>
          </a:p>
        </p:txBody>
      </p:sp>
      <p:sp>
        <p:nvSpPr>
          <p:cNvPr id="7" name="Marcador de número de diapositiva 6"/>
          <p:cNvSpPr>
            <a:spLocks noGrp="1"/>
          </p:cNvSpPr>
          <p:nvPr>
            <p:ph type="sldNum" sz="quarter" idx="12"/>
          </p:nvPr>
        </p:nvSpPr>
        <p:spPr/>
        <p:txBody>
          <a:bodyPr/>
          <a:lstStyle/>
          <a:p>
            <a:fld id="{40292F9B-08DB-4982-BD6A-C3B16382487C}" type="slidenum">
              <a:rPr lang="es-US" smtClean="0"/>
              <a:t>‹Nº›</a:t>
            </a:fld>
            <a:endParaRPr lang="es-US"/>
          </a:p>
        </p:txBody>
      </p:sp>
    </p:spTree>
    <p:extLst>
      <p:ext uri="{BB962C8B-B14F-4D97-AF65-F5344CB8AC3E}">
        <p14:creationId xmlns:p14="http://schemas.microsoft.com/office/powerpoint/2010/main" val="1935329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U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U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US"/>
          </a:p>
        </p:txBody>
      </p:sp>
      <p:sp>
        <p:nvSpPr>
          <p:cNvPr id="7" name="Marcador de fecha 6"/>
          <p:cNvSpPr>
            <a:spLocks noGrp="1"/>
          </p:cNvSpPr>
          <p:nvPr>
            <p:ph type="dt" sz="half" idx="10"/>
          </p:nvPr>
        </p:nvSpPr>
        <p:spPr/>
        <p:txBody>
          <a:bodyPr/>
          <a:lstStyle/>
          <a:p>
            <a:fld id="{66D98B60-E53F-4CC9-B9B2-9B80AF562544}" type="datetime1">
              <a:rPr lang="es-US" smtClean="0"/>
              <a:t>2/23/21</a:t>
            </a:fld>
            <a:endParaRPr lang="es-US"/>
          </a:p>
        </p:txBody>
      </p:sp>
      <p:sp>
        <p:nvSpPr>
          <p:cNvPr id="8" name="Marcador de pie de página 7"/>
          <p:cNvSpPr>
            <a:spLocks noGrp="1"/>
          </p:cNvSpPr>
          <p:nvPr>
            <p:ph type="ftr" sz="quarter" idx="11"/>
          </p:nvPr>
        </p:nvSpPr>
        <p:spPr/>
        <p:txBody>
          <a:bodyPr/>
          <a:lstStyle/>
          <a:p>
            <a:endParaRPr lang="es-US"/>
          </a:p>
        </p:txBody>
      </p:sp>
      <p:sp>
        <p:nvSpPr>
          <p:cNvPr id="9" name="Marcador de número de diapositiva 8"/>
          <p:cNvSpPr>
            <a:spLocks noGrp="1"/>
          </p:cNvSpPr>
          <p:nvPr>
            <p:ph type="sldNum" sz="quarter" idx="12"/>
          </p:nvPr>
        </p:nvSpPr>
        <p:spPr/>
        <p:txBody>
          <a:bodyPr/>
          <a:lstStyle/>
          <a:p>
            <a:fld id="{40292F9B-08DB-4982-BD6A-C3B16382487C}" type="slidenum">
              <a:rPr lang="es-US" smtClean="0"/>
              <a:t>‹Nº›</a:t>
            </a:fld>
            <a:endParaRPr lang="es-US"/>
          </a:p>
        </p:txBody>
      </p:sp>
    </p:spTree>
    <p:extLst>
      <p:ext uri="{BB962C8B-B14F-4D97-AF65-F5344CB8AC3E}">
        <p14:creationId xmlns:p14="http://schemas.microsoft.com/office/powerpoint/2010/main" val="2066172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US"/>
          </a:p>
        </p:txBody>
      </p:sp>
      <p:sp>
        <p:nvSpPr>
          <p:cNvPr id="3" name="Marcador de fecha 2"/>
          <p:cNvSpPr>
            <a:spLocks noGrp="1"/>
          </p:cNvSpPr>
          <p:nvPr>
            <p:ph type="dt" sz="half" idx="10"/>
          </p:nvPr>
        </p:nvSpPr>
        <p:spPr/>
        <p:txBody>
          <a:bodyPr/>
          <a:lstStyle/>
          <a:p>
            <a:fld id="{ADBEF21D-CDF3-4448-B5CE-D1E6E4EE5E60}" type="datetime1">
              <a:rPr lang="es-US" smtClean="0"/>
              <a:t>2/23/21</a:t>
            </a:fld>
            <a:endParaRPr lang="es-US"/>
          </a:p>
        </p:txBody>
      </p:sp>
      <p:sp>
        <p:nvSpPr>
          <p:cNvPr id="4" name="Marcador de pie de página 3"/>
          <p:cNvSpPr>
            <a:spLocks noGrp="1"/>
          </p:cNvSpPr>
          <p:nvPr>
            <p:ph type="ftr" sz="quarter" idx="11"/>
          </p:nvPr>
        </p:nvSpPr>
        <p:spPr/>
        <p:txBody>
          <a:bodyPr/>
          <a:lstStyle/>
          <a:p>
            <a:endParaRPr lang="es-US"/>
          </a:p>
        </p:txBody>
      </p:sp>
      <p:sp>
        <p:nvSpPr>
          <p:cNvPr id="5" name="Marcador de número de diapositiva 4"/>
          <p:cNvSpPr>
            <a:spLocks noGrp="1"/>
          </p:cNvSpPr>
          <p:nvPr>
            <p:ph type="sldNum" sz="quarter" idx="12"/>
          </p:nvPr>
        </p:nvSpPr>
        <p:spPr/>
        <p:txBody>
          <a:bodyPr/>
          <a:lstStyle/>
          <a:p>
            <a:fld id="{40292F9B-08DB-4982-BD6A-C3B16382487C}" type="slidenum">
              <a:rPr lang="es-US" smtClean="0"/>
              <a:t>‹Nº›</a:t>
            </a:fld>
            <a:endParaRPr lang="es-US"/>
          </a:p>
        </p:txBody>
      </p:sp>
    </p:spTree>
    <p:extLst>
      <p:ext uri="{BB962C8B-B14F-4D97-AF65-F5344CB8AC3E}">
        <p14:creationId xmlns:p14="http://schemas.microsoft.com/office/powerpoint/2010/main" val="3751867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9D8DDE4C-D861-4C98-92C2-4E8275E882DB}" type="datetime1">
              <a:rPr lang="es-US" smtClean="0"/>
              <a:t>2/23/21</a:t>
            </a:fld>
            <a:endParaRPr lang="es-US"/>
          </a:p>
        </p:txBody>
      </p:sp>
      <p:sp>
        <p:nvSpPr>
          <p:cNvPr id="3" name="Marcador de pie de página 2"/>
          <p:cNvSpPr>
            <a:spLocks noGrp="1"/>
          </p:cNvSpPr>
          <p:nvPr>
            <p:ph type="ftr" sz="quarter" idx="11"/>
          </p:nvPr>
        </p:nvSpPr>
        <p:spPr/>
        <p:txBody>
          <a:bodyPr/>
          <a:lstStyle/>
          <a:p>
            <a:endParaRPr lang="es-US"/>
          </a:p>
        </p:txBody>
      </p:sp>
      <p:sp>
        <p:nvSpPr>
          <p:cNvPr id="4" name="Marcador de número de diapositiva 3"/>
          <p:cNvSpPr>
            <a:spLocks noGrp="1"/>
          </p:cNvSpPr>
          <p:nvPr>
            <p:ph type="sldNum" sz="quarter" idx="12"/>
          </p:nvPr>
        </p:nvSpPr>
        <p:spPr/>
        <p:txBody>
          <a:bodyPr/>
          <a:lstStyle/>
          <a:p>
            <a:fld id="{40292F9B-08DB-4982-BD6A-C3B16382487C}" type="slidenum">
              <a:rPr lang="es-US" smtClean="0"/>
              <a:t>‹Nº›</a:t>
            </a:fld>
            <a:endParaRPr lang="es-US"/>
          </a:p>
        </p:txBody>
      </p:sp>
    </p:spTree>
    <p:extLst>
      <p:ext uri="{BB962C8B-B14F-4D97-AF65-F5344CB8AC3E}">
        <p14:creationId xmlns:p14="http://schemas.microsoft.com/office/powerpoint/2010/main" val="1065367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U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5E5F73FE-2E29-4FA4-90B7-862EB67E1200}" type="datetime1">
              <a:rPr lang="es-US" smtClean="0"/>
              <a:t>2/23/21</a:t>
            </a:fld>
            <a:endParaRPr lang="es-US"/>
          </a:p>
        </p:txBody>
      </p:sp>
      <p:sp>
        <p:nvSpPr>
          <p:cNvPr id="6" name="Marcador de pie de página 5"/>
          <p:cNvSpPr>
            <a:spLocks noGrp="1"/>
          </p:cNvSpPr>
          <p:nvPr>
            <p:ph type="ftr" sz="quarter" idx="11"/>
          </p:nvPr>
        </p:nvSpPr>
        <p:spPr/>
        <p:txBody>
          <a:bodyPr/>
          <a:lstStyle/>
          <a:p>
            <a:endParaRPr lang="es-US"/>
          </a:p>
        </p:txBody>
      </p:sp>
      <p:sp>
        <p:nvSpPr>
          <p:cNvPr id="7" name="Marcador de número de diapositiva 6"/>
          <p:cNvSpPr>
            <a:spLocks noGrp="1"/>
          </p:cNvSpPr>
          <p:nvPr>
            <p:ph type="sldNum" sz="quarter" idx="12"/>
          </p:nvPr>
        </p:nvSpPr>
        <p:spPr/>
        <p:txBody>
          <a:bodyPr/>
          <a:lstStyle/>
          <a:p>
            <a:fld id="{40292F9B-08DB-4982-BD6A-C3B16382487C}" type="slidenum">
              <a:rPr lang="es-US" smtClean="0"/>
              <a:t>‹Nº›</a:t>
            </a:fld>
            <a:endParaRPr lang="es-US"/>
          </a:p>
        </p:txBody>
      </p:sp>
    </p:spTree>
    <p:extLst>
      <p:ext uri="{BB962C8B-B14F-4D97-AF65-F5344CB8AC3E}">
        <p14:creationId xmlns:p14="http://schemas.microsoft.com/office/powerpoint/2010/main" val="3582402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U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BD4C371E-A6B1-4701-9AE6-F66AD4CF89BA}" type="datetime1">
              <a:rPr lang="es-US" smtClean="0"/>
              <a:t>2/23/21</a:t>
            </a:fld>
            <a:endParaRPr lang="es-US"/>
          </a:p>
        </p:txBody>
      </p:sp>
      <p:sp>
        <p:nvSpPr>
          <p:cNvPr id="6" name="Marcador de pie de página 5"/>
          <p:cNvSpPr>
            <a:spLocks noGrp="1"/>
          </p:cNvSpPr>
          <p:nvPr>
            <p:ph type="ftr" sz="quarter" idx="11"/>
          </p:nvPr>
        </p:nvSpPr>
        <p:spPr/>
        <p:txBody>
          <a:bodyPr/>
          <a:lstStyle/>
          <a:p>
            <a:endParaRPr lang="es-US"/>
          </a:p>
        </p:txBody>
      </p:sp>
      <p:sp>
        <p:nvSpPr>
          <p:cNvPr id="7" name="Marcador de número de diapositiva 6"/>
          <p:cNvSpPr>
            <a:spLocks noGrp="1"/>
          </p:cNvSpPr>
          <p:nvPr>
            <p:ph type="sldNum" sz="quarter" idx="12"/>
          </p:nvPr>
        </p:nvSpPr>
        <p:spPr/>
        <p:txBody>
          <a:bodyPr/>
          <a:lstStyle/>
          <a:p>
            <a:fld id="{40292F9B-08DB-4982-BD6A-C3B16382487C}" type="slidenum">
              <a:rPr lang="es-US" smtClean="0"/>
              <a:t>‹Nº›</a:t>
            </a:fld>
            <a:endParaRPr lang="es-US"/>
          </a:p>
        </p:txBody>
      </p:sp>
    </p:spTree>
    <p:extLst>
      <p:ext uri="{BB962C8B-B14F-4D97-AF65-F5344CB8AC3E}">
        <p14:creationId xmlns:p14="http://schemas.microsoft.com/office/powerpoint/2010/main" val="1639559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US"/>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US"/>
          </a:p>
        </p:txBody>
      </p:sp>
      <p:sp>
        <p:nvSpPr>
          <p:cNvPr id="4" name="Marcador de fecha 3"/>
          <p:cNvSpPr>
            <a:spLocks noGrp="1"/>
          </p:cNvSpPr>
          <p:nvPr>
            <p:ph type="dt" sz="half" idx="10"/>
          </p:nvPr>
        </p:nvSpPr>
        <p:spPr/>
        <p:txBody>
          <a:bodyPr/>
          <a:lstStyle/>
          <a:p>
            <a:fld id="{D2C851E3-5F47-429F-890D-38869566CAA6}" type="datetime1">
              <a:rPr lang="es-US" smtClean="0"/>
              <a:t>2/23/21</a:t>
            </a:fld>
            <a:endParaRPr lang="es-US"/>
          </a:p>
        </p:txBody>
      </p:sp>
      <p:sp>
        <p:nvSpPr>
          <p:cNvPr id="5" name="Marcador de pie de página 4"/>
          <p:cNvSpPr>
            <a:spLocks noGrp="1"/>
          </p:cNvSpPr>
          <p:nvPr>
            <p:ph type="ftr" sz="quarter" idx="11"/>
          </p:nvPr>
        </p:nvSpPr>
        <p:spPr/>
        <p:txBody>
          <a:bodyPr/>
          <a:lstStyle/>
          <a:p>
            <a:endParaRPr lang="es-US"/>
          </a:p>
        </p:txBody>
      </p:sp>
      <p:sp>
        <p:nvSpPr>
          <p:cNvPr id="6" name="Marcador de número de diapositiva 5"/>
          <p:cNvSpPr>
            <a:spLocks noGrp="1"/>
          </p:cNvSpPr>
          <p:nvPr>
            <p:ph type="sldNum" sz="quarter" idx="12"/>
          </p:nvPr>
        </p:nvSpPr>
        <p:spPr/>
        <p:txBody>
          <a:bodyPr/>
          <a:lstStyle/>
          <a:p>
            <a:fld id="{40292F9B-08DB-4982-BD6A-C3B16382487C}" type="slidenum">
              <a:rPr lang="es-US" smtClean="0"/>
              <a:t>‹Nº›</a:t>
            </a:fld>
            <a:endParaRPr lang="es-US"/>
          </a:p>
        </p:txBody>
      </p:sp>
    </p:spTree>
    <p:extLst>
      <p:ext uri="{BB962C8B-B14F-4D97-AF65-F5344CB8AC3E}">
        <p14:creationId xmlns:p14="http://schemas.microsoft.com/office/powerpoint/2010/main" val="831069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U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US"/>
          </a:p>
        </p:txBody>
      </p:sp>
      <p:sp>
        <p:nvSpPr>
          <p:cNvPr id="4" name="Marcador de fecha 3"/>
          <p:cNvSpPr>
            <a:spLocks noGrp="1"/>
          </p:cNvSpPr>
          <p:nvPr>
            <p:ph type="dt" sz="half" idx="10"/>
          </p:nvPr>
        </p:nvSpPr>
        <p:spPr/>
        <p:txBody>
          <a:bodyPr/>
          <a:lstStyle/>
          <a:p>
            <a:fld id="{57A9E513-81FD-472D-AFF1-40983AE4DC81}" type="datetime1">
              <a:rPr lang="es-US" smtClean="0"/>
              <a:t>2/23/21</a:t>
            </a:fld>
            <a:endParaRPr lang="es-US"/>
          </a:p>
        </p:txBody>
      </p:sp>
      <p:sp>
        <p:nvSpPr>
          <p:cNvPr id="5" name="Marcador de pie de página 4"/>
          <p:cNvSpPr>
            <a:spLocks noGrp="1"/>
          </p:cNvSpPr>
          <p:nvPr>
            <p:ph type="ftr" sz="quarter" idx="11"/>
          </p:nvPr>
        </p:nvSpPr>
        <p:spPr/>
        <p:txBody>
          <a:bodyPr/>
          <a:lstStyle/>
          <a:p>
            <a:endParaRPr lang="es-US"/>
          </a:p>
        </p:txBody>
      </p:sp>
      <p:sp>
        <p:nvSpPr>
          <p:cNvPr id="6" name="Marcador de número de diapositiva 5"/>
          <p:cNvSpPr>
            <a:spLocks noGrp="1"/>
          </p:cNvSpPr>
          <p:nvPr>
            <p:ph type="sldNum" sz="quarter" idx="12"/>
          </p:nvPr>
        </p:nvSpPr>
        <p:spPr/>
        <p:txBody>
          <a:bodyPr/>
          <a:lstStyle/>
          <a:p>
            <a:fld id="{40292F9B-08DB-4982-BD6A-C3B16382487C}" type="slidenum">
              <a:rPr lang="es-US" smtClean="0"/>
              <a:t>‹Nº›</a:t>
            </a:fld>
            <a:endParaRPr lang="es-US"/>
          </a:p>
        </p:txBody>
      </p:sp>
    </p:spTree>
    <p:extLst>
      <p:ext uri="{BB962C8B-B14F-4D97-AF65-F5344CB8AC3E}">
        <p14:creationId xmlns:p14="http://schemas.microsoft.com/office/powerpoint/2010/main" val="91633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U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E410C7-E075-4421-8EC0-9D45055D9579}" type="datetime1">
              <a:rPr lang="es-US" smtClean="0"/>
              <a:t>2/23/21</a:t>
            </a:fld>
            <a:endParaRPr lang="es-U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U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92F9B-08DB-4982-BD6A-C3B16382487C}" type="slidenum">
              <a:rPr lang="es-US" smtClean="0"/>
              <a:t>‹Nº›</a:t>
            </a:fld>
            <a:endParaRPr lang="es-US"/>
          </a:p>
        </p:txBody>
      </p:sp>
    </p:spTree>
    <p:extLst>
      <p:ext uri="{BB962C8B-B14F-4D97-AF65-F5344CB8AC3E}">
        <p14:creationId xmlns:p14="http://schemas.microsoft.com/office/powerpoint/2010/main" val="34515128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US" dirty="0"/>
              <a:t>Sistema Operativo</a:t>
            </a:r>
          </a:p>
        </p:txBody>
      </p:sp>
      <p:sp>
        <p:nvSpPr>
          <p:cNvPr id="4" name="Marcador de número de diapositiva 3"/>
          <p:cNvSpPr>
            <a:spLocks noGrp="1"/>
          </p:cNvSpPr>
          <p:nvPr>
            <p:ph type="sldNum" sz="quarter" idx="12"/>
          </p:nvPr>
        </p:nvSpPr>
        <p:spPr/>
        <p:txBody>
          <a:bodyPr/>
          <a:lstStyle/>
          <a:p>
            <a:fld id="{40292F9B-08DB-4982-BD6A-C3B16382487C}" type="slidenum">
              <a:rPr lang="es-US" smtClean="0"/>
              <a:t>1</a:t>
            </a:fld>
            <a:endParaRPr lang="es-US"/>
          </a:p>
        </p:txBody>
      </p:sp>
    </p:spTree>
    <p:extLst>
      <p:ext uri="{BB962C8B-B14F-4D97-AF65-F5344CB8AC3E}">
        <p14:creationId xmlns:p14="http://schemas.microsoft.com/office/powerpoint/2010/main" val="1010273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a:t>DEFINICIÓN</a:t>
            </a:r>
          </a:p>
        </p:txBody>
      </p:sp>
      <p:sp>
        <p:nvSpPr>
          <p:cNvPr id="3" name="Marcador de contenido 2"/>
          <p:cNvSpPr>
            <a:spLocks noGrp="1"/>
          </p:cNvSpPr>
          <p:nvPr>
            <p:ph idx="1"/>
          </p:nvPr>
        </p:nvSpPr>
        <p:spPr/>
        <p:txBody>
          <a:bodyPr>
            <a:normAutofit/>
          </a:bodyPr>
          <a:lstStyle/>
          <a:p>
            <a:pPr algn="just"/>
            <a:r>
              <a:rPr lang="es-US" sz="4000" dirty="0"/>
              <a:t>(</a:t>
            </a:r>
            <a:r>
              <a:rPr lang="es-US" sz="4000" dirty="0" err="1"/>
              <a:t>Silberschatz</a:t>
            </a:r>
            <a:r>
              <a:rPr lang="es-US" sz="4000" dirty="0"/>
              <a:t> &amp; col.,1994) Un </a:t>
            </a:r>
            <a:r>
              <a:rPr lang="es-US" sz="4000" i="1" dirty="0"/>
              <a:t>sistema operativo</a:t>
            </a:r>
            <a:r>
              <a:rPr lang="es-US" sz="4000" dirty="0"/>
              <a:t> es un programa que actúa como intermediario entre el usuario y el hardware de un computador, y su propósito es proporcionar un entorno en el cual el usuario pueda ejecutar programas de manera </a:t>
            </a:r>
            <a:r>
              <a:rPr lang="es-US" sz="4000" i="1" dirty="0"/>
              <a:t>cómoda</a:t>
            </a:r>
            <a:r>
              <a:rPr lang="es-US" sz="4000" dirty="0"/>
              <a:t> y </a:t>
            </a:r>
            <a:r>
              <a:rPr lang="es-US" sz="4000" i="1" dirty="0"/>
              <a:t>eficiente</a:t>
            </a:r>
            <a:r>
              <a:rPr lang="es-US" sz="4000" dirty="0"/>
              <a:t>.</a:t>
            </a:r>
          </a:p>
        </p:txBody>
      </p:sp>
      <p:sp>
        <p:nvSpPr>
          <p:cNvPr id="4" name="Marcador de número de diapositiva 3"/>
          <p:cNvSpPr>
            <a:spLocks noGrp="1"/>
          </p:cNvSpPr>
          <p:nvPr>
            <p:ph type="sldNum" sz="quarter" idx="12"/>
          </p:nvPr>
        </p:nvSpPr>
        <p:spPr/>
        <p:txBody>
          <a:bodyPr/>
          <a:lstStyle/>
          <a:p>
            <a:fld id="{40292F9B-08DB-4982-BD6A-C3B16382487C}" type="slidenum">
              <a:rPr lang="es-US" smtClean="0"/>
              <a:t>2</a:t>
            </a:fld>
            <a:endParaRPr lang="es-US"/>
          </a:p>
        </p:txBody>
      </p:sp>
    </p:spTree>
    <p:extLst>
      <p:ext uri="{BB962C8B-B14F-4D97-AF65-F5344CB8AC3E}">
        <p14:creationId xmlns:p14="http://schemas.microsoft.com/office/powerpoint/2010/main" val="2966757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US"/>
          </a:p>
        </p:txBody>
      </p:sp>
      <p:sp>
        <p:nvSpPr>
          <p:cNvPr id="3" name="Marcador de contenido 2"/>
          <p:cNvSpPr>
            <a:spLocks noGrp="1"/>
          </p:cNvSpPr>
          <p:nvPr>
            <p:ph idx="1"/>
          </p:nvPr>
        </p:nvSpPr>
        <p:spPr/>
        <p:txBody>
          <a:bodyPr/>
          <a:lstStyle/>
          <a:p>
            <a:endParaRPr lang="es-US"/>
          </a:p>
        </p:txBody>
      </p:sp>
      <p:sp>
        <p:nvSpPr>
          <p:cNvPr id="4" name="Marcador de número de diapositiva 3"/>
          <p:cNvSpPr>
            <a:spLocks noGrp="1"/>
          </p:cNvSpPr>
          <p:nvPr>
            <p:ph type="sldNum" sz="quarter" idx="12"/>
          </p:nvPr>
        </p:nvSpPr>
        <p:spPr/>
        <p:txBody>
          <a:bodyPr/>
          <a:lstStyle/>
          <a:p>
            <a:fld id="{40292F9B-08DB-4982-BD6A-C3B16382487C}" type="slidenum">
              <a:rPr lang="es-US" smtClean="0"/>
              <a:t>3</a:t>
            </a:fld>
            <a:endParaRPr lang="es-US"/>
          </a:p>
        </p:txBody>
      </p:sp>
      <p:pic>
        <p:nvPicPr>
          <p:cNvPr id="5" name="Imagen 4"/>
          <p:cNvPicPr>
            <a:picLocks noChangeAspect="1"/>
          </p:cNvPicPr>
          <p:nvPr/>
        </p:nvPicPr>
        <p:blipFill>
          <a:blip r:embed="rId3"/>
          <a:stretch>
            <a:fillRect/>
          </a:stretch>
        </p:blipFill>
        <p:spPr>
          <a:xfrm>
            <a:off x="-132949" y="185915"/>
            <a:ext cx="12940239" cy="6428530"/>
          </a:xfrm>
          <a:prstGeom prst="rect">
            <a:avLst/>
          </a:prstGeom>
        </p:spPr>
      </p:pic>
      <p:sp>
        <p:nvSpPr>
          <p:cNvPr id="6" name="CuadroTexto 5"/>
          <p:cNvSpPr txBox="1"/>
          <p:nvPr/>
        </p:nvSpPr>
        <p:spPr>
          <a:xfrm>
            <a:off x="7121562" y="6463854"/>
            <a:ext cx="4757264" cy="369332"/>
          </a:xfrm>
          <a:prstGeom prst="rect">
            <a:avLst/>
          </a:prstGeom>
          <a:noFill/>
        </p:spPr>
        <p:txBody>
          <a:bodyPr wrap="none" rtlCol="0">
            <a:spAutoFit/>
          </a:bodyPr>
          <a:lstStyle/>
          <a:p>
            <a:r>
              <a:rPr lang="es-US" dirty="0">
                <a:solidFill>
                  <a:schemeClr val="bg1"/>
                </a:solidFill>
              </a:rPr>
              <a:t>Figura 1: Sistema Operativo como administrador</a:t>
            </a:r>
          </a:p>
        </p:txBody>
      </p:sp>
    </p:spTree>
    <p:extLst>
      <p:ext uri="{BB962C8B-B14F-4D97-AF65-F5344CB8AC3E}">
        <p14:creationId xmlns:p14="http://schemas.microsoft.com/office/powerpoint/2010/main" val="380952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a:t>FUNCIONES BÁSICAS</a:t>
            </a:r>
          </a:p>
        </p:txBody>
      </p:sp>
      <p:sp>
        <p:nvSpPr>
          <p:cNvPr id="3" name="Marcador de contenido 2"/>
          <p:cNvSpPr>
            <a:spLocks noGrp="1"/>
          </p:cNvSpPr>
          <p:nvPr>
            <p:ph idx="1"/>
          </p:nvPr>
        </p:nvSpPr>
        <p:spPr/>
        <p:txBody>
          <a:bodyPr>
            <a:normAutofit fontScale="92500" lnSpcReduction="20000"/>
          </a:bodyPr>
          <a:lstStyle/>
          <a:p>
            <a:r>
              <a:rPr lang="es-US" sz="3900" dirty="0"/>
              <a:t>El sistema operativo cumple con cinco funciones básicas:</a:t>
            </a:r>
          </a:p>
          <a:p>
            <a:endParaRPr lang="es-US" sz="3900" dirty="0"/>
          </a:p>
          <a:p>
            <a:r>
              <a:rPr lang="es-US" sz="3900" dirty="0"/>
              <a:t>El suministro de interfaz al usuario</a:t>
            </a:r>
          </a:p>
          <a:p>
            <a:r>
              <a:rPr lang="es-US" sz="3900" dirty="0"/>
              <a:t>La administración de recursos</a:t>
            </a:r>
          </a:p>
          <a:p>
            <a:r>
              <a:rPr lang="es-US" sz="3900" dirty="0"/>
              <a:t>La administración de archivos</a:t>
            </a:r>
          </a:p>
          <a:p>
            <a:r>
              <a:rPr lang="es-US" sz="3900" dirty="0"/>
              <a:t>La administración de tareas</a:t>
            </a:r>
          </a:p>
          <a:p>
            <a:r>
              <a:rPr lang="es-US" sz="3900" dirty="0"/>
              <a:t>El servicio de soporte y utilidades.</a:t>
            </a:r>
          </a:p>
          <a:p>
            <a:endParaRPr lang="es-US" dirty="0"/>
          </a:p>
        </p:txBody>
      </p:sp>
      <p:sp>
        <p:nvSpPr>
          <p:cNvPr id="4" name="Marcador de número de diapositiva 3"/>
          <p:cNvSpPr>
            <a:spLocks noGrp="1"/>
          </p:cNvSpPr>
          <p:nvPr>
            <p:ph type="sldNum" sz="quarter" idx="12"/>
          </p:nvPr>
        </p:nvSpPr>
        <p:spPr/>
        <p:txBody>
          <a:bodyPr/>
          <a:lstStyle/>
          <a:p>
            <a:fld id="{40292F9B-08DB-4982-BD6A-C3B16382487C}" type="slidenum">
              <a:rPr lang="es-US" smtClean="0"/>
              <a:t>4</a:t>
            </a:fld>
            <a:endParaRPr lang="es-US"/>
          </a:p>
        </p:txBody>
      </p:sp>
    </p:spTree>
    <p:extLst>
      <p:ext uri="{BB962C8B-B14F-4D97-AF65-F5344CB8AC3E}">
        <p14:creationId xmlns:p14="http://schemas.microsoft.com/office/powerpoint/2010/main" val="2420723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4574" y="5221926"/>
            <a:ext cx="10515600" cy="1325563"/>
          </a:xfrm>
        </p:spPr>
        <p:txBody>
          <a:bodyPr/>
          <a:lstStyle/>
          <a:p>
            <a:r>
              <a:rPr lang="es-US" dirty="0"/>
              <a:t>Esquema típico de un sistema operativo</a:t>
            </a:r>
          </a:p>
        </p:txBody>
      </p:sp>
      <p:graphicFrame>
        <p:nvGraphicFramePr>
          <p:cNvPr id="5" name="Marcador de contenido 4"/>
          <p:cNvGraphicFramePr>
            <a:graphicFrameLocks noGrp="1"/>
          </p:cNvGraphicFramePr>
          <p:nvPr>
            <p:ph idx="1"/>
            <p:extLst>
              <p:ext uri="{D42A27DB-BD31-4B8C-83A1-F6EECF244321}">
                <p14:modId xmlns:p14="http://schemas.microsoft.com/office/powerpoint/2010/main" val="1000406391"/>
              </p:ext>
            </p:extLst>
          </p:nvPr>
        </p:nvGraphicFramePr>
        <p:xfrm>
          <a:off x="1544521" y="864037"/>
          <a:ext cx="5819912" cy="4454112"/>
        </p:xfrm>
        <a:graphic>
          <a:graphicData uri="http://schemas.openxmlformats.org/drawingml/2006/table">
            <a:tbl>
              <a:tblPr firstRow="1" firstCol="1" bandRow="1">
                <a:tableStyleId>{5C22544A-7EE6-4342-B048-85BDC9FD1C3A}</a:tableStyleId>
              </a:tblPr>
              <a:tblGrid>
                <a:gridCol w="1939356">
                  <a:extLst>
                    <a:ext uri="{9D8B030D-6E8A-4147-A177-3AD203B41FA5}">
                      <a16:colId xmlns:a16="http://schemas.microsoft.com/office/drawing/2014/main" val="20000"/>
                    </a:ext>
                  </a:extLst>
                </a:gridCol>
                <a:gridCol w="1940278">
                  <a:extLst>
                    <a:ext uri="{9D8B030D-6E8A-4147-A177-3AD203B41FA5}">
                      <a16:colId xmlns:a16="http://schemas.microsoft.com/office/drawing/2014/main" val="20001"/>
                    </a:ext>
                  </a:extLst>
                </a:gridCol>
                <a:gridCol w="1940278">
                  <a:extLst>
                    <a:ext uri="{9D8B030D-6E8A-4147-A177-3AD203B41FA5}">
                      <a16:colId xmlns:a16="http://schemas.microsoft.com/office/drawing/2014/main" val="20002"/>
                    </a:ext>
                  </a:extLst>
                </a:gridCol>
              </a:tblGrid>
              <a:tr h="742352">
                <a:tc>
                  <a:txBody>
                    <a:bodyPr/>
                    <a:lstStyle/>
                    <a:p>
                      <a:pPr marL="0" marR="0" algn="ctr">
                        <a:lnSpc>
                          <a:spcPct val="107000"/>
                        </a:lnSpc>
                        <a:spcBef>
                          <a:spcPts val="0"/>
                        </a:spcBef>
                        <a:spcAft>
                          <a:spcPts val="0"/>
                        </a:spcAft>
                      </a:pPr>
                      <a:r>
                        <a:rPr lang="es-US" sz="1400" dirty="0">
                          <a:effectLst/>
                        </a:rPr>
                        <a:t>Sistema</a:t>
                      </a:r>
                      <a:endParaRPr lang="es-US" sz="1100" dirty="0">
                        <a:effectLst/>
                      </a:endParaRPr>
                    </a:p>
                    <a:p>
                      <a:pPr marL="0" marR="0" algn="ctr">
                        <a:lnSpc>
                          <a:spcPct val="107000"/>
                        </a:lnSpc>
                        <a:spcBef>
                          <a:spcPts val="0"/>
                        </a:spcBef>
                        <a:spcAft>
                          <a:spcPts val="0"/>
                        </a:spcAft>
                      </a:pPr>
                      <a:r>
                        <a:rPr lang="es-US" sz="1400" dirty="0">
                          <a:effectLst/>
                        </a:rPr>
                        <a:t>Bancario</a:t>
                      </a:r>
                      <a:endParaRPr lang="es-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s-US" sz="1400" dirty="0">
                          <a:effectLst/>
                        </a:rPr>
                        <a:t>Reservaciones aéreas </a:t>
                      </a:r>
                      <a:endParaRPr lang="es-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s-US" sz="1400">
                          <a:effectLst/>
                        </a:rPr>
                        <a:t>Navegador Web</a:t>
                      </a:r>
                      <a:endParaRPr lang="es-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742352">
                <a:tc>
                  <a:txBody>
                    <a:bodyPr/>
                    <a:lstStyle/>
                    <a:p>
                      <a:pPr marL="0" marR="0" algn="ctr">
                        <a:lnSpc>
                          <a:spcPct val="107000"/>
                        </a:lnSpc>
                        <a:spcBef>
                          <a:spcPts val="0"/>
                        </a:spcBef>
                        <a:spcAft>
                          <a:spcPts val="0"/>
                        </a:spcAft>
                      </a:pPr>
                      <a:r>
                        <a:rPr lang="es-US" sz="1400">
                          <a:effectLst/>
                        </a:rPr>
                        <a:t>Compiladores</a:t>
                      </a:r>
                      <a:endParaRPr lang="es-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s-US" sz="1400">
                          <a:effectLst/>
                        </a:rPr>
                        <a:t>Editores </a:t>
                      </a:r>
                      <a:endParaRPr lang="es-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s-US" sz="1400">
                          <a:effectLst/>
                        </a:rPr>
                        <a:t>Intérprete de comandos</a:t>
                      </a:r>
                      <a:endParaRPr lang="es-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742352">
                <a:tc gridSpan="3">
                  <a:txBody>
                    <a:bodyPr/>
                    <a:lstStyle/>
                    <a:p>
                      <a:pPr marL="0" marR="0" algn="ctr">
                        <a:lnSpc>
                          <a:spcPct val="107000"/>
                        </a:lnSpc>
                        <a:spcBef>
                          <a:spcPts val="0"/>
                        </a:spcBef>
                        <a:spcAft>
                          <a:spcPts val="0"/>
                        </a:spcAft>
                      </a:pPr>
                      <a:r>
                        <a:rPr lang="es-US" sz="1400">
                          <a:effectLst/>
                        </a:rPr>
                        <a:t>Sistema operativo</a:t>
                      </a:r>
                      <a:endParaRPr lang="es-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s-US"/>
                    </a:p>
                  </a:txBody>
                  <a:tcPr/>
                </a:tc>
                <a:tc hMerge="1">
                  <a:txBody>
                    <a:bodyPr/>
                    <a:lstStyle/>
                    <a:p>
                      <a:endParaRPr lang="es-US"/>
                    </a:p>
                  </a:txBody>
                  <a:tcPr/>
                </a:tc>
                <a:extLst>
                  <a:ext uri="{0D108BD9-81ED-4DB2-BD59-A6C34878D82A}">
                    <a16:rowId xmlns:a16="http://schemas.microsoft.com/office/drawing/2014/main" val="10002"/>
                  </a:ext>
                </a:extLst>
              </a:tr>
              <a:tr h="742352">
                <a:tc gridSpan="3">
                  <a:txBody>
                    <a:bodyPr/>
                    <a:lstStyle/>
                    <a:p>
                      <a:pPr marL="0" marR="0" algn="ctr">
                        <a:lnSpc>
                          <a:spcPct val="107000"/>
                        </a:lnSpc>
                        <a:spcBef>
                          <a:spcPts val="0"/>
                        </a:spcBef>
                        <a:spcAft>
                          <a:spcPts val="0"/>
                        </a:spcAft>
                      </a:pPr>
                      <a:r>
                        <a:rPr lang="es-US" sz="1400">
                          <a:effectLst/>
                        </a:rPr>
                        <a:t>Lenguaje de máquina</a:t>
                      </a:r>
                      <a:endParaRPr lang="es-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s-US"/>
                    </a:p>
                  </a:txBody>
                  <a:tcPr/>
                </a:tc>
                <a:tc hMerge="1">
                  <a:txBody>
                    <a:bodyPr/>
                    <a:lstStyle/>
                    <a:p>
                      <a:endParaRPr lang="es-US"/>
                    </a:p>
                  </a:txBody>
                  <a:tcPr/>
                </a:tc>
                <a:extLst>
                  <a:ext uri="{0D108BD9-81ED-4DB2-BD59-A6C34878D82A}">
                    <a16:rowId xmlns:a16="http://schemas.microsoft.com/office/drawing/2014/main" val="10003"/>
                  </a:ext>
                </a:extLst>
              </a:tr>
              <a:tr h="742352">
                <a:tc gridSpan="3">
                  <a:txBody>
                    <a:bodyPr/>
                    <a:lstStyle/>
                    <a:p>
                      <a:pPr marL="0" marR="0" algn="ctr">
                        <a:lnSpc>
                          <a:spcPct val="107000"/>
                        </a:lnSpc>
                        <a:spcBef>
                          <a:spcPts val="0"/>
                        </a:spcBef>
                        <a:spcAft>
                          <a:spcPts val="0"/>
                        </a:spcAft>
                      </a:pPr>
                      <a:r>
                        <a:rPr lang="es-US" sz="1400">
                          <a:effectLst/>
                        </a:rPr>
                        <a:t>Microprogramación</a:t>
                      </a:r>
                      <a:endParaRPr lang="es-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s-US"/>
                    </a:p>
                  </a:txBody>
                  <a:tcPr/>
                </a:tc>
                <a:tc hMerge="1">
                  <a:txBody>
                    <a:bodyPr/>
                    <a:lstStyle/>
                    <a:p>
                      <a:endParaRPr lang="es-US"/>
                    </a:p>
                  </a:txBody>
                  <a:tcPr/>
                </a:tc>
                <a:extLst>
                  <a:ext uri="{0D108BD9-81ED-4DB2-BD59-A6C34878D82A}">
                    <a16:rowId xmlns:a16="http://schemas.microsoft.com/office/drawing/2014/main" val="10004"/>
                  </a:ext>
                </a:extLst>
              </a:tr>
              <a:tr h="742352">
                <a:tc gridSpan="3">
                  <a:txBody>
                    <a:bodyPr/>
                    <a:lstStyle/>
                    <a:p>
                      <a:pPr marL="0" marR="0" algn="ctr">
                        <a:lnSpc>
                          <a:spcPct val="107000"/>
                        </a:lnSpc>
                        <a:spcBef>
                          <a:spcPts val="0"/>
                        </a:spcBef>
                        <a:spcAft>
                          <a:spcPts val="0"/>
                        </a:spcAft>
                      </a:pPr>
                      <a:r>
                        <a:rPr lang="es-US" sz="1400" dirty="0">
                          <a:effectLst/>
                        </a:rPr>
                        <a:t>Dispositivos físicos</a:t>
                      </a:r>
                      <a:endParaRPr lang="es-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s-US"/>
                    </a:p>
                  </a:txBody>
                  <a:tcPr/>
                </a:tc>
                <a:tc hMerge="1">
                  <a:txBody>
                    <a:bodyPr/>
                    <a:lstStyle/>
                    <a:p>
                      <a:endParaRPr lang="es-US"/>
                    </a:p>
                  </a:txBody>
                  <a:tcPr/>
                </a:tc>
                <a:extLst>
                  <a:ext uri="{0D108BD9-81ED-4DB2-BD59-A6C34878D82A}">
                    <a16:rowId xmlns:a16="http://schemas.microsoft.com/office/drawing/2014/main" val="10005"/>
                  </a:ext>
                </a:extLst>
              </a:tr>
            </a:tbl>
          </a:graphicData>
        </a:graphic>
      </p:graphicFrame>
      <p:sp>
        <p:nvSpPr>
          <p:cNvPr id="4" name="Marcador de número de diapositiva 3"/>
          <p:cNvSpPr>
            <a:spLocks noGrp="1"/>
          </p:cNvSpPr>
          <p:nvPr>
            <p:ph type="sldNum" sz="quarter" idx="12"/>
          </p:nvPr>
        </p:nvSpPr>
        <p:spPr/>
        <p:txBody>
          <a:bodyPr/>
          <a:lstStyle/>
          <a:p>
            <a:fld id="{40292F9B-08DB-4982-BD6A-C3B16382487C}" type="slidenum">
              <a:rPr lang="es-US" smtClean="0"/>
              <a:t>5</a:t>
            </a:fld>
            <a:endParaRPr lang="es-US"/>
          </a:p>
        </p:txBody>
      </p:sp>
      <p:grpSp>
        <p:nvGrpSpPr>
          <p:cNvPr id="6" name="Grupo 5"/>
          <p:cNvGrpSpPr/>
          <p:nvPr/>
        </p:nvGrpSpPr>
        <p:grpSpPr>
          <a:xfrm>
            <a:off x="7415546" y="883793"/>
            <a:ext cx="2728311" cy="4414600"/>
            <a:chOff x="0" y="0"/>
            <a:chExt cx="1617254" cy="2926080"/>
          </a:xfrm>
        </p:grpSpPr>
        <p:sp>
          <p:nvSpPr>
            <p:cNvPr id="7" name="Cerrar llave 6"/>
            <p:cNvSpPr/>
            <p:nvPr/>
          </p:nvSpPr>
          <p:spPr>
            <a:xfrm>
              <a:off x="0" y="0"/>
              <a:ext cx="68943" cy="460829"/>
            </a:xfrm>
            <a:prstGeom prst="rightBrace">
              <a:avLst/>
            </a:prstGeom>
          </p:spPr>
          <p:style>
            <a:lnRef idx="3">
              <a:schemeClr val="dk1"/>
            </a:lnRef>
            <a:fillRef idx="0">
              <a:schemeClr val="dk1"/>
            </a:fillRef>
            <a:effectRef idx="2">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US"/>
            </a:p>
          </p:txBody>
        </p:sp>
        <p:sp>
          <p:nvSpPr>
            <p:cNvPr id="8" name="Cuadro de texto 2"/>
            <p:cNvSpPr txBox="1"/>
            <p:nvPr/>
          </p:nvSpPr>
          <p:spPr>
            <a:xfrm>
              <a:off x="129540" y="129540"/>
              <a:ext cx="1487714" cy="283029"/>
            </a:xfrm>
            <a:prstGeom prst="rect">
              <a:avLst/>
            </a:prstGeom>
            <a:solidFill>
              <a:schemeClr val="lt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s-US" sz="900">
                  <a:effectLst/>
                  <a:latin typeface="Arial" panose="020B0604020202020204" pitchFamily="34" charset="0"/>
                  <a:ea typeface="Calibri" panose="020F0502020204030204" pitchFamily="34" charset="0"/>
                  <a:cs typeface="Times New Roman" panose="02020603050405020304" pitchFamily="18" charset="0"/>
                </a:rPr>
                <a:t>Programas de Aplicación</a:t>
              </a:r>
              <a:endParaRPr lang="es-US" sz="1100">
                <a:effectLst/>
                <a:ea typeface="Calibri" panose="020F0502020204030204" pitchFamily="34" charset="0"/>
                <a:cs typeface="Times New Roman" panose="02020603050405020304" pitchFamily="18" charset="0"/>
              </a:endParaRPr>
            </a:p>
          </p:txBody>
        </p:sp>
        <p:sp>
          <p:nvSpPr>
            <p:cNvPr id="9" name="Cerrar llave 8"/>
            <p:cNvSpPr/>
            <p:nvPr/>
          </p:nvSpPr>
          <p:spPr>
            <a:xfrm>
              <a:off x="7620" y="487680"/>
              <a:ext cx="68580" cy="955964"/>
            </a:xfrm>
            <a:prstGeom prst="rightBrace">
              <a:avLst/>
            </a:prstGeom>
          </p:spPr>
          <p:style>
            <a:lnRef idx="3">
              <a:schemeClr val="dk1"/>
            </a:lnRef>
            <a:fillRef idx="0">
              <a:schemeClr val="dk1"/>
            </a:fillRef>
            <a:effectRef idx="2">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US"/>
            </a:p>
          </p:txBody>
        </p:sp>
        <p:sp>
          <p:nvSpPr>
            <p:cNvPr id="10" name="Cuadro de texto 4"/>
            <p:cNvSpPr txBox="1"/>
            <p:nvPr/>
          </p:nvSpPr>
          <p:spPr>
            <a:xfrm>
              <a:off x="167640" y="2080260"/>
              <a:ext cx="691515" cy="237779"/>
            </a:xfrm>
            <a:prstGeom prst="rect">
              <a:avLst/>
            </a:prstGeom>
            <a:solidFill>
              <a:schemeClr val="lt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s-US" sz="900">
                  <a:effectLst/>
                  <a:latin typeface="Arial" panose="020B0604020202020204" pitchFamily="34" charset="0"/>
                  <a:ea typeface="Calibri" panose="020F0502020204030204" pitchFamily="34" charset="0"/>
                  <a:cs typeface="Times New Roman" panose="02020603050405020304" pitchFamily="18" charset="0"/>
                </a:rPr>
                <a:t>Hardware</a:t>
              </a:r>
              <a:endParaRPr lang="es-US" sz="1100">
                <a:effectLst/>
                <a:ea typeface="Calibri" panose="020F0502020204030204" pitchFamily="34" charset="0"/>
                <a:cs typeface="Times New Roman" panose="02020603050405020304" pitchFamily="18" charset="0"/>
              </a:endParaRPr>
            </a:p>
          </p:txBody>
        </p:sp>
        <p:sp>
          <p:nvSpPr>
            <p:cNvPr id="11" name="Cerrar llave 10"/>
            <p:cNvSpPr/>
            <p:nvPr/>
          </p:nvSpPr>
          <p:spPr>
            <a:xfrm>
              <a:off x="15240" y="1463040"/>
              <a:ext cx="68580" cy="1463040"/>
            </a:xfrm>
            <a:prstGeom prst="rightBrace">
              <a:avLst/>
            </a:prstGeom>
          </p:spPr>
          <p:style>
            <a:lnRef idx="3">
              <a:schemeClr val="dk1"/>
            </a:lnRef>
            <a:fillRef idx="0">
              <a:schemeClr val="dk1"/>
            </a:fillRef>
            <a:effectRef idx="2">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US"/>
            </a:p>
          </p:txBody>
        </p:sp>
        <p:sp>
          <p:nvSpPr>
            <p:cNvPr id="12" name="Cuadro de texto 6"/>
            <p:cNvSpPr txBox="1"/>
            <p:nvPr/>
          </p:nvSpPr>
          <p:spPr>
            <a:xfrm>
              <a:off x="160020" y="845820"/>
              <a:ext cx="1369695" cy="237779"/>
            </a:xfrm>
            <a:prstGeom prst="rect">
              <a:avLst/>
            </a:prstGeom>
            <a:solidFill>
              <a:schemeClr val="lt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s-US" sz="900" dirty="0">
                  <a:effectLst/>
                  <a:latin typeface="Arial" panose="020B0604020202020204" pitchFamily="34" charset="0"/>
                  <a:ea typeface="Calibri" panose="020F0502020204030204" pitchFamily="34" charset="0"/>
                  <a:cs typeface="Times New Roman" panose="02020603050405020304" pitchFamily="18" charset="0"/>
                </a:rPr>
                <a:t>Programas de sistema</a:t>
              </a:r>
              <a:endParaRPr lang="es-US" sz="1100" dirty="0">
                <a:effectLst/>
                <a:ea typeface="Calibri" panose="020F0502020204030204" pitchFamily="34" charset="0"/>
                <a:cs typeface="Times New Roman" panose="02020603050405020304" pitchFamily="18" charset="0"/>
              </a:endParaRPr>
            </a:p>
          </p:txBody>
        </p:sp>
      </p:grpSp>
      <p:sp>
        <p:nvSpPr>
          <p:cNvPr id="3" name="CuadroTexto 2"/>
          <p:cNvSpPr txBox="1"/>
          <p:nvPr/>
        </p:nvSpPr>
        <p:spPr>
          <a:xfrm>
            <a:off x="1463040" y="514461"/>
            <a:ext cx="3343288" cy="369332"/>
          </a:xfrm>
          <a:prstGeom prst="rect">
            <a:avLst/>
          </a:prstGeom>
          <a:noFill/>
        </p:spPr>
        <p:txBody>
          <a:bodyPr wrap="none" rtlCol="0">
            <a:spAutoFit/>
          </a:bodyPr>
          <a:lstStyle/>
          <a:p>
            <a:r>
              <a:rPr lang="es-US" dirty="0"/>
              <a:t>Tabla 1: Esquema típico de un SO.</a:t>
            </a:r>
          </a:p>
        </p:txBody>
      </p:sp>
    </p:spTree>
    <p:extLst>
      <p:ext uri="{BB962C8B-B14F-4D97-AF65-F5344CB8AC3E}">
        <p14:creationId xmlns:p14="http://schemas.microsoft.com/office/powerpoint/2010/main" val="2728173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a:t>Características de un microprograma</a:t>
            </a:r>
          </a:p>
        </p:txBody>
      </p:sp>
      <p:sp>
        <p:nvSpPr>
          <p:cNvPr id="3" name="Marcador de contenido 2"/>
          <p:cNvSpPr>
            <a:spLocks noGrp="1"/>
          </p:cNvSpPr>
          <p:nvPr>
            <p:ph idx="1"/>
          </p:nvPr>
        </p:nvSpPr>
        <p:spPr/>
        <p:txBody>
          <a:bodyPr/>
          <a:lstStyle/>
          <a:p>
            <a:pPr lvl="0"/>
            <a:r>
              <a:rPr lang="es-US" sz="3200" dirty="0"/>
              <a:t>Está presente sólo en algunas máquinas.</a:t>
            </a:r>
          </a:p>
          <a:p>
            <a:pPr lvl="0"/>
            <a:r>
              <a:rPr lang="es-US" sz="3200" dirty="0"/>
              <a:t>Controla directamente los dispositivos físicos.</a:t>
            </a:r>
          </a:p>
          <a:p>
            <a:pPr lvl="0"/>
            <a:r>
              <a:rPr lang="es-US" sz="3200" dirty="0"/>
              <a:t>Ofrece una interfaz más aseada a la siguiente capa.</a:t>
            </a:r>
          </a:p>
          <a:p>
            <a:pPr lvl="0"/>
            <a:r>
              <a:rPr lang="es-US" sz="3200" dirty="0"/>
              <a:t>Suele estar almacenado en memoria de solo lectura.</a:t>
            </a:r>
          </a:p>
          <a:p>
            <a:endParaRPr lang="es-US" dirty="0"/>
          </a:p>
        </p:txBody>
      </p:sp>
      <p:sp>
        <p:nvSpPr>
          <p:cNvPr id="4" name="Marcador de número de diapositiva 3"/>
          <p:cNvSpPr>
            <a:spLocks noGrp="1"/>
          </p:cNvSpPr>
          <p:nvPr>
            <p:ph type="sldNum" sz="quarter" idx="12"/>
          </p:nvPr>
        </p:nvSpPr>
        <p:spPr/>
        <p:txBody>
          <a:bodyPr/>
          <a:lstStyle/>
          <a:p>
            <a:fld id="{40292F9B-08DB-4982-BD6A-C3B16382487C}" type="slidenum">
              <a:rPr lang="es-US" smtClean="0"/>
              <a:t>6</a:t>
            </a:fld>
            <a:endParaRPr lang="es-US"/>
          </a:p>
        </p:txBody>
      </p:sp>
    </p:spTree>
    <p:extLst>
      <p:ext uri="{BB962C8B-B14F-4D97-AF65-F5344CB8AC3E}">
        <p14:creationId xmlns:p14="http://schemas.microsoft.com/office/powerpoint/2010/main" val="4249321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dirty="0"/>
              <a:t>Lenguaje máquina</a:t>
            </a:r>
          </a:p>
        </p:txBody>
      </p:sp>
      <p:sp>
        <p:nvSpPr>
          <p:cNvPr id="3" name="Marcador de contenido 2"/>
          <p:cNvSpPr>
            <a:spLocks noGrp="1"/>
          </p:cNvSpPr>
          <p:nvPr>
            <p:ph idx="1"/>
          </p:nvPr>
        </p:nvSpPr>
        <p:spPr/>
        <p:txBody>
          <a:bodyPr/>
          <a:lstStyle/>
          <a:p>
            <a:pPr algn="just"/>
            <a:r>
              <a:rPr lang="es-US" sz="3200" dirty="0"/>
              <a:t>El conjunto de instrucciones que el microprograma interpreta, define el lenguaje de máquina, que no es realmente parte de la máquina física, aunque los  fabricantes de  computadoras siempre  lo describen en sus manuales como tal, de modo que muchas personas piensan en él como si fuera la “máquina” real.</a:t>
            </a:r>
          </a:p>
          <a:p>
            <a:endParaRPr lang="es-US" dirty="0"/>
          </a:p>
        </p:txBody>
      </p:sp>
      <p:sp>
        <p:nvSpPr>
          <p:cNvPr id="4" name="Marcador de número de diapositiva 3"/>
          <p:cNvSpPr>
            <a:spLocks noGrp="1"/>
          </p:cNvSpPr>
          <p:nvPr>
            <p:ph type="sldNum" sz="quarter" idx="12"/>
          </p:nvPr>
        </p:nvSpPr>
        <p:spPr/>
        <p:txBody>
          <a:bodyPr/>
          <a:lstStyle/>
          <a:p>
            <a:fld id="{40292F9B-08DB-4982-BD6A-C3B16382487C}" type="slidenum">
              <a:rPr lang="es-US" smtClean="0"/>
              <a:t>7</a:t>
            </a:fld>
            <a:endParaRPr lang="es-US"/>
          </a:p>
        </p:txBody>
      </p:sp>
    </p:spTree>
    <p:extLst>
      <p:ext uri="{BB962C8B-B14F-4D97-AF65-F5344CB8AC3E}">
        <p14:creationId xmlns:p14="http://schemas.microsoft.com/office/powerpoint/2010/main" val="4216708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2773164-4ADD-5E49-847E-37A30D71DDC4}"/>
              </a:ext>
            </a:extLst>
          </p:cNvPr>
          <p:cNvSpPr>
            <a:spLocks noGrp="1"/>
          </p:cNvSpPr>
          <p:nvPr>
            <p:ph idx="1"/>
          </p:nvPr>
        </p:nvSpPr>
        <p:spPr>
          <a:xfrm>
            <a:off x="404446" y="158262"/>
            <a:ext cx="10949354" cy="6699738"/>
          </a:xfrm>
        </p:spPr>
        <p:txBody>
          <a:bodyPr>
            <a:normAutofit fontScale="85000" lnSpcReduction="20000"/>
          </a:bodyPr>
          <a:lstStyle/>
          <a:p>
            <a:pPr marL="0" indent="0">
              <a:buNone/>
            </a:pPr>
            <a:r>
              <a:rPr lang="es-US" b="1" dirty="0"/>
              <a:t>Cuestionario:</a:t>
            </a:r>
          </a:p>
          <a:p>
            <a:r>
              <a:rPr lang="es-US" dirty="0"/>
              <a:t>-¿Qué es un sistema operativo?.</a:t>
            </a:r>
          </a:p>
          <a:p>
            <a:pPr marL="0" indent="0" algn="just">
              <a:lnSpc>
                <a:spcPct val="100000"/>
              </a:lnSpc>
              <a:spcBef>
                <a:spcPts val="0"/>
              </a:spcBef>
              <a:buNone/>
              <a:defRPr/>
            </a:pPr>
            <a:r>
              <a:rPr lang="es-US" dirty="0"/>
              <a:t>	Un </a:t>
            </a:r>
            <a:r>
              <a:rPr lang="es-US" i="1" dirty="0"/>
              <a:t>sistema operativo</a:t>
            </a:r>
            <a:r>
              <a:rPr lang="es-US" dirty="0"/>
              <a:t> es un programa que actúa como intermediario entre el usuario y el hardware de un computador, y su propósito es proporcionar un entorno en el cual el usuario pueda ejecutar programas de manera </a:t>
            </a:r>
            <a:r>
              <a:rPr lang="es-US" i="1" dirty="0"/>
              <a:t>cómoda</a:t>
            </a:r>
            <a:r>
              <a:rPr lang="es-US" dirty="0"/>
              <a:t> y </a:t>
            </a:r>
            <a:r>
              <a:rPr lang="es-US" i="1" dirty="0"/>
              <a:t>eficiente</a:t>
            </a:r>
            <a:r>
              <a:rPr lang="es-US" dirty="0"/>
              <a:t>.</a:t>
            </a:r>
          </a:p>
          <a:p>
            <a:pPr marL="0" indent="0" algn="just">
              <a:lnSpc>
                <a:spcPct val="100000"/>
              </a:lnSpc>
              <a:spcBef>
                <a:spcPts val="0"/>
              </a:spcBef>
              <a:buNone/>
              <a:defRPr/>
            </a:pPr>
            <a:endParaRPr lang="es-US" dirty="0"/>
          </a:p>
          <a:p>
            <a:pPr marL="0" indent="0">
              <a:buNone/>
            </a:pPr>
            <a:r>
              <a:rPr lang="es-US" dirty="0"/>
              <a:t>-Lista las funciones básicas de un SO.</a:t>
            </a:r>
          </a:p>
          <a:p>
            <a:pPr lvl="1"/>
            <a:r>
              <a:rPr lang="es-US" dirty="0"/>
              <a:t>	El suministro de interfaz al usuario</a:t>
            </a:r>
          </a:p>
          <a:p>
            <a:pPr lvl="1"/>
            <a:r>
              <a:rPr lang="es-US" dirty="0"/>
              <a:t>	La administración de recursos</a:t>
            </a:r>
          </a:p>
          <a:p>
            <a:pPr lvl="1"/>
            <a:r>
              <a:rPr lang="es-US" dirty="0"/>
              <a:t>	La administración de archivos</a:t>
            </a:r>
          </a:p>
          <a:p>
            <a:pPr lvl="1"/>
            <a:r>
              <a:rPr lang="es-US" dirty="0"/>
              <a:t>	La administración de tareas</a:t>
            </a:r>
          </a:p>
          <a:p>
            <a:pPr lvl="1"/>
            <a:r>
              <a:rPr lang="es-US" dirty="0"/>
              <a:t>	El servicio de soporte y utilidades.</a:t>
            </a:r>
          </a:p>
          <a:p>
            <a:pPr marL="0" indent="0">
              <a:buNone/>
            </a:pPr>
            <a:endParaRPr lang="es-US" dirty="0"/>
          </a:p>
          <a:p>
            <a:pPr marL="0" indent="0">
              <a:buNone/>
            </a:pPr>
            <a:r>
              <a:rPr lang="es-US" dirty="0"/>
              <a:t>-¿Cuáles son las características de un microprograma?.</a:t>
            </a:r>
          </a:p>
          <a:p>
            <a:pPr lvl="1"/>
            <a:r>
              <a:rPr lang="es-US" dirty="0"/>
              <a:t>	Está presente sólo en algunas máquinas.</a:t>
            </a:r>
          </a:p>
          <a:p>
            <a:pPr lvl="1"/>
            <a:r>
              <a:rPr lang="es-US" dirty="0"/>
              <a:t>	Controla directamente los dispositivos físicos.</a:t>
            </a:r>
          </a:p>
          <a:p>
            <a:pPr lvl="1"/>
            <a:r>
              <a:rPr lang="es-US" dirty="0"/>
              <a:t>	Ofrece una interfaz más aseada a la siguiente capa.</a:t>
            </a:r>
          </a:p>
          <a:p>
            <a:pPr lvl="1"/>
            <a:r>
              <a:rPr lang="es-US" dirty="0"/>
              <a:t>	Suele estar almacenado en memoria de solo lectura.</a:t>
            </a:r>
          </a:p>
          <a:p>
            <a:pPr marL="0" indent="0">
              <a:buNone/>
            </a:pPr>
            <a:endParaRPr lang="es-US" dirty="0"/>
          </a:p>
          <a:p>
            <a:r>
              <a:rPr lang="es-US" dirty="0"/>
              <a:t>-Define con tus palabras ‘Lenguaje Máquina’.</a:t>
            </a:r>
          </a:p>
          <a:p>
            <a:pPr marL="0" indent="0">
              <a:lnSpc>
                <a:spcPct val="100000"/>
              </a:lnSpc>
              <a:spcBef>
                <a:spcPts val="0"/>
              </a:spcBef>
              <a:buNone/>
              <a:defRPr/>
            </a:pPr>
            <a:r>
              <a:rPr lang="es-US" dirty="0"/>
              <a:t>	El conjunto de instrucciones que el microprograma interpreta.</a:t>
            </a:r>
          </a:p>
          <a:p>
            <a:pPr marL="0" indent="0">
              <a:buNone/>
            </a:pPr>
            <a:endParaRPr lang="es-MX" dirty="0"/>
          </a:p>
        </p:txBody>
      </p:sp>
      <p:sp>
        <p:nvSpPr>
          <p:cNvPr id="4" name="Marcador de número de diapositiva 3">
            <a:extLst>
              <a:ext uri="{FF2B5EF4-FFF2-40B4-BE49-F238E27FC236}">
                <a16:creationId xmlns:a16="http://schemas.microsoft.com/office/drawing/2014/main" id="{A9784383-8FAA-9044-8E01-F29E9673711A}"/>
              </a:ext>
            </a:extLst>
          </p:cNvPr>
          <p:cNvSpPr>
            <a:spLocks noGrp="1"/>
          </p:cNvSpPr>
          <p:nvPr>
            <p:ph type="sldNum" sz="quarter" idx="12"/>
          </p:nvPr>
        </p:nvSpPr>
        <p:spPr/>
        <p:txBody>
          <a:bodyPr/>
          <a:lstStyle/>
          <a:p>
            <a:fld id="{40292F9B-08DB-4982-BD6A-C3B16382487C}" type="slidenum">
              <a:rPr lang="es-US" smtClean="0"/>
              <a:t>8</a:t>
            </a:fld>
            <a:endParaRPr lang="es-US"/>
          </a:p>
        </p:txBody>
      </p:sp>
    </p:spTree>
    <p:extLst>
      <p:ext uri="{BB962C8B-B14F-4D97-AF65-F5344CB8AC3E}">
        <p14:creationId xmlns:p14="http://schemas.microsoft.com/office/powerpoint/2010/main" val="195800888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1124</TotalTime>
  <Words>744</Words>
  <Application>Microsoft Macintosh PowerPoint</Application>
  <PresentationFormat>Panorámica</PresentationFormat>
  <Paragraphs>96</Paragraphs>
  <Slides>8</Slides>
  <Notes>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Calibri</vt:lpstr>
      <vt:lpstr>Calibri Light</vt:lpstr>
      <vt:lpstr>Tema de Office</vt:lpstr>
      <vt:lpstr>Sistema Operativo</vt:lpstr>
      <vt:lpstr>DEFINICIÓN</vt:lpstr>
      <vt:lpstr>Presentación de PowerPoint</vt:lpstr>
      <vt:lpstr>FUNCIONES BÁSICAS</vt:lpstr>
      <vt:lpstr>Esquema típico de un sistema operativo</vt:lpstr>
      <vt:lpstr>Características de un microprograma</vt:lpstr>
      <vt:lpstr>Lenguaje máquina</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msi1</dc:creator>
  <cp:lastModifiedBy>RENE EDMUNDO CUEVAS VALENCIA</cp:lastModifiedBy>
  <cp:revision>20</cp:revision>
  <dcterms:created xsi:type="dcterms:W3CDTF">2017-09-01T06:23:54Z</dcterms:created>
  <dcterms:modified xsi:type="dcterms:W3CDTF">2021-02-23T06:39:54Z</dcterms:modified>
</cp:coreProperties>
</file>