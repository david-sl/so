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7" r:id="rId9"/>
    <p:sldId id="265" r:id="rId10"/>
    <p:sldId id="266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72676" autoAdjust="0"/>
  </p:normalViewPr>
  <p:slideViewPr>
    <p:cSldViewPr snapToGrid="0">
      <p:cViewPr varScale="1">
        <p:scale>
          <a:sx n="88" d="100"/>
          <a:sy n="88" d="100"/>
        </p:scale>
        <p:origin x="2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5772D-AD60-4393-993C-1581F31C1FA9}" type="datetimeFigureOut">
              <a:rPr lang="es-MX" smtClean="0"/>
              <a:t>24/02/21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BFBFE-0D0F-4D1F-A0F7-62C5A2341C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2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interfaz entre el sistema operativo y los programas de usuario está definida por el conjunto de “operaciones extendidas” que el sistema operativo ofrece.  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otras palabra:</a:t>
            </a:r>
            <a:endParaRPr lang="es-MX" dirty="0"/>
          </a:p>
          <a:p>
            <a:r>
              <a:rPr lang="es-MX" dirty="0"/>
              <a:t>Las </a:t>
            </a:r>
            <a:r>
              <a:rPr lang="es-MX" i="1" dirty="0"/>
              <a:t>llamadas</a:t>
            </a:r>
            <a:r>
              <a:rPr lang="es-MX" dirty="0"/>
              <a:t> al </a:t>
            </a:r>
            <a:r>
              <a:rPr lang="es-MX" i="1" dirty="0"/>
              <a:t>sistema</a:t>
            </a:r>
            <a:r>
              <a:rPr lang="es-MX" dirty="0"/>
              <a:t> son interfaces de programación que sirven para poder invocar los servicios que el </a:t>
            </a:r>
            <a:r>
              <a:rPr lang="es-MX" i="1" dirty="0"/>
              <a:t>sistema</a:t>
            </a:r>
            <a:r>
              <a:rPr lang="es-MX" dirty="0"/>
              <a:t> operativo nos ofrece.</a:t>
            </a:r>
          </a:p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Las llamadas al sistema de MINIX  (concepto utilizado al Clon del SO </a:t>
            </a:r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 distribuido junto con su código fuente y desarrollado por el profesor Andrew S. Tanenbaum en 1987</a:t>
            </a:r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pertenecen a dos categorías amplias: las que se ocupan de los procesos y las que se ocupan del sistema de archivos. </a:t>
            </a:r>
          </a:p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continuación las examinaremos por turno.</a:t>
            </a:r>
          </a:p>
          <a:p>
            <a:endParaRPr lang="es-MX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BFBFE-0D0F-4D1F-A0F7-62C5A2341C0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3179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Un proceso es básicamente un programa en ejecución.</a:t>
            </a:r>
          </a:p>
          <a:p>
            <a:r>
              <a:rPr lang="es-MX" dirty="0"/>
              <a:t>El espacio de direcciones contiene el programa ejecutable, los datos del programa y su pila.</a:t>
            </a:r>
          </a:p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cada proceso también se asocia un conjunto de registros, que incluyen el contador del programa, el apuntador de la pila y otros registros de hardware, así como toda la demás información necesaria para ejecutar el programa.</a:t>
            </a:r>
          </a:p>
          <a:p>
            <a:endParaRPr lang="es-MX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BFBFE-0D0F-4D1F-A0F7-62C5A2341C0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0623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Así, un proceso (suspendido) consiste en su espacio de direcciones, por lo regular llamado </a:t>
            </a:r>
            <a:r>
              <a:rPr lang="es-MX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imagen de núcleo </a:t>
            </a:r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(recordando las memorias de núcleos magnéticos que se usaban en el pasado), y su entrada en la tabla de procesos, que contiene sus registros, entre otras cosas.</a:t>
            </a:r>
          </a:p>
          <a:p>
            <a:endParaRPr lang="es-MX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Cuando un proceso se suspende temporalmente, es necesario guardar todos estos apuntadores para que una llamada READ ejecutada después de reiniciarse el proceso lea los datos Correctos.</a:t>
            </a:r>
          </a:p>
          <a:p>
            <a:endParaRPr lang="es-MX" dirty="0"/>
          </a:p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 proceso llamado </a:t>
            </a:r>
            <a:r>
              <a:rPr lang="es-MX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intérprete de comandos o Shell </a:t>
            </a:r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lee comandos de una terminal.</a:t>
            </a:r>
          </a:p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Shell debe crear ahora un proceso nuevo que ejecute el compilador.</a:t>
            </a:r>
          </a:p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Cuando ese proceso haya terminado la compilación, ejecutará una llamada al sistema para terminarse a sí mismo.</a:t>
            </a:r>
          </a:p>
          <a:p>
            <a:endParaRPr lang="es-MX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BFBFE-0D0F-4D1F-A0F7-62C5A2341C0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0043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proceso puede crear uno o más procesos distintos (denominados procesos hijos) y estos a su vez pueden crear procesos hijos, los procesos relacionados que están cooperando para realizar una tarea a menudo necesitan comunicarse entre sí y sincronizar sus actividades. Esta comunicación entre procesos.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BFBFE-0D0F-4D1F-A0F7-62C5A2341C0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542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fin de contar con un lugar para guardar los archivos, MINIX tiene el concepto de </a:t>
            </a:r>
            <a:r>
              <a:rPr lang="es-MX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directorio </a:t>
            </a:r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como mecanismo para agrupar los archivos.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BFBFE-0D0F-4D1F-A0F7-62C5A2341C00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0500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Cada archivo dentro de la jerarquía de directorios se puede especificar dando su </a:t>
            </a:r>
            <a:r>
              <a:rPr lang="es-MX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nombre de ruta </a:t>
            </a:r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partir del tope de la jerarquía de directorios, el </a:t>
            </a:r>
            <a:r>
              <a:rPr lang="es-MX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directorio raíz</a:t>
            </a:r>
            <a:r>
              <a:rPr lang="es-MX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Semejantes nombres de ruta absolutos consisten en la lista de directorios por los que se debe pasar partiendo del directorio raíz para llegar al archivo, separando los componentes con diagonales.</a:t>
            </a:r>
          </a:p>
          <a:p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todo momento, cada proceso tiene un directorio de trabajo actual, en el cual se buscan los archivos cuyos nombres de ruta no comienzan con una diagonal.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BFBFE-0D0F-4D1F-A0F7-62C5A2341C0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2673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Permiten a los programas comunicarse con el S. O. y solicitarle servicios. </a:t>
            </a:r>
            <a:endParaRPr lang="es-MX" sz="10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200" dirty="0">
                <a:effectLst/>
                <a:latin typeface="TimesNewRomanPSMT" panose="02020603050405020304" pitchFamily="18" charset="0"/>
              </a:rPr>
              <a:t>A cada llamada le corresponde un procedimiento: </a:t>
            </a:r>
            <a:endParaRPr lang="es-MX" sz="1000" dirty="0">
              <a:effectLst/>
              <a:latin typeface="SymbolMT"/>
            </a:endParaRPr>
          </a:p>
          <a:p>
            <a:pPr lvl="1"/>
            <a:r>
              <a:rPr lang="es-MX" sz="1000" dirty="0">
                <a:effectLst/>
                <a:latin typeface="CourierNewPSMT" panose="02070309020205020404" pitchFamily="49" charset="0"/>
              </a:rPr>
              <a:t>o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Pone los parámetros de la llamada en un lugar específico para luego ejecutar una instrucción tipo “trap” de llamada a procedimiento protegido para iniciar el S. O. </a:t>
            </a:r>
            <a:endParaRPr lang="es-MX" dirty="0"/>
          </a:p>
          <a:p>
            <a:pPr lvl="1"/>
            <a:r>
              <a:rPr lang="es-MX" sz="1000" dirty="0">
                <a:effectLst/>
                <a:latin typeface="CourierNewPSMT" panose="02070309020205020404" pitchFamily="49" charset="0"/>
              </a:rPr>
              <a:t>o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Luego de “trap” el S. O. recupera el control , examina los parámetros y si son válidos ejecuta el trabajo solicitado. </a:t>
            </a:r>
            <a:endParaRPr lang="es-MX" dirty="0"/>
          </a:p>
          <a:p>
            <a:pPr lvl="1"/>
            <a:r>
              <a:rPr lang="es-MX" sz="1000" dirty="0">
                <a:effectLst/>
                <a:latin typeface="CourierNewPSMT" panose="02070309020205020404" pitchFamily="49" charset="0"/>
              </a:rPr>
              <a:t>o </a:t>
            </a:r>
            <a:r>
              <a:rPr lang="es-MX" sz="1200" dirty="0">
                <a:effectLst/>
                <a:latin typeface="TimesNewRomanPSMT" panose="02020603050405020304" pitchFamily="18" charset="0"/>
              </a:rPr>
              <a:t>Luego de terminar, el S. O. coloca un código de estado en un registro indicando si tuvo éxito o fracaso y ejecuta una instrucción del tipo “return from trap” para regresar el control al procedimiento.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El procedimiento regresa al programa llamador con un código de estado como un valor de función; dentro de los parámetros pueden regresar valores adicionales. </a:t>
            </a:r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BFBFE-0D0F-4D1F-A0F7-62C5A2341C0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3499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F6CF0FD-E771-40D8-9431-8FF818910139}" type="datetime1">
              <a:rPr lang="es-MX" smtClean="0"/>
              <a:t>24/02/21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8210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6A9E-2B7F-46E0-ADB2-C76C94688D09}" type="datetime1">
              <a:rPr lang="es-MX" smtClean="0"/>
              <a:t>24/02/21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750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362-7320-42A3-8FF0-B66E2528F58A}" type="datetime1">
              <a:rPr lang="es-MX" smtClean="0"/>
              <a:t>24/02/21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166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15C79-D318-4191-9696-65A70426A325}" type="datetime1">
              <a:rPr lang="es-MX" smtClean="0"/>
              <a:t>24/02/21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225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F772-1A13-4059-89F0-AA7D97F571BA}" type="datetime1">
              <a:rPr lang="es-MX" smtClean="0"/>
              <a:t>24/02/21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50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C402B-998F-445F-A1A2-BC77CAE54598}" type="datetime1">
              <a:rPr lang="es-MX" smtClean="0"/>
              <a:t>24/02/21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3314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AB55B-29AF-4451-954D-9626D99AD89F}" type="datetime1">
              <a:rPr lang="es-MX" smtClean="0"/>
              <a:t>24/02/21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83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811A1-0A9F-4453-899B-4E39CFF57659}" type="datetime1">
              <a:rPr lang="es-MX" smtClean="0"/>
              <a:t>24/02/21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129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29336-15D8-4438-8DC0-A777AC31B16C}" type="datetime1">
              <a:rPr lang="es-MX" smtClean="0"/>
              <a:t>24/02/21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40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11CD-7B21-4E0E-AA17-01980438F2D4}" type="datetime1">
              <a:rPr lang="es-MX" smtClean="0"/>
              <a:t>24/02/21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32419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11CD-7B21-4E0E-AA17-01980438F2D4}" type="datetime1">
              <a:rPr lang="es-MX" smtClean="0"/>
              <a:t>24/02/21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61516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11CD-7B21-4E0E-AA17-01980438F2D4}" type="datetime1">
              <a:rPr lang="es-MX" smtClean="0"/>
              <a:t>24/02/21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415623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11CD-7B21-4E0E-AA17-01980438F2D4}" type="datetime1">
              <a:rPr lang="es-MX" smtClean="0"/>
              <a:t>24/02/21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19901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11CD-7B21-4E0E-AA17-01980438F2D4}" type="datetime1">
              <a:rPr lang="es-MX" smtClean="0"/>
              <a:t>24/02/21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922111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811CD-7B21-4E0E-AA17-01980438F2D4}" type="datetime1">
              <a:rPr lang="es-MX" smtClean="0"/>
              <a:t>24/02/21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831030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7A8F51F-4A40-4F0E-92E6-00DA45A4D257}" type="datetime1">
              <a:rPr lang="es-MX" smtClean="0"/>
              <a:t>24/02/21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6955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FC6CDC6-FE84-4E5D-91D8-609B39F670CE}" type="datetime1">
              <a:rPr lang="es-MX" smtClean="0"/>
              <a:t>24/02/21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980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4D811CD-7B21-4E0E-AA17-01980438F2D4}" type="datetime1">
              <a:rPr lang="es-MX" smtClean="0"/>
              <a:t>24/02/21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MX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71F9B6B-C228-4E89-ABC5-C8F7577E58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13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CONCEPTOS BÁSICOS DE UN SISTEMA OPERATIVO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278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CONCEPTOS BÁSICOS DE UN SISTEMA OPERATIVO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endParaRPr lang="es-MX" dirty="0"/>
          </a:p>
          <a:p>
            <a:pPr marL="0" indent="0" algn="just">
              <a:buNone/>
            </a:pPr>
            <a:r>
              <a:rPr lang="es-MX" dirty="0"/>
              <a:t>	Las </a:t>
            </a:r>
            <a:r>
              <a:rPr lang="es-MX" i="1" dirty="0"/>
              <a:t>llamadas</a:t>
            </a:r>
            <a:r>
              <a:rPr lang="es-MX" dirty="0"/>
              <a:t> al </a:t>
            </a:r>
            <a:r>
              <a:rPr lang="es-MX" i="1" dirty="0"/>
              <a:t>sistema</a:t>
            </a:r>
            <a:r>
              <a:rPr lang="es-MX" dirty="0"/>
              <a:t> son interfaces de programación que sirven para 	poder invocar los servicios que el </a:t>
            </a:r>
            <a:r>
              <a:rPr lang="es-MX" i="1" dirty="0"/>
              <a:t>sistema</a:t>
            </a:r>
            <a:r>
              <a:rPr lang="es-MX" dirty="0"/>
              <a:t> operativo nos ofrece.</a:t>
            </a:r>
          </a:p>
          <a:p>
            <a:pPr marL="457200" lvl="1" indent="0" algn="just">
              <a:buNone/>
            </a:pPr>
            <a:r>
              <a:rPr lang="es-MX" sz="1800" dirty="0"/>
              <a:t>Las llamadas al sistema de MINIX pertenecen a dos categorías amplias: </a:t>
            </a:r>
          </a:p>
          <a:p>
            <a:pPr lvl="1" algn="just"/>
            <a:r>
              <a:rPr lang="es-MX" sz="1800" dirty="0"/>
              <a:t>Procesos.</a:t>
            </a:r>
          </a:p>
          <a:p>
            <a:pPr lvl="1" algn="just"/>
            <a:endParaRPr lang="es-MX" sz="1800" dirty="0"/>
          </a:p>
          <a:p>
            <a:pPr lvl="1" algn="just"/>
            <a:r>
              <a:rPr lang="es-MX" sz="1800" dirty="0"/>
              <a:t>Sistema de archivos.</a:t>
            </a:r>
          </a:p>
          <a:p>
            <a:pPr marL="457200" lvl="1" indent="0" algn="just">
              <a:buNone/>
            </a:pPr>
            <a:endParaRPr lang="es-MX" sz="1800" dirty="0"/>
          </a:p>
          <a:p>
            <a:pPr lvl="1" algn="just"/>
            <a:r>
              <a:rPr lang="es-MX" sz="1800" dirty="0"/>
              <a:t>Llamadas al Sistema.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3443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CONCEPTOS BÁSICOS DE UN SISTEMA OPERATIVO ( PROCESOS 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MX" dirty="0"/>
          </a:p>
          <a:p>
            <a:pPr algn="just"/>
            <a:r>
              <a:rPr lang="es-MX" dirty="0"/>
              <a:t>Cada proceso tiene asociado un espacio de direcciones que el proceso puede leer y escribir. El espacio de direcciones contiene el programa ejecutable, los datos del programa y su pila.</a:t>
            </a:r>
          </a:p>
          <a:p>
            <a:pPr marL="0" indent="0" algn="just">
              <a:buNone/>
            </a:pPr>
            <a:endParaRPr lang="es-MX" dirty="0"/>
          </a:p>
          <a:p>
            <a:pPr algn="just"/>
            <a:r>
              <a:rPr lang="es-MX" dirty="0"/>
              <a:t>Conjunto de registros: </a:t>
            </a:r>
          </a:p>
          <a:p>
            <a:pPr lvl="1" algn="just"/>
            <a:r>
              <a:rPr lang="es-MX" dirty="0"/>
              <a:t>Contador del programa.</a:t>
            </a:r>
          </a:p>
          <a:p>
            <a:pPr lvl="1" algn="just"/>
            <a:r>
              <a:rPr lang="es-MX" dirty="0"/>
              <a:t>Apuntador de la pila.</a:t>
            </a:r>
          </a:p>
          <a:p>
            <a:pPr lvl="1" algn="just"/>
            <a:r>
              <a:rPr lang="es-MX" dirty="0"/>
              <a:t>Registros de hardware.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084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CONCEPTOS BÁSICOS DE UN SISTEMA OPERATIVO ( PROCESOS 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dirty="0"/>
              <a:t>Un </a:t>
            </a:r>
            <a:r>
              <a:rPr lang="es-MX" b="1" dirty="0"/>
              <a:t>proceso suspendido </a:t>
            </a:r>
            <a:r>
              <a:rPr lang="es-MX" dirty="0">
                <a:solidFill>
                  <a:schemeClr val="tx1"/>
                </a:solidFill>
              </a:rPr>
              <a:t>consiste en un espacio de direcciones, por lo regular llamado </a:t>
            </a:r>
            <a:r>
              <a:rPr lang="es-MX" b="1" dirty="0">
                <a:solidFill>
                  <a:schemeClr val="tx1"/>
                </a:solidFill>
              </a:rPr>
              <a:t>imagen de núcleo </a:t>
            </a:r>
            <a:r>
              <a:rPr lang="es-MX" dirty="0">
                <a:solidFill>
                  <a:schemeClr val="tx1"/>
                </a:solidFill>
              </a:rPr>
              <a:t>y su entrada en la tabla de procesos, que contiene sus registros, entre otras cosas.</a:t>
            </a:r>
            <a:r>
              <a:rPr lang="es-MX" dirty="0"/>
              <a:t> </a:t>
            </a:r>
          </a:p>
          <a:p>
            <a:pPr algn="just"/>
            <a:r>
              <a:rPr lang="es-MX" dirty="0"/>
              <a:t>Cuando un proceso se suspende temporalmente de esta manera, debe reiniciarse después en el mismo estado exactamente en que estaba en el momento en que se le detuvo.</a:t>
            </a:r>
          </a:p>
          <a:p>
            <a:pPr algn="just"/>
            <a:r>
              <a:rPr lang="es-MX" dirty="0"/>
              <a:t>En muchos sistemas operativos, toda la información acerca de cada proceso, aparte del contenido de su propio espacio de direcciones, se almacena en una tabla del sistema operativo llamada </a:t>
            </a:r>
            <a:r>
              <a:rPr lang="es-MX" b="1" dirty="0"/>
              <a:t>tabla de procesos.</a:t>
            </a:r>
            <a:endParaRPr lang="es-MX" dirty="0"/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4875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CONCEPTOS BÁSICOS DE UN SISTEMA OPERATIVO ( PROCESOS )</a:t>
            </a:r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707" y="2925569"/>
            <a:ext cx="3038899" cy="2772162"/>
          </a:xfr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5</a:t>
            </a:fld>
            <a:endParaRPr lang="es-MX"/>
          </a:p>
        </p:txBody>
      </p:sp>
      <p:sp>
        <p:nvSpPr>
          <p:cNvPr id="8" name="CuadroTexto 7"/>
          <p:cNvSpPr txBox="1"/>
          <p:nvPr/>
        </p:nvSpPr>
        <p:spPr>
          <a:xfrm>
            <a:off x="815340" y="2402349"/>
            <a:ext cx="10774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Proceso padres e hijos.</a:t>
            </a:r>
          </a:p>
        </p:txBody>
      </p:sp>
    </p:spTree>
    <p:extLst>
      <p:ext uri="{BB962C8B-B14F-4D97-AF65-F5344CB8AC3E}">
        <p14:creationId xmlns:p14="http://schemas.microsoft.com/office/powerpoint/2010/main" val="384317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CONCEPTOS BÁSICOS DE UN SISTEMA OPERATIVO ( SISTEMAS DE ARCHIVOS 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4954" y="2603500"/>
            <a:ext cx="9559938" cy="3416300"/>
          </a:xfrm>
        </p:spPr>
        <p:txBody>
          <a:bodyPr>
            <a:normAutofit lnSpcReduction="10000"/>
          </a:bodyPr>
          <a:lstStyle/>
          <a:p>
            <a:pPr algn="just"/>
            <a:r>
              <a:rPr lang="es-MX" dirty="0">
                <a:solidFill>
                  <a:schemeClr val="tx1"/>
                </a:solidFill>
              </a:rPr>
              <a:t>Sistema de archivos: Es una función importante del sistema operativo es ocultar las peculiaridades de los discos y otros dispositivos de E/S y presentar al programador un modelo abstracto, aseado y bonito, de archivos independientes del dispositivo.</a:t>
            </a:r>
            <a:endParaRPr lang="es-MX" dirty="0"/>
          </a:p>
          <a:p>
            <a:r>
              <a:rPr lang="es-MX" dirty="0">
                <a:solidFill>
                  <a:schemeClr val="tx1"/>
                </a:solidFill>
              </a:rPr>
              <a:t>Procesos de archivos.</a:t>
            </a:r>
          </a:p>
          <a:p>
            <a:pPr lvl="1"/>
            <a:r>
              <a:rPr lang="es-MX" sz="1800" dirty="0">
                <a:solidFill>
                  <a:schemeClr val="tx1"/>
                </a:solidFill>
              </a:rPr>
              <a:t>Crear</a:t>
            </a:r>
          </a:p>
          <a:p>
            <a:pPr lvl="1"/>
            <a:r>
              <a:rPr lang="es-MX" sz="1800" dirty="0">
                <a:solidFill>
                  <a:schemeClr val="tx1"/>
                </a:solidFill>
              </a:rPr>
              <a:t>Eliminar</a:t>
            </a:r>
          </a:p>
          <a:p>
            <a:pPr lvl="1"/>
            <a:r>
              <a:rPr lang="es-MX" sz="1800" dirty="0">
                <a:solidFill>
                  <a:schemeClr val="tx1"/>
                </a:solidFill>
              </a:rPr>
              <a:t>Leer</a:t>
            </a:r>
          </a:p>
          <a:p>
            <a:pPr lvl="1"/>
            <a:r>
              <a:rPr lang="es-MX" sz="1800" dirty="0">
                <a:solidFill>
                  <a:schemeClr val="tx1"/>
                </a:solidFill>
              </a:rPr>
              <a:t>Escribir archivos</a:t>
            </a:r>
          </a:p>
          <a:p>
            <a:pPr lvl="1"/>
            <a:r>
              <a:rPr lang="es-MX" sz="1800" dirty="0">
                <a:solidFill>
                  <a:schemeClr val="tx1"/>
                </a:solidFill>
              </a:rPr>
              <a:t>Poner un archivo en un directorio.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267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CONCEPTOS BÁSICOS DE UN SISTEMA OPERATIVO ( SISTEMAS DE ARCHIVOS )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73318" y="2672080"/>
            <a:ext cx="5361676" cy="341630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7</a:t>
            </a:fld>
            <a:endParaRPr lang="es-MX"/>
          </a:p>
        </p:txBody>
      </p:sp>
      <p:sp>
        <p:nvSpPr>
          <p:cNvPr id="6" name="CuadroTexto 5"/>
          <p:cNvSpPr txBox="1"/>
          <p:nvPr/>
        </p:nvSpPr>
        <p:spPr>
          <a:xfrm>
            <a:off x="1524000" y="3013179"/>
            <a:ext cx="34888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Nombre de Ruta.</a:t>
            </a:r>
          </a:p>
          <a:p>
            <a:endParaRPr lang="es-MX" dirty="0"/>
          </a:p>
          <a:p>
            <a:r>
              <a:rPr lang="es-MX" dirty="0"/>
              <a:t>Directorio Raíz.</a:t>
            </a:r>
          </a:p>
          <a:p>
            <a:endParaRPr lang="es-MX" dirty="0"/>
          </a:p>
          <a:p>
            <a:r>
              <a:rPr lang="es-MX" dirty="0"/>
              <a:t>Directorio de Trabajo.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16030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CONCEPTOS BÁSICOS DE UN SISTEMA OPERATIVO ( LLAMADAS AL SISTEMA 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8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349DF5A-49A6-8740-9F2A-317CB9EDE40C}"/>
              </a:ext>
            </a:extLst>
          </p:cNvPr>
          <p:cNvSpPr/>
          <p:nvPr/>
        </p:nvSpPr>
        <p:spPr>
          <a:xfrm>
            <a:off x="6554117" y="6298819"/>
            <a:ext cx="53094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/>
              <a:t>https://images.app.goo.gl/airg1CbyTJPLXZ4s7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AE4CCF8-1D22-A046-8E2D-6F7A34402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872" y="2412459"/>
            <a:ext cx="4147752" cy="402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88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25AD6-B96F-B847-A973-6C11666C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Preguntas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F9AC65-5D67-C24F-AF91-924842F7F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67" y="2159540"/>
            <a:ext cx="11213790" cy="4698460"/>
          </a:xfrm>
        </p:spPr>
        <p:txBody>
          <a:bodyPr>
            <a:normAutofit fontScale="92500" lnSpcReduction="10000"/>
          </a:bodyPr>
          <a:lstStyle/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¿Qué es una llamada de sistema?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  <a:defRPr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R.-Las </a:t>
            </a:r>
            <a:r>
              <a:rPr lang="es-MX" sz="2400" i="1" dirty="0">
                <a:solidFill>
                  <a:prstClr val="black"/>
                </a:solidFill>
                <a:latin typeface="Calibri" panose="020F0502020204030204"/>
              </a:rPr>
              <a:t>llamadas</a:t>
            </a: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 al </a:t>
            </a:r>
            <a:r>
              <a:rPr lang="es-MX" sz="2400" i="1" dirty="0">
                <a:solidFill>
                  <a:prstClr val="black"/>
                </a:solidFill>
                <a:latin typeface="Calibri" panose="020F0502020204030204"/>
              </a:rPr>
              <a:t>sistema</a:t>
            </a: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 son interfaces de programación que sirven para poder invocar los servicios que el </a:t>
            </a:r>
            <a:r>
              <a:rPr lang="es-MX" sz="2400" i="1" dirty="0">
                <a:solidFill>
                  <a:prstClr val="black"/>
                </a:solidFill>
                <a:latin typeface="Calibri" panose="020F0502020204030204"/>
              </a:rPr>
              <a:t>sistema</a:t>
            </a: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 operativo nos ofrece.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¿Cómo se clasifican las llamadas de sistema en un sistema operativo MINIX?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R.- Procesos y sistemas de archivos.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endParaRPr lang="es-MX" sz="2400" dirty="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¿Qué contiene el espacio de direcciones de un proceso?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-Programa ejecutable.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-Los datos del programa.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-Registros de hardware.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¿De que esta conformado el conjunto de registros?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-Contador del programa.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-Apuntador de la pila.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Registros de hadware.</a:t>
            </a:r>
          </a:p>
          <a:p>
            <a:pPr marL="0" indent="0">
              <a:buNone/>
            </a:pPr>
            <a:endParaRPr lang="es-MX" sz="2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5B64A7-98B2-4D4D-B70B-E65D330D2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235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5A24F2-DCF1-344C-AF0A-1511DD61E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603837" cy="3933487"/>
          </a:xfrm>
        </p:spPr>
        <p:txBody>
          <a:bodyPr>
            <a:normAutofit/>
          </a:bodyPr>
          <a:lstStyle/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¿ Donde se almacena toda la información acerca de cada proceso?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R.- Tabla de procesos.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¿De que se encarga el proceso Shell?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R.- lee comandos de una terminal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endParaRPr lang="es-MX" sz="1600" dirty="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¿Qué es un sistema de archivos? </a:t>
            </a:r>
          </a:p>
          <a:p>
            <a:pPr marL="0" lvl="0" indent="0" algn="just" defTabSz="914400">
              <a:spcBef>
                <a:spcPts val="0"/>
              </a:spcBef>
              <a:buClrTx/>
              <a:buSzTx/>
              <a:buNone/>
            </a:pPr>
            <a:r>
              <a:rPr lang="es-MX" sz="2400" dirty="0">
                <a:solidFill>
                  <a:prstClr val="black"/>
                </a:solidFill>
                <a:latin typeface="Calibri" panose="020F0502020204030204"/>
              </a:rPr>
              <a:t>R: Sistema de archivos: Una función importante del sistema operativo es ocultar las peculiaridades de los discos y otros dispositivos de E/S y presentar al programador un modelo abstracto, aseado y bonito, de archivos independientes del dispositivo.</a:t>
            </a:r>
          </a:p>
          <a:p>
            <a:pPr marL="0" lvl="0" indent="0" defTabSz="914400">
              <a:spcBef>
                <a:spcPts val="0"/>
              </a:spcBef>
              <a:buClrTx/>
              <a:buSzTx/>
              <a:buNone/>
            </a:pPr>
            <a:endParaRPr lang="es-MX" sz="24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>
              <a:buNone/>
            </a:pPr>
            <a:endParaRPr lang="es-MX" sz="2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C8498E-D5E2-C944-B44E-F46DFDBF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F9B6B-C228-4E89-ABC5-C8F7577E5893}" type="slidenum">
              <a:rPr lang="es-MX" smtClean="0"/>
              <a:t>10</a:t>
            </a:fld>
            <a:endParaRPr lang="es-MX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C07541D-968B-B34C-BAC5-B08EA7DB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pPr algn="ctr"/>
            <a:r>
              <a:rPr lang="es-MX" dirty="0"/>
              <a:t>Preguntas </a:t>
            </a:r>
          </a:p>
        </p:txBody>
      </p:sp>
    </p:spTree>
    <p:extLst>
      <p:ext uri="{BB962C8B-B14F-4D97-AF65-F5344CB8AC3E}">
        <p14:creationId xmlns:p14="http://schemas.microsoft.com/office/powerpoint/2010/main" val="10461877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Sala de reuniones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644</TotalTime>
  <Words>1193</Words>
  <Application>Microsoft Macintosh PowerPoint</Application>
  <PresentationFormat>Panorámica</PresentationFormat>
  <Paragraphs>105</Paragraphs>
  <Slides>10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Calibri</vt:lpstr>
      <vt:lpstr>Century Gothic</vt:lpstr>
      <vt:lpstr>CourierNewPSMT</vt:lpstr>
      <vt:lpstr>SymbolMT</vt:lpstr>
      <vt:lpstr>TimesNewRomanPSMT</vt:lpstr>
      <vt:lpstr>Wingdings 3</vt:lpstr>
      <vt:lpstr>Sala de reuniones Ion</vt:lpstr>
      <vt:lpstr>CONCEPTOS BÁSICOS DE UN SISTEMA OPERATIVO</vt:lpstr>
      <vt:lpstr>CONCEPTOS BÁSICOS DE UN SISTEMA OPERATIVO</vt:lpstr>
      <vt:lpstr>CONCEPTOS BÁSICOS DE UN SISTEMA OPERATIVO ( PROCESOS )</vt:lpstr>
      <vt:lpstr>CONCEPTOS BÁSICOS DE UN SISTEMA OPERATIVO ( PROCESOS )</vt:lpstr>
      <vt:lpstr>CONCEPTOS BÁSICOS DE UN SISTEMA OPERATIVO ( PROCESOS )</vt:lpstr>
      <vt:lpstr>CONCEPTOS BÁSICOS DE UN SISTEMA OPERATIVO ( SISTEMAS DE ARCHIVOS )</vt:lpstr>
      <vt:lpstr>CONCEPTOS BÁSICOS DE UN SISTEMA OPERATIVO ( SISTEMAS DE ARCHIVOS )</vt:lpstr>
      <vt:lpstr>CONCEPTOS BÁSICOS DE UN SISTEMA OPERATIVO ( LLAMADAS AL SISTEMA )</vt:lpstr>
      <vt:lpstr>Preguntas </vt:lpstr>
      <vt:lpstr>Preguntas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CONCEPTOS BÁSICOS DE UN SISTEMA OPERATIVO</dc:title>
  <dc:creator>BSUser</dc:creator>
  <cp:lastModifiedBy>RENE EDMUNDO CUEVAS VALENCIA</cp:lastModifiedBy>
  <cp:revision>27</cp:revision>
  <dcterms:created xsi:type="dcterms:W3CDTF">2017-09-01T15:23:59Z</dcterms:created>
  <dcterms:modified xsi:type="dcterms:W3CDTF">2021-02-25T05:27:48Z</dcterms:modified>
</cp:coreProperties>
</file>