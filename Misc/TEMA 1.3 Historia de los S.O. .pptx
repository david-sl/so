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
  </p:notesMasterIdLst>
  <p:sldIdLst>
    <p:sldId id="257" r:id="rId2"/>
    <p:sldId id="258" r:id="rId3"/>
    <p:sldId id="260" r:id="rId4"/>
    <p:sldId id="261" r:id="rId5"/>
    <p:sldId id="262" r:id="rId6"/>
    <p:sldId id="263" r:id="rId7"/>
    <p:sldId id="264" r:id="rId8"/>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an gonsalez mendosa" initials="jgm" lastIdx="1" clrIdx="0"/>
  <p:cmAuthor id="2" name="juan gonsalez mendosa" initials="jgm [2]" lastIdx="1" clrIdx="1"/>
  <p:cmAuthor id="3" name="juan gonsalez mendosa" initials="jgm [3]" lastIdx="1" clrIdx="2"/>
  <p:cmAuthor id="4" name="juan gonsalez mendosa" initials="jgm [4]" lastIdx="1" clrIdx="3"/>
  <p:cmAuthor id="5" name="juan gonsalez mendosa" initials="jgm [5]" lastIdx="1" clrIdx="4"/>
  <p:cmAuthor id="6" name="juan gonsalez mendosa" initials="jgm [6]" lastIdx="1" clrIdx="5"/>
  <p:cmAuthor id="7" name="juan gonsalez mendosa" initials="jgm [7]" lastIdx="1" clrIdx="6"/>
  <p:cmAuthor id="8" name="juan gonsalez mendosa" initials="jgm [8]" lastIdx="1" clrIdx="7"/>
  <p:cmAuthor id="9" name="juan gonsalez mendosa" initials="jgm [9]" lastIdx="1" clrIdx="8"/>
  <p:cmAuthor id="10" name="juan gonsalez mendosa" initials="jgm [10]" lastIdx="1" clrIdx="9"/>
  <p:cmAuthor id="11" name="juan gonsalez mendosa" initials="jgm [11]" lastIdx="1" clrIdx="10"/>
  <p:cmAuthor id="12" name="juan gonsalez mendosa" initials="jgm [12]" lastIdx="1" clrIdx="11"/>
  <p:cmAuthor id="13" name="juan gonsalez mendosa" initials="jgm [13]" lastIdx="1" clrIdx="12"/>
  <p:cmAuthor id="14" name="juan gonsalez mendosa" initials="jgm [14]" lastIdx="1" clrIdx="13"/>
  <p:cmAuthor id="15" name="juan gonsalez mendosa" initials="jgm [15]" lastIdx="1" clrIdx="14"/>
  <p:cmAuthor id="16" name="juan gonsalez mendosa" initials="jgm [16]" lastIdx="1" clrIdx="15"/>
  <p:cmAuthor id="17" name="juan gonsalez mendosa" initials="jgm [17]" lastIdx="1" clrIdx="16"/>
  <p:cmAuthor id="18" name="juan gonsalez mendosa" initials="jgm [18]" lastIdx="1" clrIdx="17"/>
  <p:cmAuthor id="19" name="juan gonsalez mendosa" initials="jgm [19]" lastIdx="1" clrIdx="18"/>
  <p:cmAuthor id="20" name="juan gonsalez mendosa" initials="jgm [20]" lastIdx="1" clrIdx="19"/>
  <p:cmAuthor id="21" name="juan gonsalez mendosa" initials="jgm [21]" lastIdx="1" clrIdx="20"/>
  <p:cmAuthor id="22" name="juan gonsalez mendosa" initials="jgm [22]" lastIdx="1" clrIdx="21"/>
  <p:cmAuthor id="23" name="juan gonsalez mendosa" initials="jgm [23]" lastIdx="1" clrIdx="22"/>
  <p:cmAuthor id="24" name="juan gonsalez mendosa" initials="jgm [24]" lastIdx="1" clrIdx="23"/>
  <p:cmAuthor id="25" name="juan gonsalez mendosa" initials="jgm [25]" lastIdx="1" clrIdx="24"/>
  <p:cmAuthor id="26" name="juan gonsalez mendosa" initials="jgm [26]" lastIdx="1" clrIdx="25"/>
  <p:cmAuthor id="27" name="juan gonsalez mendosa" initials="jgm [27]" lastIdx="1" clrIdx="26"/>
  <p:cmAuthor id="28" name="juan gonsalez mendosa" initials="jgm [28]" lastIdx="1" clrIdx="27"/>
  <p:cmAuthor id="29" name="juan gonsalez mendosa" initials="jgm [29]" lastIdx="1" clrIdx="28"/>
  <p:cmAuthor id="30" name="juan gonsalez mendosa" initials="jgm [30]" lastIdx="1" clrIdx="29"/>
  <p:cmAuthor id="31" name="juan gonsalez mendosa" initials="jgm [31]" lastIdx="1" clrIdx="30"/>
  <p:cmAuthor id="32" name="juan gonsalez mendosa" initials="jgm [32]" lastIdx="1" clrIdx="31"/>
  <p:cmAuthor id="33" name="juan gonsalez mendosa" initials="jgm [33]" lastIdx="1" clrIdx="32"/>
  <p:cmAuthor id="34" name="juan gonsalez mendosa" initials="jgm [34]" lastIdx="1" clrIdx="33"/>
  <p:cmAuthor id="35" name="juan gonsalez mendosa" initials="jgm [35]" lastIdx="1" clrIdx="34"/>
  <p:cmAuthor id="36" name="juan gonsalez mendosa" initials="jgm [36]" lastIdx="1" clrIdx="35"/>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771"/>
    <p:restoredTop sz="74436"/>
  </p:normalViewPr>
  <p:slideViewPr>
    <p:cSldViewPr>
      <p:cViewPr varScale="1">
        <p:scale>
          <a:sx n="84" d="100"/>
          <a:sy n="84" d="100"/>
        </p:scale>
        <p:origin x="22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C3DC77-0C4E-4C99-BC1C-FE0228AFF97D}" type="datetimeFigureOut">
              <a:rPr lang="es-MX" smtClean="0"/>
              <a:t>23/02/21</a:t>
            </a:fld>
            <a:endParaRPr lang="es-MX"/>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F76246-DD20-47AC-B405-07051C748D58}" type="slidenum">
              <a:rPr lang="es-MX" smtClean="0"/>
              <a:t>‹Nº›</a:t>
            </a:fld>
            <a:endParaRPr lang="es-MX"/>
          </a:p>
        </p:txBody>
      </p:sp>
    </p:spTree>
    <p:extLst>
      <p:ext uri="{BB962C8B-B14F-4D97-AF65-F5344CB8AC3E}">
        <p14:creationId xmlns:p14="http://schemas.microsoft.com/office/powerpoint/2010/main" val="583475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Font typeface="+mj-lt"/>
              <a:buAutoNum type="arabicPeriod"/>
            </a:pPr>
            <a:r>
              <a:rPr lang="es-MX" sz="1200" dirty="0">
                <a:effectLst/>
                <a:latin typeface="TimesNewRomanPSMT" panose="02020603050405020304" pitchFamily="18" charset="0"/>
              </a:rPr>
              <a:t>Los S. O. han estado relacionados históricamente con la arquitectura de las computadoras en las cuales se ejecutan, razón por la cual su historia puede analizarse según las siguientes generaciones y sus principales características </a:t>
            </a:r>
            <a:r>
              <a:rPr lang="es-MX" sz="1200" dirty="0">
                <a:solidFill>
                  <a:srgbClr val="0000FF"/>
                </a:solidFill>
                <a:effectLst/>
                <a:latin typeface="TimesNewRomanPSMT" panose="02020603050405020304" pitchFamily="18" charset="0"/>
              </a:rPr>
              <a:t>[7, Deitel]</a:t>
            </a:r>
            <a:r>
              <a:rPr lang="es-MX" sz="1200" dirty="0">
                <a:effectLst/>
                <a:latin typeface="TimesNewRomanPSMT" panose="02020603050405020304" pitchFamily="18" charset="0"/>
              </a:rPr>
              <a:t>: </a:t>
            </a:r>
            <a:endParaRPr lang="es-MX" dirty="0">
              <a:effectLst/>
            </a:endParaRPr>
          </a:p>
          <a:p>
            <a:r>
              <a:rPr lang="es-MX" sz="1000" dirty="0">
                <a:effectLst/>
                <a:latin typeface="SymbolMT"/>
              </a:rPr>
              <a:t>• </a:t>
            </a:r>
            <a:r>
              <a:rPr lang="es-MX" sz="1200" i="1" dirty="0">
                <a:effectLst/>
                <a:latin typeface="TimesNewRomanPS"/>
              </a:rPr>
              <a:t>Generación Cero </a:t>
            </a:r>
            <a:r>
              <a:rPr lang="es-MX" sz="1200" dirty="0">
                <a:effectLst/>
                <a:latin typeface="TimesNewRomanPSMT" panose="02020603050405020304" pitchFamily="18" charset="0"/>
              </a:rPr>
              <a:t>(década de 1940): </a:t>
            </a:r>
            <a:endParaRPr lang="es-MX" dirty="0">
              <a:effectLst/>
            </a:endParaRPr>
          </a:p>
          <a:p>
            <a:r>
              <a:rPr lang="es-MX" sz="1000" dirty="0">
                <a:effectLst/>
                <a:latin typeface="CourierNewPSMT" panose="02070309020205020404" pitchFamily="49" charset="0"/>
              </a:rPr>
              <a:t>	o </a:t>
            </a:r>
            <a:r>
              <a:rPr lang="es-MX" sz="1200" dirty="0">
                <a:effectLst/>
                <a:latin typeface="TimesNewRomanPSMT" panose="02020603050405020304" pitchFamily="18" charset="0"/>
              </a:rPr>
              <a:t>Carencia total de S. O. </a:t>
            </a:r>
            <a:endParaRPr lang="es-MX" dirty="0">
              <a:effectLst/>
            </a:endParaRPr>
          </a:p>
          <a:p>
            <a:r>
              <a:rPr lang="es-MX" sz="1000" dirty="0">
                <a:effectLst/>
                <a:latin typeface="CourierNewPSMT" panose="02070309020205020404" pitchFamily="49" charset="0"/>
              </a:rPr>
              <a:t>	o </a:t>
            </a:r>
            <a:r>
              <a:rPr lang="es-MX" sz="1200" dirty="0">
                <a:effectLst/>
                <a:latin typeface="TimesNewRomanPSMT" panose="02020603050405020304" pitchFamily="18" charset="0"/>
              </a:rPr>
              <a:t>Completo acceso al lenguaje de máquina.</a:t>
            </a:r>
            <a:br>
              <a:rPr lang="es-MX" sz="1200" dirty="0">
                <a:effectLst/>
                <a:latin typeface="TimesNewRomanPSMT" panose="02020603050405020304" pitchFamily="18" charset="0"/>
              </a:rPr>
            </a:br>
            <a:endParaRPr lang="es-MX" dirty="0">
              <a:effectLst/>
            </a:endParaRPr>
          </a:p>
          <a:p>
            <a:r>
              <a:rPr lang="es-MX" dirty="0"/>
              <a:t>En la década de 1940, los primeros sistemas electrónicos digitales no tenían sistemas operativos. Los ordenadores de esta época eran tan primitivos comparados con los de hoy en día que los programas se introdujeron a el ordenador un poco a la vez en las filas de los interruptores mecánicos. Eventualmente, los lenguajes de máquina (que consisten en cadenas de 0 y 1) se introdujeron lo que aceleró el proceso de programación .</a:t>
            </a:r>
          </a:p>
        </p:txBody>
      </p:sp>
      <p:sp>
        <p:nvSpPr>
          <p:cNvPr id="4" name="Marcador de número de diapositiva 3"/>
          <p:cNvSpPr>
            <a:spLocks noGrp="1"/>
          </p:cNvSpPr>
          <p:nvPr>
            <p:ph type="sldNum" sz="quarter" idx="5"/>
          </p:nvPr>
        </p:nvSpPr>
        <p:spPr/>
        <p:txBody>
          <a:bodyPr/>
          <a:lstStyle/>
          <a:p>
            <a:fld id="{D5F76246-DD20-47AC-B405-07051C748D58}" type="slidenum">
              <a:rPr lang="es-MX" smtClean="0"/>
              <a:t>1</a:t>
            </a:fld>
            <a:endParaRPr lang="es-MX"/>
          </a:p>
        </p:txBody>
      </p:sp>
    </p:spTree>
    <p:extLst>
      <p:ext uri="{BB962C8B-B14F-4D97-AF65-F5344CB8AC3E}">
        <p14:creationId xmlns:p14="http://schemas.microsoft.com/office/powerpoint/2010/main" val="3725281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000" dirty="0">
                <a:effectLst/>
                <a:latin typeface="SymbolMT"/>
              </a:rPr>
              <a:t>• </a:t>
            </a:r>
            <a:r>
              <a:rPr lang="es-MX" sz="1200" i="1" dirty="0">
                <a:effectLst/>
                <a:latin typeface="TimesNewRomanPS"/>
              </a:rPr>
              <a:t>Primera generación </a:t>
            </a:r>
            <a:r>
              <a:rPr lang="es-MX" sz="1200" dirty="0">
                <a:effectLst/>
                <a:latin typeface="TimesNewRomanPSMT" panose="02020603050405020304" pitchFamily="18" charset="0"/>
              </a:rPr>
              <a:t>(1945-1955): bulbos y conexiones: </a:t>
            </a:r>
            <a:endParaRPr lang="es-MX" dirty="0"/>
          </a:p>
          <a:p>
            <a:r>
              <a:rPr lang="es-MX" sz="1000" dirty="0">
                <a:effectLst/>
                <a:latin typeface="CourierNewPSMT" panose="02070309020205020404" pitchFamily="49" charset="0"/>
              </a:rPr>
              <a:t>	o </a:t>
            </a:r>
            <a:r>
              <a:rPr lang="es-MX" sz="1200" dirty="0">
                <a:effectLst/>
                <a:latin typeface="TimesNewRomanPSMT" panose="02020603050405020304" pitchFamily="18" charset="0"/>
              </a:rPr>
              <a:t>Carencia de S. O.</a:t>
            </a:r>
            <a:br>
              <a:rPr lang="es-MX" sz="1200" dirty="0">
                <a:effectLst/>
                <a:latin typeface="TimesNewRomanPSMT" panose="02020603050405020304" pitchFamily="18" charset="0"/>
              </a:rPr>
            </a:br>
            <a:r>
              <a:rPr lang="es-MX" sz="1200" dirty="0">
                <a:effectLst/>
                <a:latin typeface="TimesNewRomanPSMT" panose="02020603050405020304" pitchFamily="18" charset="0"/>
              </a:rPr>
              <a:t>	</a:t>
            </a:r>
            <a:r>
              <a:rPr lang="es-MX" sz="1000" dirty="0">
                <a:effectLst/>
                <a:latin typeface="CourierNewPSMT" panose="02070309020205020404" pitchFamily="49" charset="0"/>
              </a:rPr>
              <a:t>o </a:t>
            </a:r>
            <a:r>
              <a:rPr lang="es-MX" sz="1200" dirty="0">
                <a:effectLst/>
                <a:latin typeface="TimesNewRomanPSMT" panose="02020603050405020304" pitchFamily="18" charset="0"/>
              </a:rPr>
              <a:t>En los años cincuenta comienzan como transición entre trabajos, haciendo la misma más simple.</a:t>
            </a:r>
            <a:br>
              <a:rPr lang="es-MX" sz="1200" dirty="0">
                <a:effectLst/>
                <a:latin typeface="TimesNewRomanPSMT" panose="02020603050405020304" pitchFamily="18" charset="0"/>
              </a:rPr>
            </a:br>
            <a:endParaRPr lang="es-MX" dirty="0"/>
          </a:p>
          <a:p>
            <a:r>
              <a:rPr lang="es-MX" dirty="0"/>
              <a:t>Los sistemas de la década de 1950 en general funcionaban solamente con un proceso a la vez. Y se permitía una sola persona a la vez para utilizar la máquina. Todos los recursos de la máquina estaban a disposición del usuario. La facturación por el uso de la computadora era simple - porque el usuario tenía toda la máquina. De hecho, los mecanismos habituales de tiempo se basaban en un “reloj” en la pared. A un usuario se le daba permiso de usas la máquina por algún intervalo de tiempo y se pagaba una tarifa plana.</a:t>
            </a:r>
          </a:p>
        </p:txBody>
      </p:sp>
      <p:sp>
        <p:nvSpPr>
          <p:cNvPr id="4" name="Marcador de número de diapositiva 3"/>
          <p:cNvSpPr>
            <a:spLocks noGrp="1"/>
          </p:cNvSpPr>
          <p:nvPr>
            <p:ph type="sldNum" sz="quarter" idx="5"/>
          </p:nvPr>
        </p:nvSpPr>
        <p:spPr/>
        <p:txBody>
          <a:bodyPr/>
          <a:lstStyle/>
          <a:p>
            <a:fld id="{D5F76246-DD20-47AC-B405-07051C748D58}" type="slidenum">
              <a:rPr lang="es-MX" smtClean="0"/>
              <a:t>2</a:t>
            </a:fld>
            <a:endParaRPr lang="es-MX"/>
          </a:p>
        </p:txBody>
      </p:sp>
    </p:spTree>
    <p:extLst>
      <p:ext uri="{BB962C8B-B14F-4D97-AF65-F5344CB8AC3E}">
        <p14:creationId xmlns:p14="http://schemas.microsoft.com/office/powerpoint/2010/main" val="3313553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fontScale="55000" lnSpcReduction="20000"/>
          </a:bodyPr>
          <a:lstStyle/>
          <a:p>
            <a:r>
              <a:rPr lang="es-MX" sz="1000" dirty="0">
                <a:effectLst/>
                <a:latin typeface="SymbolMT"/>
              </a:rPr>
              <a:t>• </a:t>
            </a:r>
            <a:r>
              <a:rPr lang="es-MX" sz="1200" i="1" dirty="0">
                <a:effectLst/>
                <a:latin typeface="TimesNewRomanPS"/>
              </a:rPr>
              <a:t>Segunda generación </a:t>
            </a:r>
            <a:r>
              <a:rPr lang="es-MX" sz="1200" dirty="0">
                <a:effectLst/>
                <a:latin typeface="TimesNewRomanPSMT" panose="02020603050405020304" pitchFamily="18" charset="0"/>
              </a:rPr>
              <a:t>(1955-1965): transistores y sistemas de procesamiento por </a:t>
            </a:r>
            <a:endParaRPr lang="es-MX" dirty="0"/>
          </a:p>
          <a:p>
            <a:r>
              <a:rPr lang="es-MX" sz="1200" dirty="0">
                <a:effectLst/>
                <a:latin typeface="TimesNewRomanPSMT" panose="02020603050405020304" pitchFamily="18" charset="0"/>
              </a:rPr>
              <a:t>lotes (batch): </a:t>
            </a:r>
            <a:endParaRPr lang="es-MX" dirty="0"/>
          </a:p>
          <a:p>
            <a:r>
              <a:rPr lang="es-MX" sz="1000" dirty="0">
                <a:effectLst/>
                <a:latin typeface="CourierNewPSMT" panose="02070309020205020404" pitchFamily="49" charset="0"/>
              </a:rPr>
              <a:t>   o </a:t>
            </a:r>
            <a:r>
              <a:rPr lang="es-MX" sz="1200" dirty="0">
                <a:effectLst/>
                <a:latin typeface="TimesNewRomanPSMT" panose="02020603050405020304" pitchFamily="18" charset="0"/>
              </a:rPr>
              <a:t>En los años sesenta aparecen los S. O. para sistemas compartidos con: </a:t>
            </a:r>
            <a:endParaRPr lang="es-MX" dirty="0"/>
          </a:p>
          <a:p>
            <a:pPr lvl="1">
              <a:buFont typeface="Arial" panose="020B0604020202020204" pitchFamily="34" charset="0"/>
              <a:buChar char="•"/>
            </a:pPr>
            <a:r>
              <a:rPr lang="es-MX" sz="1000" dirty="0">
                <a:effectLst/>
                <a:latin typeface="Wingdings" pitchFamily="2" charset="2"/>
              </a:rPr>
              <a:t> </a:t>
            </a:r>
            <a:r>
              <a:rPr lang="es-MX" sz="1200" b="1" dirty="0">
                <a:effectLst/>
                <a:latin typeface="TimesNewRomanPS"/>
              </a:rPr>
              <a:t>Multiprogramación</a:t>
            </a:r>
            <a:r>
              <a:rPr lang="es-MX" sz="1200" dirty="0">
                <a:effectLst/>
                <a:latin typeface="TimesNewRomanPSMT" panose="02020603050405020304" pitchFamily="18" charset="0"/>
              </a:rPr>
              <a:t>: varios programas de usuarios se encuentran al mismo tiempo en el almacenamiento principal, cambiando el  procesador rápidamente de un trabajo a otro. </a:t>
            </a:r>
            <a:endParaRPr lang="es-MX" dirty="0">
              <a:effectLst/>
            </a:endParaRPr>
          </a:p>
          <a:p>
            <a:pPr>
              <a:buFont typeface="Arial" panose="020B0604020202020204" pitchFamily="34" charset="0"/>
              <a:buChar char="•"/>
            </a:pPr>
            <a:r>
              <a:rPr lang="es-MX" sz="1000" dirty="0">
                <a:effectLst/>
                <a:latin typeface="Wingdings" pitchFamily="2" charset="2"/>
              </a:rPr>
              <a:t> </a:t>
            </a:r>
            <a:r>
              <a:rPr lang="es-MX" sz="1200" b="1" dirty="0">
                <a:effectLst/>
                <a:latin typeface="TimesNewRomanPS"/>
              </a:rPr>
              <a:t>Multiprocesamiento</a:t>
            </a:r>
            <a:r>
              <a:rPr lang="es-MX" sz="1200" dirty="0">
                <a:effectLst/>
                <a:latin typeface="TimesNewRomanPSMT" panose="02020603050405020304" pitchFamily="18" charset="0"/>
              </a:rPr>
              <a:t>: varios procesadores se utilizan en un mismo sistema para incrementar el poder de procesamiento. </a:t>
            </a:r>
            <a:endParaRPr lang="es-MX" dirty="0">
              <a:effectLst/>
            </a:endParaRPr>
          </a:p>
          <a:p>
            <a:r>
              <a:rPr lang="es-MX" sz="1000" dirty="0">
                <a:effectLst/>
                <a:latin typeface="CourierNewPSMT" panose="02070309020205020404" pitchFamily="49" charset="0"/>
              </a:rPr>
              <a:t>   </a:t>
            </a:r>
          </a:p>
          <a:p>
            <a:r>
              <a:rPr lang="es-MX" sz="1000" dirty="0">
                <a:effectLst/>
                <a:latin typeface="CourierNewPSMT" panose="02070309020205020404" pitchFamily="49" charset="0"/>
              </a:rPr>
              <a:t>    o </a:t>
            </a:r>
            <a:r>
              <a:rPr lang="es-MX" sz="1200" dirty="0">
                <a:effectLst/>
                <a:latin typeface="TimesNewRomanPSMT" panose="02020603050405020304" pitchFamily="18" charset="0"/>
              </a:rPr>
              <a:t>Posteriormente aparece la </a:t>
            </a:r>
            <a:r>
              <a:rPr lang="es-MX" sz="1200" b="1" dirty="0">
                <a:effectLst/>
                <a:latin typeface="TimesNewRomanPS"/>
              </a:rPr>
              <a:t>independencia de dispositivo</a:t>
            </a:r>
            <a:r>
              <a:rPr lang="es-MX" sz="1200" dirty="0">
                <a:effectLst/>
                <a:latin typeface="TimesNewRomanPSMT" panose="02020603050405020304" pitchFamily="18" charset="0"/>
              </a:rPr>
              <a:t>: </a:t>
            </a:r>
            <a:endParaRPr lang="es-MX" dirty="0"/>
          </a:p>
          <a:p>
            <a:pPr lvl="1">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El programa del usuario especifica las características de los dispositivos que requieren los archivos. </a:t>
            </a:r>
            <a:endParaRPr lang="es-MX" dirty="0">
              <a:effectLst/>
            </a:endParaRPr>
          </a:p>
          <a:p>
            <a:pPr lvl="1">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El S. O. asigna los dispositivos correspondientes según los requerimientos y las disponibilidades. </a:t>
            </a:r>
            <a:endParaRPr lang="es-MX" dirty="0">
              <a:effectLst/>
            </a:endParaRPr>
          </a:p>
          <a:p>
            <a:endParaRPr lang="es-MX" dirty="0"/>
          </a:p>
          <a:p>
            <a:r>
              <a:rPr lang="es-MX" dirty="0"/>
              <a:t>La época entre los años 60's y 80's fue una temporada repleta de cambios en el ámbito informático y el inicio de la computación como se la conoce. Aparecieron técnicas como la multiprogramación y los sistemas de tiempo compartido, las cuales en su noción básica se conservan hasta la actualidad. Obviamente la implementación de estas nuevas técnicas supuso un cambio a los sistemas operativos previos (IOCS, Sistema por lotes).</a:t>
            </a:r>
          </a:p>
          <a:p>
            <a:r>
              <a:rPr lang="es-MX" dirty="0"/>
              <a:t>•	Aparecen los S.O para sistemas compartidos:</a:t>
            </a:r>
          </a:p>
          <a:p>
            <a:endParaRPr lang="es-MX" dirty="0"/>
          </a:p>
          <a:p>
            <a:r>
              <a:rPr lang="es-MX" b="1" dirty="0"/>
              <a:t>Multiprogramación:</a:t>
            </a:r>
          </a:p>
          <a:p>
            <a:endParaRPr lang="es-MX" dirty="0"/>
          </a:p>
          <a:p>
            <a:r>
              <a:rPr lang="es-MX" dirty="0"/>
              <a:t>En general, la multiprogramación se refiere a que en la memoria principal de un computador se albergan varios programas y se trabaja en todos por períodos de tiempo específicos en cada uno de ellos, por ejemplo mientras un programa realiza procesos de entrada y salida. Todo esto no hubiera sido posible si no se hubiera empezado a construir  memorias con mucha más capacidad de almacenamiento. Esto hizo necesario crear un mecanismo para garantizar los procesos comunes entre los programas: </a:t>
            </a:r>
          </a:p>
          <a:p>
            <a:endParaRPr lang="es-MX" dirty="0"/>
          </a:p>
          <a:p>
            <a:r>
              <a:rPr lang="es-MX" dirty="0"/>
              <a:t>1.-Comenzar los trabajos de usuario.</a:t>
            </a:r>
          </a:p>
          <a:p>
            <a:r>
              <a:rPr lang="es-MX" dirty="0"/>
              <a:t>2.-Operación simultánea de periféricos en línea.</a:t>
            </a:r>
          </a:p>
          <a:p>
            <a:r>
              <a:rPr lang="es-MX" dirty="0"/>
              <a:t>3.-Entrada y salida para los procesos. </a:t>
            </a:r>
          </a:p>
          <a:p>
            <a:r>
              <a:rPr lang="es-MX" dirty="0"/>
              <a:t>4.-Cambio entre tareas de usuario</a:t>
            </a:r>
          </a:p>
          <a:p>
            <a:r>
              <a:rPr lang="es-MX" dirty="0"/>
              <a:t>5.-Garantizar una protección adecuada mientras se realiza lo anterior.</a:t>
            </a:r>
          </a:p>
          <a:p>
            <a:endParaRPr lang="es-MX" dirty="0"/>
          </a:p>
          <a:p>
            <a:r>
              <a:rPr lang="es-MX" b="1" dirty="0"/>
              <a:t>Multiprocesamiento:</a:t>
            </a:r>
          </a:p>
          <a:p>
            <a:r>
              <a:rPr lang="es-MX" dirty="0"/>
              <a:t>Un sistema de tiempo compartido consiste en que varias terminales se conectan al equipo y cada terminal tiene asociado uno o más procesos en él. El sistema operativo entonces, era el encargado de la conmutación entre los procesos favoreciendo la interacción con el usuario. Si los cambios de contexto en los proceso se producían con la suficiente rapidez y en los momentos adecuados, el usuario podría tener la percepción de una comunicación fluida con la máquina y que se relacionaba con ella de manera directa.</a:t>
            </a:r>
          </a:p>
          <a:p>
            <a:endParaRPr lang="es-MX" dirty="0"/>
          </a:p>
          <a:p>
            <a:r>
              <a:rPr lang="es-MX" dirty="0"/>
              <a:t>•Independencia del dispositivo:</a:t>
            </a:r>
          </a:p>
          <a:p>
            <a:r>
              <a:rPr lang="es-MX" dirty="0"/>
              <a:t>	1.- El programa del usuario especifica las características de los dispositivos que requieres los archivos.</a:t>
            </a:r>
          </a:p>
          <a:p>
            <a:r>
              <a:rPr lang="es-MX" dirty="0"/>
              <a:t>	2.- El S.O. asigna los dispositivos correspondientes según los requerimientos y la disponibilidad.</a:t>
            </a:r>
          </a:p>
        </p:txBody>
      </p:sp>
      <p:sp>
        <p:nvSpPr>
          <p:cNvPr id="4" name="Marcador de número de diapositiva 3"/>
          <p:cNvSpPr>
            <a:spLocks noGrp="1"/>
          </p:cNvSpPr>
          <p:nvPr>
            <p:ph type="sldNum" sz="quarter" idx="5"/>
          </p:nvPr>
        </p:nvSpPr>
        <p:spPr/>
        <p:txBody>
          <a:bodyPr/>
          <a:lstStyle/>
          <a:p>
            <a:fld id="{D5F76246-DD20-47AC-B405-07051C748D58}" type="slidenum">
              <a:rPr lang="es-MX" smtClean="0"/>
              <a:t>3</a:t>
            </a:fld>
            <a:endParaRPr lang="es-MX"/>
          </a:p>
        </p:txBody>
      </p:sp>
    </p:spTree>
    <p:extLst>
      <p:ext uri="{BB962C8B-B14F-4D97-AF65-F5344CB8AC3E}">
        <p14:creationId xmlns:p14="http://schemas.microsoft.com/office/powerpoint/2010/main" val="1950547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lnSpcReduction="10000"/>
          </a:bodyPr>
          <a:lstStyle/>
          <a:p>
            <a:r>
              <a:rPr lang="es-MX" sz="1000" dirty="0">
                <a:effectLst/>
                <a:latin typeface="CourierNewPSMT" panose="02070309020205020404" pitchFamily="49" charset="0"/>
              </a:rPr>
              <a:t>Difusión de la multiprogramación:</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1.- Partición de la memoria en porciones, con trabajos distintos en c/u de ellas.</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•Aprovechamiento del tiempo de consecuencia de operaciones de e/s, para utilizar la cpu para otros procesos.</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2.- Proteccion por hardware del contenido de cada particion de memoria.</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3.- Aparicion de tecnicas de spooling:</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 •Simultaneous peripheral operation on line: operación simultánea y en línea de periféricos.</a:t>
            </a:r>
          </a:p>
          <a:p>
            <a:r>
              <a:rPr lang="es-MX" sz="1000" dirty="0">
                <a:effectLst/>
                <a:latin typeface="CourierNewPSMT" panose="02070309020205020404" pitchFamily="49" charset="0"/>
              </a:rPr>
              <a:t> •Almacenamiento de trabajos de entrada y de salida en dispositivos transitorios rápidos (discos), para disminuir el impacto de los periféricos más lentos.</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4.- Son sistemas de modos múltiples: deben soportar sistemas de propósitos generales: son grandes y complejos pero muy poderosos.</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5.- Interponen una capa de software entre el usuario y el hardware.</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6.- Aparecen los lenguajes de control de trabajos: necesarios para especificar el trabajo y los recursos requeridos.</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7.- Soportan timesharing (tiempo compartido): variante de la multiprogramación con usuarios conectados mediante terminales en línea:</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 •Operación en modo interactivo o conversacional.</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8.- Aparecen los sistemas de tiempo real: requieren tiempos de respuesta muy exigentes, especialmente para usos industriales o militares.</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9.- Se difunden las computadoras de rango medio.</a:t>
            </a:r>
          </a:p>
          <a:p>
            <a:r>
              <a:rPr lang="es-MX" sz="1000" dirty="0">
                <a:effectLst/>
                <a:latin typeface="CourierNewPSMT" panose="02070309020205020404" pitchFamily="49" charset="0"/>
              </a:rPr>
              <a:t>-------------------</a:t>
            </a:r>
          </a:p>
          <a:p>
            <a:endParaRPr lang="es-MX" sz="1000" dirty="0">
              <a:effectLst/>
              <a:latin typeface="CourierNewPSMT" panose="02070309020205020404" pitchFamily="49" charset="0"/>
            </a:endParaRPr>
          </a:p>
          <a:p>
            <a:r>
              <a:rPr lang="es-MX" sz="1000" dirty="0">
                <a:effectLst/>
                <a:latin typeface="CourierNewPSMT" panose="02070309020205020404" pitchFamily="49" charset="0"/>
              </a:rPr>
              <a:t>o </a:t>
            </a:r>
            <a:r>
              <a:rPr lang="es-MX" sz="1200" dirty="0">
                <a:effectLst/>
                <a:latin typeface="TimesNewRomanPSMT" panose="02020603050405020304" pitchFamily="18" charset="0"/>
              </a:rPr>
              <a:t>Difusión de la </a:t>
            </a:r>
            <a:r>
              <a:rPr lang="es-MX" sz="1200" b="1" dirty="0">
                <a:effectLst/>
                <a:latin typeface="TimesNewRomanPS"/>
              </a:rPr>
              <a:t>multiprogramación</a:t>
            </a:r>
            <a:r>
              <a:rPr lang="es-MX" sz="1200" dirty="0">
                <a:effectLst/>
                <a:latin typeface="TimesNewRomanPSMT" panose="02020603050405020304" pitchFamily="18" charset="0"/>
              </a:rPr>
              <a:t>: </a:t>
            </a:r>
            <a:endParaRPr lang="es-MX" dirty="0"/>
          </a:p>
          <a:p>
            <a:pPr lvl="1">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Partición de la memoria en porciones, con trabajos distintos en cada una de ellas. </a:t>
            </a:r>
            <a:endParaRPr lang="es-MX" dirty="0">
              <a:effectLst/>
            </a:endParaRPr>
          </a:p>
          <a:p>
            <a:pPr lvl="1">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Aprovechamiento del tiempo de espera consecuencia de operaciones de e / s, para utilizar la CPU para otros procesos. </a:t>
            </a:r>
            <a:endParaRPr lang="es-MX" dirty="0">
              <a:effectLst/>
            </a:endParaRPr>
          </a:p>
          <a:p>
            <a:r>
              <a:rPr lang="es-MX" sz="1000" dirty="0">
                <a:effectLst/>
                <a:latin typeface="CourierNewPSMT" panose="02070309020205020404" pitchFamily="49" charset="0"/>
              </a:rPr>
              <a:t>o </a:t>
            </a:r>
            <a:r>
              <a:rPr lang="es-MX" sz="1200" dirty="0">
                <a:effectLst/>
                <a:latin typeface="TimesNewRomanPSMT" panose="02020603050405020304" pitchFamily="18" charset="0"/>
              </a:rPr>
              <a:t>Protección por hardware del contenido de cada partición de memoria. </a:t>
            </a:r>
          </a:p>
          <a:p>
            <a:r>
              <a:rPr lang="es-MX" sz="1000" dirty="0">
                <a:effectLst/>
                <a:latin typeface="CourierNewPSMT" panose="02070309020205020404" pitchFamily="49" charset="0"/>
              </a:rPr>
              <a:t>o </a:t>
            </a:r>
            <a:r>
              <a:rPr lang="es-MX" sz="1200" dirty="0">
                <a:effectLst/>
                <a:latin typeface="TimesNewRomanPSMT" panose="02020603050405020304" pitchFamily="18" charset="0"/>
              </a:rPr>
              <a:t>Aparición de técnicas de </a:t>
            </a:r>
            <a:r>
              <a:rPr lang="es-MX" sz="1200" b="1" dirty="0">
                <a:effectLst/>
                <a:latin typeface="TimesNewRomanPS"/>
              </a:rPr>
              <a:t>spooling</a:t>
            </a:r>
            <a:r>
              <a:rPr lang="es-MX" sz="1200" dirty="0">
                <a:effectLst/>
                <a:latin typeface="TimesNewRomanPSMT" panose="02020603050405020304" pitchFamily="18" charset="0"/>
              </a:rPr>
              <a:t>: </a:t>
            </a:r>
            <a:endParaRPr lang="es-MX" dirty="0"/>
          </a:p>
          <a:p>
            <a:pPr lvl="1">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Simultaneous Peripheral Operation On Line: operación simultánea y en línea de periféricos. </a:t>
            </a:r>
            <a:endParaRPr lang="es-MX" dirty="0">
              <a:effectLst/>
            </a:endParaRPr>
          </a:p>
          <a:p>
            <a:pPr lvl="1">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Almacenamiento de trabajos de entrada y de salida en dispositivos transitorios rápidos (discos), para disminuir el impacto de los periféricos mas lentos. </a:t>
            </a:r>
            <a:endParaRPr lang="es-MX" dirty="0">
              <a:effectLst/>
            </a:endParaRPr>
          </a:p>
          <a:p>
            <a:r>
              <a:rPr lang="es-MX" sz="1000" dirty="0">
                <a:effectLst/>
                <a:latin typeface="CourierNewPSMT" panose="02070309020205020404" pitchFamily="49" charset="0"/>
              </a:rPr>
              <a:t>o </a:t>
            </a:r>
            <a:r>
              <a:rPr lang="es-MX" sz="1200" dirty="0">
                <a:effectLst/>
                <a:latin typeface="TimesNewRomanPSMT" panose="02020603050405020304" pitchFamily="18" charset="0"/>
              </a:rPr>
              <a:t>Son </a:t>
            </a:r>
            <a:r>
              <a:rPr lang="es-MX" sz="1200" b="1" dirty="0">
                <a:effectLst/>
                <a:latin typeface="TimesNewRomanPS"/>
              </a:rPr>
              <a:t>sistemas de modos múltiples</a:t>
            </a:r>
            <a:r>
              <a:rPr lang="es-MX" sz="1200" dirty="0">
                <a:effectLst/>
                <a:latin typeface="TimesNewRomanPSMT" panose="02020603050405020304" pitchFamily="18" charset="0"/>
              </a:rPr>
              <a:t>, es decir que deben soportar </a:t>
            </a:r>
            <a:r>
              <a:rPr lang="es-MX" sz="1200" b="1" dirty="0">
                <a:effectLst/>
                <a:latin typeface="TimesNewRomanPS"/>
              </a:rPr>
              <a:t>sistemas de propósitos generales</a:t>
            </a:r>
            <a:r>
              <a:rPr lang="es-MX" sz="1200" dirty="0">
                <a:effectLst/>
                <a:latin typeface="TimesNewRomanPSMT" panose="02020603050405020304" pitchFamily="18" charset="0"/>
              </a:rPr>
              <a:t>; son grandes y complejos pero muy poderosos. </a:t>
            </a:r>
            <a:endParaRPr lang="es-MX" dirty="0"/>
          </a:p>
          <a:p>
            <a:r>
              <a:rPr lang="es-MX" sz="1000" dirty="0">
                <a:effectLst/>
                <a:latin typeface="CourierNewPSMT" panose="02070309020205020404" pitchFamily="49" charset="0"/>
              </a:rPr>
              <a:t>o </a:t>
            </a:r>
            <a:r>
              <a:rPr lang="es-MX" sz="1200" dirty="0">
                <a:effectLst/>
                <a:latin typeface="TimesNewRomanPSMT" panose="02020603050405020304" pitchFamily="18" charset="0"/>
              </a:rPr>
              <a:t>Interponen una </a:t>
            </a:r>
            <a:r>
              <a:rPr lang="es-MX" sz="1200" b="1" dirty="0">
                <a:effectLst/>
                <a:latin typeface="TimesNewRomanPS"/>
              </a:rPr>
              <a:t>capa de software </a:t>
            </a:r>
            <a:r>
              <a:rPr lang="es-MX" sz="1200" dirty="0">
                <a:effectLst/>
                <a:latin typeface="TimesNewRomanPSMT" panose="02020603050405020304" pitchFamily="18" charset="0"/>
              </a:rPr>
              <a:t>entre el usuario y el hardware. </a:t>
            </a:r>
            <a:r>
              <a:rPr lang="es-MX" sz="1000" dirty="0">
                <a:effectLst/>
                <a:latin typeface="CourierNewPSMT" panose="02070309020205020404" pitchFamily="49" charset="0"/>
              </a:rPr>
              <a:t>o </a:t>
            </a:r>
            <a:r>
              <a:rPr lang="es-MX" sz="1200" dirty="0">
                <a:effectLst/>
                <a:latin typeface="TimesNewRomanPSMT" panose="02020603050405020304" pitchFamily="18" charset="0"/>
              </a:rPr>
              <a:t>Aparecen los </a:t>
            </a:r>
            <a:r>
              <a:rPr lang="es-MX" sz="1200" b="1" dirty="0">
                <a:effectLst/>
                <a:latin typeface="TimesNewRomanPS"/>
              </a:rPr>
              <a:t>lenguajes de control de trabajos</a:t>
            </a:r>
            <a:r>
              <a:rPr lang="es-MX" sz="1200" dirty="0">
                <a:effectLst/>
                <a:latin typeface="TimesNewRomanPSMT" panose="02020603050405020304" pitchFamily="18" charset="0"/>
              </a:rPr>
              <a:t>, necesarios para </a:t>
            </a:r>
            <a:endParaRPr lang="es-MX" dirty="0"/>
          </a:p>
          <a:p>
            <a:r>
              <a:rPr lang="es-MX" sz="1200" dirty="0">
                <a:effectLst/>
                <a:latin typeface="TimesNewRomanPSMT" panose="02020603050405020304" pitchFamily="18" charset="0"/>
              </a:rPr>
              <a:t>especificar el trabajo y los recursos requeridos.</a:t>
            </a:r>
            <a:br>
              <a:rPr lang="es-MX" sz="1200" dirty="0">
                <a:effectLst/>
                <a:latin typeface="TimesNewRomanPSMT" panose="02020603050405020304" pitchFamily="18" charset="0"/>
              </a:rPr>
            </a:br>
            <a:r>
              <a:rPr lang="es-MX" sz="1000" dirty="0">
                <a:effectLst/>
                <a:latin typeface="CourierNewPSMT" panose="02070309020205020404" pitchFamily="49" charset="0"/>
              </a:rPr>
              <a:t>o </a:t>
            </a:r>
            <a:r>
              <a:rPr lang="es-MX" sz="1200" dirty="0">
                <a:effectLst/>
                <a:latin typeface="TimesNewRomanPSMT" panose="02020603050405020304" pitchFamily="18" charset="0"/>
              </a:rPr>
              <a:t>Soportan </a:t>
            </a:r>
            <a:r>
              <a:rPr lang="es-MX" sz="1200" b="1" dirty="0">
                <a:effectLst/>
                <a:latin typeface="TimesNewRomanPS"/>
              </a:rPr>
              <a:t>timesharing (tiempo compartido)</a:t>
            </a:r>
            <a:r>
              <a:rPr lang="es-MX" sz="1200" dirty="0">
                <a:effectLst/>
                <a:latin typeface="TimesNewRomanPSMT" panose="02020603050405020304" pitchFamily="18" charset="0"/>
              </a:rPr>
              <a:t>, variante de la multiprogramación con usuarios conectados mediante terminales en </a:t>
            </a:r>
            <a:endParaRPr lang="es-MX" dirty="0"/>
          </a:p>
          <a:p>
            <a:r>
              <a:rPr lang="es-MX" sz="1200" dirty="0">
                <a:effectLst/>
                <a:latin typeface="TimesNewRomanPSMT" panose="02020603050405020304" pitchFamily="18" charset="0"/>
              </a:rPr>
              <a:t>línea, permitiendo la operación en </a:t>
            </a:r>
            <a:r>
              <a:rPr lang="es-MX" sz="1200" b="1" dirty="0">
                <a:effectLst/>
                <a:latin typeface="TimesNewRomanPS"/>
              </a:rPr>
              <a:t>modo interactivo </a:t>
            </a:r>
            <a:r>
              <a:rPr lang="es-MX" sz="1200" dirty="0">
                <a:effectLst/>
                <a:latin typeface="TimesNewRomanPSMT" panose="02020603050405020304" pitchFamily="18" charset="0"/>
              </a:rPr>
              <a:t>o </a:t>
            </a:r>
            <a:r>
              <a:rPr lang="es-MX" sz="1200" b="1" dirty="0">
                <a:effectLst/>
                <a:latin typeface="TimesNewRomanPS"/>
              </a:rPr>
              <a:t>conversacional</a:t>
            </a:r>
            <a:r>
              <a:rPr lang="es-MX" sz="1200" dirty="0">
                <a:effectLst/>
                <a:latin typeface="TimesNewRomanPSMT" panose="02020603050405020304" pitchFamily="18" charset="0"/>
              </a:rPr>
              <a:t>. </a:t>
            </a:r>
            <a:r>
              <a:rPr lang="es-MX" sz="1000" dirty="0">
                <a:effectLst/>
                <a:latin typeface="CourierNewPSMT" panose="02070309020205020404" pitchFamily="49" charset="0"/>
              </a:rPr>
              <a:t>o </a:t>
            </a:r>
            <a:r>
              <a:rPr lang="es-MX" sz="1200" dirty="0">
                <a:effectLst/>
                <a:latin typeface="TimesNewRomanPSMT" panose="02020603050405020304" pitchFamily="18" charset="0"/>
              </a:rPr>
              <a:t>Aparecen los </a:t>
            </a:r>
            <a:r>
              <a:rPr lang="es-MX" sz="1200" b="1" dirty="0">
                <a:effectLst/>
                <a:latin typeface="TimesNewRomanPS"/>
              </a:rPr>
              <a:t>sistemas de tiempo real</a:t>
            </a:r>
            <a:r>
              <a:rPr lang="es-MX" sz="1200" dirty="0">
                <a:effectLst/>
                <a:latin typeface="TimesNewRomanPSMT" panose="02020603050405020304" pitchFamily="18" charset="0"/>
              </a:rPr>
              <a:t>, que requieren tiempos de </a:t>
            </a:r>
            <a:endParaRPr lang="es-MX" dirty="0"/>
          </a:p>
          <a:p>
            <a:r>
              <a:rPr lang="es-MX" sz="1200" dirty="0">
                <a:effectLst/>
                <a:latin typeface="TimesNewRomanPSMT" panose="02020603050405020304" pitchFamily="18" charset="0"/>
              </a:rPr>
              <a:t>respuesta muy exigentes, especialmente para usos industriales o militares.</a:t>
            </a:r>
            <a:br>
              <a:rPr lang="es-MX" sz="1200" dirty="0">
                <a:effectLst/>
                <a:latin typeface="TimesNewRomanPSMT" panose="02020603050405020304" pitchFamily="18" charset="0"/>
              </a:rPr>
            </a:br>
            <a:r>
              <a:rPr lang="es-MX" sz="1000" dirty="0">
                <a:effectLst/>
                <a:latin typeface="CourierNewPSMT" panose="02070309020205020404" pitchFamily="49" charset="0"/>
              </a:rPr>
              <a:t>o </a:t>
            </a:r>
            <a:r>
              <a:rPr lang="es-MX" sz="1200" dirty="0">
                <a:effectLst/>
                <a:latin typeface="TimesNewRomanPSMT" panose="02020603050405020304" pitchFamily="18" charset="0"/>
              </a:rPr>
              <a:t>Se difunden las computadoras de rango medio. </a:t>
            </a:r>
            <a:endParaRPr lang="es-MX" dirty="0"/>
          </a:p>
          <a:p>
            <a:endParaRPr lang="es-MX" dirty="0"/>
          </a:p>
        </p:txBody>
      </p:sp>
      <p:sp>
        <p:nvSpPr>
          <p:cNvPr id="4" name="Marcador de número de diapositiva 3"/>
          <p:cNvSpPr>
            <a:spLocks noGrp="1"/>
          </p:cNvSpPr>
          <p:nvPr>
            <p:ph type="sldNum" sz="quarter" idx="5"/>
          </p:nvPr>
        </p:nvSpPr>
        <p:spPr/>
        <p:txBody>
          <a:bodyPr/>
          <a:lstStyle/>
          <a:p>
            <a:fld id="{D5F76246-DD20-47AC-B405-07051C748D58}" type="slidenum">
              <a:rPr lang="es-MX" smtClean="0"/>
              <a:t>4</a:t>
            </a:fld>
            <a:endParaRPr lang="es-MX"/>
          </a:p>
        </p:txBody>
      </p:sp>
    </p:spTree>
    <p:extLst>
      <p:ext uri="{BB962C8B-B14F-4D97-AF65-F5344CB8AC3E}">
        <p14:creationId xmlns:p14="http://schemas.microsoft.com/office/powerpoint/2010/main" val="1226642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92500" lnSpcReduction="20000"/>
          </a:bodyPr>
          <a:lstStyle/>
          <a:p>
            <a:r>
              <a:rPr lang="es-MX" sz="1200" i="1" dirty="0">
                <a:effectLst/>
                <a:latin typeface="TimesNewRomanPS"/>
              </a:rPr>
              <a:t>La década de los 80’s se caracteriza por el uso de los microprocesadores, los computadores dejan de ser un lujo que solo poseían empresas y universidades importantes para pasar  al servicio de personas del común, ya que los avances en la integración a gran escala, permitió reducir el tamaño de los equipos apareciendo los computadores personales que como iban dirigidos a un público poco conocedor de la informática, debían poseer sistemas operativos intuitivos, simples y amigables para el usuario lo que ocasiona el surgimiento de menús e interfaces gráficas, utilizando principalmente utilizaron lenguajes de programación como: C, C++, Haskell, Miranda, Eiffel y Smaltalk</a:t>
            </a:r>
          </a:p>
          <a:p>
            <a:endParaRPr lang="es-MX" sz="1200" i="1" dirty="0">
              <a:effectLst/>
              <a:latin typeface="TimesNewRomanPS"/>
            </a:endParaRPr>
          </a:p>
          <a:p>
            <a:r>
              <a:rPr lang="es-MX" sz="1200" i="1" dirty="0">
                <a:effectLst/>
                <a:latin typeface="TimesNewRomanPS"/>
              </a:rPr>
              <a:t>•	Aparece el software amigable con el usuario.</a:t>
            </a:r>
          </a:p>
          <a:p>
            <a:r>
              <a:rPr lang="es-MX" sz="1200" i="1" dirty="0">
                <a:effectLst/>
                <a:latin typeface="TimesNewRomanPS"/>
              </a:rPr>
              <a:t>•	Desarrollo de sistemas operativos de red y distribuidos.</a:t>
            </a:r>
          </a:p>
          <a:p>
            <a:r>
              <a:rPr lang="es-MX" sz="1200" i="1" dirty="0">
                <a:effectLst/>
                <a:latin typeface="TimesNewRomanPS"/>
              </a:rPr>
              <a:t>•	Aparición de emuladores de terminal para el acceso a equipos remotos desde PC.</a:t>
            </a:r>
          </a:p>
          <a:p>
            <a:r>
              <a:rPr lang="es-MX" sz="1200" i="1" dirty="0">
                <a:effectLst/>
                <a:latin typeface="TimesNewRomanPS"/>
              </a:rPr>
              <a:t>•	Énfasis en la seguridad.</a:t>
            </a:r>
          </a:p>
          <a:p>
            <a:r>
              <a:rPr lang="es-MX" sz="1200" i="1" dirty="0">
                <a:effectLst/>
                <a:latin typeface="TimesNewRomanPS"/>
              </a:rPr>
              <a:t>•	Se crea el ambiente basado en maquina virtual.</a:t>
            </a:r>
          </a:p>
          <a:p>
            <a:r>
              <a:rPr lang="es-MX" sz="1200" i="1" dirty="0">
                <a:effectLst/>
                <a:latin typeface="TimesNewRomanPS"/>
              </a:rPr>
              <a:t>•	Proliferación de bases de datos.</a:t>
            </a:r>
          </a:p>
          <a:p>
            <a:r>
              <a:rPr lang="es-MX" sz="1200" i="1" dirty="0">
                <a:effectLst/>
                <a:latin typeface="TimesNewRomanPS"/>
              </a:rPr>
              <a:t>---------------</a:t>
            </a:r>
          </a:p>
          <a:p>
            <a:r>
              <a:rPr lang="es-MX" sz="1200" i="1" dirty="0">
                <a:effectLst/>
                <a:latin typeface="TimesNewRomanPS"/>
              </a:rPr>
              <a:t>Cuarta generación </a:t>
            </a:r>
            <a:r>
              <a:rPr lang="es-MX" sz="1200" dirty="0">
                <a:effectLst/>
                <a:latin typeface="TimesNewRomanPSMT" panose="02020603050405020304" pitchFamily="18" charset="0"/>
              </a:rPr>
              <a:t>(1980-1990): computadoras personales: </a:t>
            </a:r>
            <a:endParaRPr lang="es-MX" dirty="0"/>
          </a:p>
          <a:p>
            <a:r>
              <a:rPr lang="es-MX" sz="1000" dirty="0">
                <a:effectLst/>
                <a:latin typeface="CourierNewPSMT" panose="02070309020205020404" pitchFamily="49" charset="0"/>
              </a:rPr>
              <a:t>o </a:t>
            </a:r>
            <a:r>
              <a:rPr lang="es-MX" sz="1200" dirty="0">
                <a:effectLst/>
                <a:latin typeface="TimesNewRomanPSMT" panose="02020603050405020304" pitchFamily="18" charset="0"/>
              </a:rPr>
              <a:t>Aparición de software </a:t>
            </a:r>
            <a:r>
              <a:rPr lang="es-MX" sz="1200" b="1" dirty="0">
                <a:effectLst/>
                <a:latin typeface="TimesNewRomanPS"/>
              </a:rPr>
              <a:t>amigable con el usuario</a:t>
            </a:r>
            <a:r>
              <a:rPr lang="es-MX" sz="1200" dirty="0">
                <a:effectLst/>
                <a:latin typeface="TimesNewRomanPSMT" panose="02020603050405020304" pitchFamily="18" charset="0"/>
              </a:rPr>
              <a:t>, destinado a usuarios no profesionales y con una interfase gráfica muy desarrollada. </a:t>
            </a:r>
            <a:endParaRPr lang="es-MX" dirty="0"/>
          </a:p>
          <a:p>
            <a:r>
              <a:rPr lang="es-MX" sz="1000" dirty="0">
                <a:effectLst/>
                <a:latin typeface="CourierNewPSMT" panose="02070309020205020404" pitchFamily="49" charset="0"/>
              </a:rPr>
              <a:t>o </a:t>
            </a:r>
            <a:r>
              <a:rPr lang="es-MX" sz="1200" dirty="0">
                <a:effectLst/>
                <a:latin typeface="TimesNewRomanPSMT" panose="02020603050405020304" pitchFamily="18" charset="0"/>
              </a:rPr>
              <a:t>Desarrollo de </a:t>
            </a:r>
            <a:r>
              <a:rPr lang="es-MX" sz="1200" b="1" dirty="0">
                <a:effectLst/>
                <a:latin typeface="TimesNewRomanPS"/>
              </a:rPr>
              <a:t>sistemas operativos de red </a:t>
            </a:r>
            <a:r>
              <a:rPr lang="es-MX" sz="1200" dirty="0">
                <a:effectLst/>
                <a:latin typeface="TimesNewRomanPSMT" panose="02020603050405020304" pitchFamily="18" charset="0"/>
              </a:rPr>
              <a:t>y </a:t>
            </a:r>
            <a:r>
              <a:rPr lang="es-MX" sz="1200" b="1" dirty="0">
                <a:effectLst/>
                <a:latin typeface="TimesNewRomanPS"/>
              </a:rPr>
              <a:t>sistemas operativos distribuidos. </a:t>
            </a:r>
            <a:endParaRPr lang="es-MX" dirty="0"/>
          </a:p>
          <a:p>
            <a:r>
              <a:rPr lang="es-MX" sz="1000" dirty="0">
                <a:effectLst/>
                <a:latin typeface="CourierNewPSMT" panose="02070309020205020404" pitchFamily="49" charset="0"/>
              </a:rPr>
              <a:t>o </a:t>
            </a:r>
            <a:r>
              <a:rPr lang="es-MX" sz="1200" i="1" dirty="0">
                <a:effectLst/>
                <a:latin typeface="TimesNewRomanPS"/>
              </a:rPr>
              <a:t>Sistemas operativos de red: </a:t>
            </a:r>
            <a:endParaRPr lang="es-MX" dirty="0"/>
          </a:p>
          <a:p>
            <a:pPr lvl="1">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Los usuarios están conscientes de la existencia de varias computadoras conectadas. </a:t>
            </a:r>
            <a:endParaRPr lang="es-MX" dirty="0">
              <a:effectLst/>
            </a:endParaRPr>
          </a:p>
          <a:p>
            <a:pPr lvl="1">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Cada máquina ejecuta su propio S. O. local. </a:t>
            </a:r>
            <a:endParaRPr lang="es-MX" sz="1200" dirty="0">
              <a:effectLst/>
              <a:latin typeface="+mn-lt"/>
            </a:endParaRPr>
          </a:p>
          <a:p>
            <a:pPr lvl="1">
              <a:buFont typeface="Arial" panose="020B0604020202020204" pitchFamily="34" charset="0"/>
              <a:buChar char="•"/>
            </a:pPr>
            <a:r>
              <a:rPr lang="es-MX" sz="1200" dirty="0">
                <a:effectLst/>
                <a:latin typeface="+mn-lt"/>
              </a:rPr>
              <a:t> </a:t>
            </a:r>
            <a:r>
              <a:rPr lang="es-MX" sz="1200" dirty="0">
                <a:effectLst/>
                <a:latin typeface="TimesNewRomanPSMT" panose="02020603050405020304" pitchFamily="18" charset="0"/>
              </a:rPr>
              <a:t>Son similares a los S. O. de un solo procesador pero con el agregado de:</a:t>
            </a:r>
            <a:br>
              <a:rPr lang="es-MX" sz="1200" dirty="0">
                <a:effectLst/>
                <a:latin typeface="TimesNewRomanPSMT" panose="02020603050405020304" pitchFamily="18" charset="0"/>
              </a:rPr>
            </a:br>
            <a:r>
              <a:rPr lang="es-MX" sz="1200" dirty="0">
                <a:effectLst/>
                <a:latin typeface="TimesNewRomanPSMT" panose="02020603050405020304" pitchFamily="18" charset="0"/>
              </a:rPr>
              <a:t>	-Controlador de interfaz de la red y su software de bajo nivel.</a:t>
            </a:r>
            <a:br>
              <a:rPr lang="es-MX" sz="1200" dirty="0">
                <a:effectLst/>
                <a:latin typeface="TimesNewRomanPSMT" panose="02020603050405020304" pitchFamily="18" charset="0"/>
              </a:rPr>
            </a:br>
            <a:r>
              <a:rPr lang="es-MX" sz="1200" dirty="0">
                <a:effectLst/>
                <a:latin typeface="TimesNewRomanPSMT" panose="02020603050405020304" pitchFamily="18" charset="0"/>
              </a:rPr>
              <a:t>	-Software para conexión y acceso a archivos remotos, etc. </a:t>
            </a:r>
            <a:endParaRPr lang="es-MX" dirty="0">
              <a:effectLst/>
            </a:endParaRPr>
          </a:p>
          <a:p>
            <a:r>
              <a:rPr lang="es-MX" sz="1000" dirty="0">
                <a:effectLst/>
                <a:latin typeface="CourierNewPSMT" panose="02070309020205020404" pitchFamily="49" charset="0"/>
              </a:rPr>
              <a:t>o </a:t>
            </a:r>
            <a:r>
              <a:rPr lang="es-MX" sz="1200" i="1" dirty="0">
                <a:effectLst/>
                <a:latin typeface="TimesNewRomanPS"/>
              </a:rPr>
              <a:t>Sistemas operativos distribuidos: </a:t>
            </a:r>
            <a:endParaRPr lang="es-MX" dirty="0"/>
          </a:p>
          <a:p>
            <a:pPr>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Aparece ante los usuarios como un S. O. de un solo procesador, </a:t>
            </a:r>
            <a:endParaRPr lang="es-MX" dirty="0">
              <a:effectLst/>
            </a:endParaRPr>
          </a:p>
          <a:p>
            <a:pPr>
              <a:buFont typeface="Arial" panose="020B0604020202020204" pitchFamily="34" charset="0"/>
              <a:buChar char="•"/>
            </a:pPr>
            <a:r>
              <a:rPr lang="es-MX" sz="1200" dirty="0">
                <a:effectLst/>
                <a:latin typeface="TimesNewRomanPSMT" panose="02020603050405020304" pitchFamily="18" charset="0"/>
              </a:rPr>
              <a:t>aún cuando de soporte a varios procesadores. </a:t>
            </a:r>
            <a:endParaRPr lang="es-MX" dirty="0">
              <a:effectLst/>
            </a:endParaRPr>
          </a:p>
          <a:p>
            <a:pPr>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Los usuarios no son conscientes del lugar donde se ejecutan sus </a:t>
            </a:r>
            <a:endParaRPr lang="es-MX" dirty="0">
              <a:effectLst/>
            </a:endParaRPr>
          </a:p>
          <a:p>
            <a:pPr>
              <a:buFont typeface="Arial" panose="020B0604020202020204" pitchFamily="34" charset="0"/>
              <a:buChar char="•"/>
            </a:pPr>
            <a:r>
              <a:rPr lang="es-MX" sz="1200" dirty="0">
                <a:effectLst/>
                <a:latin typeface="TimesNewRomanPSMT" panose="02020603050405020304" pitchFamily="18" charset="0"/>
              </a:rPr>
              <a:t>programas o donde se encuentran sus archivos, ya que lo debe </a:t>
            </a:r>
            <a:endParaRPr lang="es-MX" dirty="0">
              <a:effectLst/>
            </a:endParaRPr>
          </a:p>
          <a:p>
            <a:pPr>
              <a:buFont typeface="Arial" panose="020B0604020202020204" pitchFamily="34" charset="0"/>
              <a:buChar char="•"/>
            </a:pPr>
            <a:r>
              <a:rPr lang="es-MX" sz="1200" dirty="0">
                <a:effectLst/>
                <a:latin typeface="TimesNewRomanPSMT" panose="02020603050405020304" pitchFamily="18" charset="0"/>
              </a:rPr>
              <a:t>administrar el S. O. automáticamente. </a:t>
            </a:r>
            <a:endParaRPr lang="es-MX" dirty="0">
              <a:effectLst/>
            </a:endParaRPr>
          </a:p>
          <a:p>
            <a:pPr>
              <a:buFont typeface="Arial" panose="020B0604020202020204" pitchFamily="34" charset="0"/>
              <a:buChar char="•"/>
            </a:pPr>
            <a:r>
              <a:rPr lang="es-MX" sz="1000" dirty="0">
                <a:effectLst/>
                <a:latin typeface="Wingdings" pitchFamily="2" charset="2"/>
              </a:rPr>
              <a:t> </a:t>
            </a:r>
            <a:r>
              <a:rPr lang="es-MX" sz="1200" dirty="0">
                <a:effectLst/>
                <a:latin typeface="TimesNewRomanPSMT" panose="02020603050405020304" pitchFamily="18" charset="0"/>
              </a:rPr>
              <a:t>Deben permitir que un programa se ejecute mediante varios </a:t>
            </a:r>
            <a:endParaRPr lang="es-MX" dirty="0">
              <a:effectLst/>
            </a:endParaRPr>
          </a:p>
          <a:p>
            <a:pPr>
              <a:buFont typeface="Arial" panose="020B0604020202020204" pitchFamily="34" charset="0"/>
              <a:buChar char="•"/>
            </a:pPr>
            <a:r>
              <a:rPr lang="es-MX" sz="1200" dirty="0">
                <a:effectLst/>
                <a:latin typeface="TimesNewRomanPSMT" panose="02020603050405020304" pitchFamily="18" charset="0"/>
              </a:rPr>
              <a:t>procesadores a la vez, maximizando el paralelismo. </a:t>
            </a:r>
            <a:endParaRPr lang="es-MX" dirty="0">
              <a:effectLst/>
            </a:endParaRPr>
          </a:p>
          <a:p>
            <a:r>
              <a:rPr lang="es-MX" sz="1000" dirty="0">
                <a:effectLst/>
                <a:latin typeface="CourierNewPSMT" panose="02070309020205020404" pitchFamily="49" charset="0"/>
              </a:rPr>
              <a:t>o </a:t>
            </a:r>
            <a:r>
              <a:rPr lang="es-MX" sz="1200" dirty="0">
                <a:effectLst/>
                <a:latin typeface="TimesNewRomanPSMT" panose="02020603050405020304" pitchFamily="18" charset="0"/>
              </a:rPr>
              <a:t>Aparición de emuladores de terminal para el acceso a equipos remotos </a:t>
            </a:r>
            <a:r>
              <a:rPr lang="es-MX" sz="1200" dirty="0">
                <a:effectLst/>
                <a:latin typeface="+mn-lt"/>
              </a:rPr>
              <a:t> </a:t>
            </a:r>
            <a:r>
              <a:rPr lang="es-MX" sz="1200" dirty="0">
                <a:effectLst/>
                <a:latin typeface="TimesNewRomanPSMT" panose="02020603050405020304" pitchFamily="18" charset="0"/>
              </a:rPr>
              <a:t>desde computadoras personales (PC).</a:t>
            </a:r>
            <a:br>
              <a:rPr lang="es-MX" sz="1200" dirty="0">
                <a:effectLst/>
                <a:latin typeface="TimesNewRomanPSMT" panose="02020603050405020304" pitchFamily="18" charset="0"/>
              </a:rPr>
            </a:br>
            <a:r>
              <a:rPr lang="es-MX" sz="1000" dirty="0">
                <a:effectLst/>
                <a:latin typeface="CourierNewPSMT" panose="02070309020205020404" pitchFamily="49" charset="0"/>
              </a:rPr>
              <a:t>o </a:t>
            </a:r>
            <a:r>
              <a:rPr lang="es-MX" sz="1200" dirty="0">
                <a:effectLst/>
                <a:latin typeface="TimesNewRomanPSMT" panose="02020603050405020304" pitchFamily="18" charset="0"/>
              </a:rPr>
              <a:t>Gran énfasis en la </a:t>
            </a:r>
            <a:r>
              <a:rPr lang="es-MX" sz="1200" b="1" dirty="0">
                <a:effectLst/>
                <a:latin typeface="TimesNewRomanPS"/>
              </a:rPr>
              <a:t>seguridad</a:t>
            </a:r>
            <a:r>
              <a:rPr lang="es-MX" sz="1200" dirty="0">
                <a:effectLst/>
                <a:latin typeface="TimesNewRomanPSMT" panose="02020603050405020304" pitchFamily="18" charset="0"/>
              </a:rPr>
              <a:t>, en especial por el desarrollo de los sistemas de comunicaciones de datos.</a:t>
            </a:r>
            <a:br>
              <a:rPr lang="es-MX" sz="1200" dirty="0">
                <a:effectLst/>
                <a:latin typeface="TimesNewRomanPSMT" panose="02020603050405020304" pitchFamily="18" charset="0"/>
              </a:rPr>
            </a:br>
            <a:r>
              <a:rPr lang="es-MX" sz="1000" dirty="0">
                <a:effectLst/>
                <a:latin typeface="CourierNewPSMT" panose="02070309020205020404" pitchFamily="49" charset="0"/>
              </a:rPr>
              <a:t>o </a:t>
            </a:r>
            <a:r>
              <a:rPr lang="es-MX" sz="1200" dirty="0">
                <a:effectLst/>
                <a:latin typeface="TimesNewRomanPSMT" panose="02020603050405020304" pitchFamily="18" charset="0"/>
              </a:rPr>
              <a:t>El S. O. crea un ambiente de trabajo según el concepto de </a:t>
            </a:r>
            <a:r>
              <a:rPr lang="es-MX" sz="1200" b="1" dirty="0">
                <a:effectLst/>
                <a:latin typeface="TimesNewRomanPS"/>
              </a:rPr>
              <a:t>máquina virtual</a:t>
            </a:r>
            <a:r>
              <a:rPr lang="es-MX" sz="1200" dirty="0">
                <a:effectLst/>
                <a:latin typeface="TimesNewRomanPSMT" panose="02020603050405020304" pitchFamily="18" charset="0"/>
              </a:rPr>
              <a:t>, que lo aísla del funcionamiento interno de la máquina.</a:t>
            </a:r>
            <a:br>
              <a:rPr lang="es-MX" sz="1200" dirty="0">
                <a:effectLst/>
                <a:latin typeface="TimesNewRomanPSMT" panose="02020603050405020304" pitchFamily="18" charset="0"/>
              </a:rPr>
            </a:br>
            <a:r>
              <a:rPr lang="es-MX" sz="1000" dirty="0">
                <a:effectLst/>
                <a:latin typeface="CourierNewPSMT" panose="02070309020205020404" pitchFamily="49" charset="0"/>
              </a:rPr>
              <a:t>o </a:t>
            </a:r>
            <a:r>
              <a:rPr lang="es-MX" sz="1200" dirty="0">
                <a:effectLst/>
                <a:latin typeface="TimesNewRomanPSMT" panose="02020603050405020304" pitchFamily="18" charset="0"/>
              </a:rPr>
              <a:t>Proliferación de </a:t>
            </a:r>
            <a:r>
              <a:rPr lang="es-MX" sz="1200" b="1" dirty="0">
                <a:effectLst/>
                <a:latin typeface="TimesNewRomanPS"/>
              </a:rPr>
              <a:t>sistemas de bases de datos</a:t>
            </a:r>
            <a:r>
              <a:rPr lang="es-MX" sz="1200" dirty="0">
                <a:effectLst/>
                <a:latin typeface="TimesNewRomanPSMT" panose="02020603050405020304" pitchFamily="18" charset="0"/>
              </a:rPr>
              <a:t>, accesibles mediante redes </a:t>
            </a:r>
            <a:endParaRPr lang="es-MX" dirty="0"/>
          </a:p>
          <a:p>
            <a:r>
              <a:rPr lang="es-MX" sz="1200" dirty="0">
                <a:effectLst/>
                <a:latin typeface="TimesNewRomanPSMT" panose="02020603050405020304" pitchFamily="18" charset="0"/>
              </a:rPr>
              <a:t>de comunicación. </a:t>
            </a:r>
            <a:endParaRPr lang="es-MX" dirty="0"/>
          </a:p>
          <a:p>
            <a:endParaRPr lang="es-MX" dirty="0"/>
          </a:p>
        </p:txBody>
      </p:sp>
      <p:sp>
        <p:nvSpPr>
          <p:cNvPr id="4" name="3 Marcador de número de diapositiva"/>
          <p:cNvSpPr>
            <a:spLocks noGrp="1"/>
          </p:cNvSpPr>
          <p:nvPr>
            <p:ph type="sldNum" sz="quarter" idx="10"/>
          </p:nvPr>
        </p:nvSpPr>
        <p:spPr/>
        <p:txBody>
          <a:bodyPr/>
          <a:lstStyle/>
          <a:p>
            <a:fld id="{D5F76246-DD20-47AC-B405-07051C748D58}" type="slidenum">
              <a:rPr lang="es-MX" smtClean="0"/>
              <a:t>5</a:t>
            </a:fld>
            <a:endParaRPr lang="es-MX"/>
          </a:p>
        </p:txBody>
      </p:sp>
    </p:spTree>
    <p:extLst>
      <p:ext uri="{BB962C8B-B14F-4D97-AF65-F5344CB8AC3E}">
        <p14:creationId xmlns:p14="http://schemas.microsoft.com/office/powerpoint/2010/main" val="1068026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nuevo milenio produjo grandes cambios en el mercado de los sistemas operativos aumentando en gran medida la competencia entre los diferentes desarrolladores siendo Windows, Unix y Mac OS los más competitivos, siempre buscando la facilidad y mejoramiento de recursos para el usuario. Y haciendo que estos se orienten a desarrollar para plataformas distribuidas y computación móvil e inalámbrica, y que cada vez más utilice el internet para sus diferentes fines.</a:t>
            </a:r>
          </a:p>
        </p:txBody>
      </p:sp>
      <p:sp>
        <p:nvSpPr>
          <p:cNvPr id="4" name="Marcador de número de diapositiva 3"/>
          <p:cNvSpPr>
            <a:spLocks noGrp="1"/>
          </p:cNvSpPr>
          <p:nvPr>
            <p:ph type="sldNum" sz="quarter" idx="5"/>
          </p:nvPr>
        </p:nvSpPr>
        <p:spPr/>
        <p:txBody>
          <a:bodyPr/>
          <a:lstStyle/>
          <a:p>
            <a:fld id="{D5F76246-DD20-47AC-B405-07051C748D58}" type="slidenum">
              <a:rPr lang="es-MX" smtClean="0"/>
              <a:t>6</a:t>
            </a:fld>
            <a:endParaRPr lang="es-MX"/>
          </a:p>
        </p:txBody>
      </p:sp>
    </p:spTree>
    <p:extLst>
      <p:ext uri="{BB962C8B-B14F-4D97-AF65-F5344CB8AC3E}">
        <p14:creationId xmlns:p14="http://schemas.microsoft.com/office/powerpoint/2010/main" val="21702886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s-ES_tradnl"/>
              <a:t>Clic para editar título</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Haga clic para modificar el estilo de subtítulo del patrón</a:t>
            </a:r>
            <a:endParaRPr lang="en-US" dirty="0"/>
          </a:p>
        </p:txBody>
      </p:sp>
      <p:sp>
        <p:nvSpPr>
          <p:cNvPr id="4" name="Date Placeholder 3"/>
          <p:cNvSpPr>
            <a:spLocks noGrp="1"/>
          </p:cNvSpPr>
          <p:nvPr>
            <p:ph type="dt" sz="half" idx="10"/>
          </p:nvPr>
        </p:nvSpPr>
        <p:spPr>
          <a:xfrm>
            <a:off x="6065417" y="5054602"/>
            <a:ext cx="673276" cy="279400"/>
          </a:xfrm>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a:xfrm>
            <a:off x="1921934" y="5054602"/>
            <a:ext cx="4064860" cy="279400"/>
          </a:xfrm>
        </p:spPr>
        <p:txBody>
          <a:bodyPr/>
          <a:lstStyle/>
          <a:p>
            <a:endParaRPr lang="es-MX"/>
          </a:p>
        </p:txBody>
      </p:sp>
      <p:sp>
        <p:nvSpPr>
          <p:cNvPr id="6" name="Slide Number Placeholder 5"/>
          <p:cNvSpPr>
            <a:spLocks noGrp="1"/>
          </p:cNvSpPr>
          <p:nvPr>
            <p:ph type="sldNum" sz="quarter" idx="12"/>
          </p:nvPr>
        </p:nvSpPr>
        <p:spPr>
          <a:xfrm>
            <a:off x="6817317" y="5054602"/>
            <a:ext cx="413483" cy="279400"/>
          </a:xfrm>
        </p:spPr>
        <p:txBody>
          <a:bodyPr/>
          <a:lstStyle/>
          <a:p>
            <a:fld id="{E9644E8A-8F1D-4D2C-8162-5DB1FB5414DB}" type="slidenum">
              <a:rPr lang="es-MX" smtClean="0"/>
              <a:t>‹Nº›</a:t>
            </a:fld>
            <a:endParaRPr lang="es-MX"/>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67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_tradnl"/>
              <a:t>Clic para editar título</a:t>
            </a:r>
            <a:endParaRPr lang="en-US" dirty="0"/>
          </a:p>
        </p:txBody>
      </p:sp>
      <p:sp>
        <p:nvSpPr>
          <p:cNvPr id="3" name="Content Placeholder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644E8A-8F1D-4D2C-8162-5DB1FB5414DB}" type="slidenum">
              <a:rPr lang="es-MX" smtClean="0"/>
              <a:t>‹Nº›</a:t>
            </a:fld>
            <a:endParaRPr lang="es-MX"/>
          </a:p>
        </p:txBody>
      </p:sp>
    </p:spTree>
    <p:extLst>
      <p:ext uri="{BB962C8B-B14F-4D97-AF65-F5344CB8AC3E}">
        <p14:creationId xmlns:p14="http://schemas.microsoft.com/office/powerpoint/2010/main" val="880451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s-ES_tradnl"/>
              <a:t>Clic para editar título</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644E8A-8F1D-4D2C-8162-5DB1FB5414DB}" type="slidenum">
              <a:rPr lang="es-MX" smtClean="0"/>
              <a:t>‹Nº›</a:t>
            </a:fld>
            <a:endParaRPr lang="es-MX"/>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066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s-ES_tradnl"/>
              <a:t>Clic para editar título</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Date Placeholder 4"/>
          <p:cNvSpPr>
            <a:spLocks noGrp="1"/>
          </p:cNvSpPr>
          <p:nvPr>
            <p:ph type="dt" sz="half" idx="10"/>
          </p:nvPr>
        </p:nvSpPr>
        <p:spPr/>
        <p:txBody>
          <a:bodyPr/>
          <a:lstStyle/>
          <a:p>
            <a:fld id="{2511244F-9878-4ECF-A89E-21F1EF19E6C0}" type="datetimeFigureOut">
              <a:rPr lang="es-MX" smtClean="0"/>
              <a:t>23/02/21</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644E8A-8F1D-4D2C-8162-5DB1FB5414DB}" type="slidenum">
              <a:rPr lang="es-MX" smtClean="0"/>
              <a:t>‹Nº›</a:t>
            </a:fld>
            <a:endParaRPr lang="es-MX"/>
          </a:p>
        </p:txBody>
      </p:sp>
    </p:spTree>
    <p:extLst>
      <p:ext uri="{BB962C8B-B14F-4D97-AF65-F5344CB8AC3E}">
        <p14:creationId xmlns:p14="http://schemas.microsoft.com/office/powerpoint/2010/main" val="213457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_tradnl"/>
              <a:t>Clic para editar título</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7" name="Date Placeholder 6"/>
          <p:cNvSpPr>
            <a:spLocks noGrp="1"/>
          </p:cNvSpPr>
          <p:nvPr>
            <p:ph type="dt" sz="half" idx="10"/>
          </p:nvPr>
        </p:nvSpPr>
        <p:spPr/>
        <p:txBody>
          <a:bodyPr/>
          <a:lstStyle/>
          <a:p>
            <a:fld id="{2511244F-9878-4ECF-A89E-21F1EF19E6C0}" type="datetimeFigureOut">
              <a:rPr lang="es-MX" smtClean="0"/>
              <a:t>23/02/21</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E9644E8A-8F1D-4D2C-8162-5DB1FB5414DB}" type="slidenum">
              <a:rPr lang="es-MX" smtClean="0"/>
              <a:t>‹Nº›</a:t>
            </a:fld>
            <a:endParaRPr lang="es-MX"/>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1856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s-ES_tradnl"/>
              <a:t>Clic para editar título</a:t>
            </a:r>
            <a:endParaRPr lang="en-US" dirty="0"/>
          </a:p>
        </p:txBody>
      </p:sp>
      <p:sp>
        <p:nvSpPr>
          <p:cNvPr id="3" name="Date Placeholder 2"/>
          <p:cNvSpPr>
            <a:spLocks noGrp="1"/>
          </p:cNvSpPr>
          <p:nvPr>
            <p:ph type="dt" sz="half" idx="10"/>
          </p:nvPr>
        </p:nvSpPr>
        <p:spPr/>
        <p:txBody>
          <a:bodyPr/>
          <a:lstStyle/>
          <a:p>
            <a:fld id="{2511244F-9878-4ECF-A89E-21F1EF19E6C0}" type="datetimeFigureOut">
              <a:rPr lang="es-MX" smtClean="0"/>
              <a:t>23/02/21</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E9644E8A-8F1D-4D2C-8162-5DB1FB5414DB}" type="slidenum">
              <a:rPr lang="es-MX" smtClean="0"/>
              <a:t>‹Nº›</a:t>
            </a:fld>
            <a:endParaRPr lang="es-MX"/>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6870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11244F-9878-4ECF-A89E-21F1EF19E6C0}" type="datetimeFigureOut">
              <a:rPr lang="es-MX" smtClean="0"/>
              <a:t>23/02/21</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E9644E8A-8F1D-4D2C-8162-5DB1FB5414DB}" type="slidenum">
              <a:rPr lang="es-MX" smtClean="0"/>
              <a:t>‹Nº›</a:t>
            </a:fld>
            <a:endParaRPr lang="es-MX"/>
          </a:p>
        </p:txBody>
      </p:sp>
    </p:spTree>
    <p:extLst>
      <p:ext uri="{BB962C8B-B14F-4D97-AF65-F5344CB8AC3E}">
        <p14:creationId xmlns:p14="http://schemas.microsoft.com/office/powerpoint/2010/main" val="1275258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s-ES_tradnl"/>
              <a:t>Clic para editar título</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2511244F-9878-4ECF-A89E-21F1EF19E6C0}" type="datetimeFigureOut">
              <a:rPr lang="es-MX" smtClean="0"/>
              <a:t>23/02/21</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644E8A-8F1D-4D2C-8162-5DB1FB5414DB}" type="slidenum">
              <a:rPr lang="es-MX" smtClean="0"/>
              <a:t>‹Nº›</a:t>
            </a:fld>
            <a:endParaRPr lang="es-MX"/>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913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s-ES_tradnl"/>
              <a:t>Clic para editar título</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_tradnl"/>
              <a:t>Arrastre la imagen al marcador de posición o haga clic en el icono para agregarla</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2511244F-9878-4ECF-A89E-21F1EF19E6C0}" type="datetimeFigureOut">
              <a:rPr lang="es-MX" smtClean="0"/>
              <a:t>23/02/21</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644E8A-8F1D-4D2C-8162-5DB1FB5414DB}" type="slidenum">
              <a:rPr lang="es-MX" smtClean="0"/>
              <a:t>‹Nº›</a:t>
            </a:fld>
            <a:endParaRPr lang="es-MX"/>
          </a:p>
        </p:txBody>
      </p:sp>
    </p:spTree>
    <p:extLst>
      <p:ext uri="{BB962C8B-B14F-4D97-AF65-F5344CB8AC3E}">
        <p14:creationId xmlns:p14="http://schemas.microsoft.com/office/powerpoint/2010/main" val="1722251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s-ES_tradnl"/>
              <a:t>Clic para editar título</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_tradnl"/>
              <a:t>Arrastre la imagen al marcador de posición o haga clic en el icono para agregarla</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2511244F-9878-4ECF-A89E-21F1EF19E6C0}" type="datetimeFigureOut">
              <a:rPr lang="es-MX" smtClean="0"/>
              <a:t>23/02/21</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644E8A-8F1D-4D2C-8162-5DB1FB5414DB}" type="slidenum">
              <a:rPr lang="es-MX" smtClean="0"/>
              <a:t>‹Nº›</a:t>
            </a:fld>
            <a:endParaRPr lang="es-MX"/>
          </a:p>
        </p:txBody>
      </p:sp>
    </p:spTree>
    <p:extLst>
      <p:ext uri="{BB962C8B-B14F-4D97-AF65-F5344CB8AC3E}">
        <p14:creationId xmlns:p14="http://schemas.microsoft.com/office/powerpoint/2010/main" val="2096416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s-ES_tradnl"/>
              <a:t>Clic para editar título</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644E8A-8F1D-4D2C-8162-5DB1FB5414DB}" type="slidenum">
              <a:rPr lang="es-MX" smtClean="0"/>
              <a:t>‹Nº›</a:t>
            </a:fld>
            <a:endParaRPr lang="es-MX"/>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0524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s-ES_tradnl"/>
              <a:t>Clic para editar título</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_tradnl"/>
              <a:t>Haga clic para modificar el estilo de texto del patrón</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644E8A-8F1D-4D2C-8162-5DB1FB5414DB}" type="slidenum">
              <a:rPr lang="es-MX" smtClean="0"/>
              <a:t>‹Nº›</a:t>
            </a:fld>
            <a:endParaRPr lang="es-MX"/>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2093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s-ES_tradnl"/>
              <a:t>Clic para editar título</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644E8A-8F1D-4D2C-8162-5DB1FB5414DB}" type="slidenum">
              <a:rPr lang="es-MX" smtClean="0"/>
              <a:t>‹Nº›</a:t>
            </a:fld>
            <a:endParaRPr lang="es-MX"/>
          </a:p>
        </p:txBody>
      </p:sp>
    </p:spTree>
    <p:extLst>
      <p:ext uri="{BB962C8B-B14F-4D97-AF65-F5344CB8AC3E}">
        <p14:creationId xmlns:p14="http://schemas.microsoft.com/office/powerpoint/2010/main" val="120922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s-ES_tradnl"/>
              <a:t>Clic para editar título</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644E8A-8F1D-4D2C-8162-5DB1FB5414DB}" type="slidenum">
              <a:rPr lang="es-MX" smtClean="0"/>
              <a:t>‹Nº›</a:t>
            </a:fld>
            <a:endParaRPr lang="es-MX"/>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0910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s-ES_tradnl"/>
              <a:t>Clic para editar título</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644E8A-8F1D-4D2C-8162-5DB1FB5414DB}" type="slidenum">
              <a:rPr lang="es-MX" smtClean="0"/>
              <a:t>‹Nº›</a:t>
            </a:fld>
            <a:endParaRPr lang="es-MX"/>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8917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_tradnl"/>
              <a:t>Clic para editar título</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644E8A-8F1D-4D2C-8162-5DB1FB5414DB}" type="slidenum">
              <a:rPr lang="es-MX" smtClean="0"/>
              <a:t>‹Nº›</a:t>
            </a:fld>
            <a:endParaRPr lang="es-MX"/>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1957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s-ES_tradnl"/>
              <a:t>Clic para editar título</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2511244F-9878-4ECF-A89E-21F1EF19E6C0}" type="datetimeFigureOut">
              <a:rPr lang="es-MX" smtClean="0"/>
              <a:t>23/02/21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644E8A-8F1D-4D2C-8162-5DB1FB5414DB}" type="slidenum">
              <a:rPr lang="es-MX" smtClean="0"/>
              <a:t>‹Nº›</a:t>
            </a:fld>
            <a:endParaRPr lang="es-MX"/>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1867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s-ES_tradnl"/>
              <a:t>Clic para editar título</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511244F-9878-4ECF-A89E-21F1EF19E6C0}" type="datetimeFigureOut">
              <a:rPr lang="es-MX" smtClean="0"/>
              <a:t>23/02/21</a:t>
            </a:fld>
            <a:endParaRPr lang="es-MX"/>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s-MX"/>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9644E8A-8F1D-4D2C-8162-5DB1FB5414DB}" type="slidenum">
              <a:rPr lang="es-MX" smtClean="0"/>
              <a:t>‹Nº›</a:t>
            </a:fld>
            <a:endParaRPr lang="es-MX"/>
          </a:p>
        </p:txBody>
      </p:sp>
    </p:spTree>
    <p:extLst>
      <p:ext uri="{BB962C8B-B14F-4D97-AF65-F5344CB8AC3E}">
        <p14:creationId xmlns:p14="http://schemas.microsoft.com/office/powerpoint/2010/main" val="785040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467544" y="764704"/>
            <a:ext cx="8208912" cy="461665"/>
          </a:xfrm>
          <a:prstGeom prst="rect">
            <a:avLst/>
          </a:prstGeom>
          <a:noFill/>
        </p:spPr>
        <p:txBody>
          <a:bodyPr wrap="square" rtlCol="0">
            <a:spAutoFit/>
          </a:bodyPr>
          <a:lstStyle/>
          <a:p>
            <a:pPr algn="ctr"/>
            <a:r>
              <a:rPr lang="es-MX" sz="2400" dirty="0"/>
              <a:t>Generación 0 (1940)</a:t>
            </a:r>
            <a:r>
              <a:rPr lang="es-ES_tradnl" sz="2400" dirty="0"/>
              <a:t> </a:t>
            </a:r>
            <a:r>
              <a:rPr lang="es-MX" sz="2400" dirty="0"/>
              <a:t>.</a:t>
            </a:r>
          </a:p>
        </p:txBody>
      </p:sp>
      <p:pic>
        <p:nvPicPr>
          <p:cNvPr id="1028" name="Picture 4" descr="Imagen relacionada"/>
          <p:cNvPicPr>
            <a:picLocks noChangeAspect="1" noChangeArrowheads="1"/>
          </p:cNvPicPr>
          <p:nvPr/>
        </p:nvPicPr>
        <p:blipFill>
          <a:blip r:embed="rId3" cstate="print"/>
          <a:srcRect/>
          <a:stretch>
            <a:fillRect/>
          </a:stretch>
        </p:blipFill>
        <p:spPr bwMode="auto">
          <a:xfrm>
            <a:off x="2267744" y="2564904"/>
            <a:ext cx="4000500" cy="3743325"/>
          </a:xfrm>
          <a:prstGeom prst="rect">
            <a:avLst/>
          </a:prstGeom>
          <a:noFill/>
        </p:spPr>
      </p:pic>
      <p:sp>
        <p:nvSpPr>
          <p:cNvPr id="1029" name="Rectangle 5"/>
          <p:cNvSpPr>
            <a:spLocks noChangeArrowheads="1"/>
          </p:cNvSpPr>
          <p:nvPr/>
        </p:nvSpPr>
        <p:spPr bwMode="auto">
          <a:xfrm>
            <a:off x="2267744" y="1572471"/>
            <a:ext cx="4240263"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s-MX" b="0" i="0" u="none" strike="noStrike" cap="none" normalizeH="0" baseline="0" dirty="0">
                <a:ln>
                  <a:noFill/>
                </a:ln>
                <a:solidFill>
                  <a:srgbClr val="353535"/>
                </a:solidFill>
                <a:effectLst/>
                <a:latin typeface="Helvetica"/>
                <a:ea typeface="Times New Roman" pitchFamily="18" charset="0"/>
                <a:cs typeface="Times New Roman" pitchFamily="18" charset="0"/>
              </a:rPr>
              <a:t>Carencia total del S.O.</a:t>
            </a:r>
            <a:endParaRPr kumimoji="0" lang="es-MX"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b="0" i="0" u="none" strike="noStrike" cap="none" normalizeH="0" baseline="0" dirty="0">
                <a:ln>
                  <a:noFill/>
                </a:ln>
                <a:solidFill>
                  <a:srgbClr val="353535"/>
                </a:solidFill>
                <a:effectLst/>
                <a:latin typeface="Helvetica"/>
                <a:ea typeface="Times New Roman" pitchFamily="18" charset="0"/>
                <a:cs typeface="Times New Roman" pitchFamily="18" charset="0"/>
              </a:rPr>
              <a:t>Completo acceso al lenguaje maquina.</a:t>
            </a:r>
            <a:endParaRPr kumimoji="0" lang="es-MX"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Resultado de imagen para sistemas operativos primera generacion"/>
          <p:cNvPicPr>
            <a:picLocks noChangeAspect="1" noChangeArrowheads="1"/>
          </p:cNvPicPr>
          <p:nvPr/>
        </p:nvPicPr>
        <p:blipFill>
          <a:blip r:embed="rId3" cstate="print"/>
          <a:srcRect/>
          <a:stretch>
            <a:fillRect/>
          </a:stretch>
        </p:blipFill>
        <p:spPr bwMode="auto">
          <a:xfrm>
            <a:off x="2123728" y="2492896"/>
            <a:ext cx="4791075" cy="3743325"/>
          </a:xfrm>
          <a:prstGeom prst="rect">
            <a:avLst/>
          </a:prstGeom>
          <a:noFill/>
        </p:spPr>
      </p:pic>
      <p:sp>
        <p:nvSpPr>
          <p:cNvPr id="7" name="6 Rectángulo"/>
          <p:cNvSpPr/>
          <p:nvPr/>
        </p:nvSpPr>
        <p:spPr>
          <a:xfrm>
            <a:off x="611560" y="592369"/>
            <a:ext cx="8089074" cy="461665"/>
          </a:xfrm>
          <a:prstGeom prst="rect">
            <a:avLst/>
          </a:prstGeom>
        </p:spPr>
        <p:txBody>
          <a:bodyPr wrap="none">
            <a:spAutoFit/>
          </a:bodyPr>
          <a:lstStyle/>
          <a:p>
            <a:r>
              <a:rPr lang="es-MX" sz="2400" dirty="0">
                <a:solidFill>
                  <a:prstClr val="black"/>
                </a:solidFill>
              </a:rPr>
              <a:t>Primera Generación </a:t>
            </a:r>
            <a:r>
              <a:rPr lang="es-MX" sz="2400" dirty="0"/>
              <a:t>(1945-1955): Bulbos y conexiones.</a:t>
            </a:r>
            <a:r>
              <a:rPr lang="es-ES_tradnl" sz="2400" dirty="0"/>
              <a:t> </a:t>
            </a:r>
            <a:r>
              <a:rPr lang="es-MX" sz="2400" dirty="0">
                <a:solidFill>
                  <a:prstClr val="black"/>
                </a:solidFill>
              </a:rPr>
              <a:t> </a:t>
            </a:r>
            <a:endParaRPr lang="es-MX" dirty="0"/>
          </a:p>
        </p:txBody>
      </p:sp>
      <p:sp>
        <p:nvSpPr>
          <p:cNvPr id="15361" name="Rectangle 1"/>
          <p:cNvSpPr>
            <a:spLocks noChangeArrowheads="1"/>
          </p:cNvSpPr>
          <p:nvPr/>
        </p:nvSpPr>
        <p:spPr bwMode="auto">
          <a:xfrm>
            <a:off x="395536" y="1390219"/>
            <a:ext cx="3103157"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s-MX" b="0" i="0" u="none" strike="noStrike" cap="none" normalizeH="0" baseline="0" dirty="0">
                <a:ln>
                  <a:noFill/>
                </a:ln>
                <a:solidFill>
                  <a:srgbClr val="353535"/>
                </a:solidFill>
                <a:effectLst/>
                <a:latin typeface="Helvetica" charset="0"/>
                <a:ea typeface="Times New Roman" pitchFamily="18" charset="0"/>
                <a:cs typeface="Times New Roman" pitchFamily="18" charset="0"/>
              </a:rPr>
              <a:t>Carencia de S.O. </a:t>
            </a:r>
            <a:endParaRPr kumimoji="0" lang="es-MX"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b="0" i="0" u="none" strike="noStrike" cap="none" normalizeH="0" baseline="0" dirty="0">
                <a:ln>
                  <a:noFill/>
                </a:ln>
                <a:solidFill>
                  <a:srgbClr val="353535"/>
                </a:solidFill>
                <a:effectLst/>
                <a:latin typeface="Helvetica" charset="0"/>
                <a:ea typeface="Times New Roman" pitchFamily="18" charset="0"/>
                <a:cs typeface="Times New Roman" pitchFamily="18" charset="0"/>
              </a:rPr>
              <a:t>Trabajos de solo un usuario</a:t>
            </a:r>
            <a:endParaRPr kumimoji="0" lang="es-MX"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827584" y="472896"/>
            <a:ext cx="8626079" cy="830997"/>
          </a:xfrm>
          <a:prstGeom prst="rect">
            <a:avLst/>
          </a:prstGeom>
        </p:spPr>
        <p:txBody>
          <a:bodyPr wrap="none">
            <a:spAutoFit/>
          </a:bodyPr>
          <a:lstStyle/>
          <a:p>
            <a:r>
              <a:rPr lang="es-MX" sz="2400" dirty="0">
                <a:solidFill>
                  <a:prstClr val="black"/>
                </a:solidFill>
              </a:rPr>
              <a:t>Segunda Generación </a:t>
            </a:r>
            <a:r>
              <a:rPr lang="es-MX" sz="2400" dirty="0"/>
              <a:t>(1955-1965</a:t>
            </a:r>
            <a:r>
              <a:rPr lang="es-MX" sz="2400"/>
              <a:t>): </a:t>
            </a:r>
          </a:p>
          <a:p>
            <a:r>
              <a:rPr lang="es-MX" sz="2400" dirty="0"/>
              <a:t>Transistores y sistemas de procesamiento por lotes (Batch).</a:t>
            </a:r>
            <a:endParaRPr lang="es-ES_tradnl" sz="2400" dirty="0"/>
          </a:p>
        </p:txBody>
      </p:sp>
      <p:pic>
        <p:nvPicPr>
          <p:cNvPr id="16386" name="Picture 2" descr="Imagen relacionada"/>
          <p:cNvPicPr>
            <a:picLocks noChangeAspect="1" noChangeArrowheads="1"/>
          </p:cNvPicPr>
          <p:nvPr/>
        </p:nvPicPr>
        <p:blipFill>
          <a:blip r:embed="rId3" cstate="print"/>
          <a:srcRect/>
          <a:stretch>
            <a:fillRect/>
          </a:stretch>
        </p:blipFill>
        <p:spPr bwMode="auto">
          <a:xfrm>
            <a:off x="1979712" y="2492896"/>
            <a:ext cx="4876800" cy="3743325"/>
          </a:xfrm>
          <a:prstGeom prst="rect">
            <a:avLst/>
          </a:prstGeom>
          <a:noFill/>
        </p:spPr>
      </p:pic>
      <p:sp>
        <p:nvSpPr>
          <p:cNvPr id="16391" name="Rectangle 7"/>
          <p:cNvSpPr>
            <a:spLocks noChangeArrowheads="1"/>
          </p:cNvSpPr>
          <p:nvPr/>
        </p:nvSpPr>
        <p:spPr bwMode="auto">
          <a:xfrm>
            <a:off x="1043608" y="1396686"/>
            <a:ext cx="5404043"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s-MX" b="0" i="0" u="none" strike="noStrike" cap="none" normalizeH="0" baseline="0" dirty="0">
                <a:ln>
                  <a:noFill/>
                </a:ln>
                <a:solidFill>
                  <a:srgbClr val="353535"/>
                </a:solidFill>
                <a:effectLst/>
                <a:latin typeface="Century Gothic" pitchFamily="34" charset="0"/>
                <a:ea typeface="Times New Roman" pitchFamily="18" charset="0"/>
                <a:cs typeface="Times New Roman" pitchFamily="18" charset="0"/>
              </a:rPr>
              <a:t>Aparecen los S.O para sistemas compartidos.</a:t>
            </a:r>
          </a:p>
          <a:p>
            <a:pPr fontAlgn="base">
              <a:spcBef>
                <a:spcPct val="0"/>
              </a:spcBef>
              <a:spcAft>
                <a:spcPct val="0"/>
              </a:spcAft>
              <a:buFontTx/>
              <a:buChar char="•"/>
            </a:pPr>
            <a:r>
              <a:rPr lang="es-MX" dirty="0">
                <a:latin typeface="Century Gothic" pitchFamily="34" charset="0"/>
              </a:rPr>
              <a:t>Independencia del dispositivo.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1947067" y="543930"/>
            <a:ext cx="6301725" cy="830997"/>
          </a:xfrm>
          <a:prstGeom prst="rect">
            <a:avLst/>
          </a:prstGeom>
        </p:spPr>
        <p:txBody>
          <a:bodyPr wrap="none">
            <a:spAutoFit/>
          </a:bodyPr>
          <a:lstStyle/>
          <a:p>
            <a:r>
              <a:rPr lang="es-MX" sz="2400" dirty="0">
                <a:solidFill>
                  <a:prstClr val="black"/>
                </a:solidFill>
              </a:rPr>
              <a:t>Tercera Generación </a:t>
            </a:r>
            <a:r>
              <a:rPr lang="es-MX" sz="2400" dirty="0"/>
              <a:t>(1965-1980): </a:t>
            </a:r>
          </a:p>
          <a:p>
            <a:r>
              <a:rPr lang="es-MX" sz="2400" dirty="0"/>
              <a:t>circuitos integrados y multiprogramación.</a:t>
            </a:r>
            <a:r>
              <a:rPr lang="es-ES_tradnl" sz="2400" dirty="0"/>
              <a:t> </a:t>
            </a:r>
            <a:r>
              <a:rPr lang="es-MX" sz="2400" dirty="0">
                <a:solidFill>
                  <a:prstClr val="black"/>
                </a:solidFill>
              </a:rPr>
              <a:t> </a:t>
            </a:r>
            <a:endParaRPr lang="es-MX" dirty="0"/>
          </a:p>
        </p:txBody>
      </p:sp>
      <p:pic>
        <p:nvPicPr>
          <p:cNvPr id="20482" name="Picture 2" descr="Imagen relacionada"/>
          <p:cNvPicPr>
            <a:picLocks noChangeAspect="1" noChangeArrowheads="1"/>
          </p:cNvPicPr>
          <p:nvPr/>
        </p:nvPicPr>
        <p:blipFill>
          <a:blip r:embed="rId3" cstate="print"/>
          <a:srcRect/>
          <a:stretch>
            <a:fillRect/>
          </a:stretch>
        </p:blipFill>
        <p:spPr bwMode="auto">
          <a:xfrm>
            <a:off x="4211960" y="1456600"/>
            <a:ext cx="3888432" cy="3157343"/>
          </a:xfrm>
          <a:prstGeom prst="rect">
            <a:avLst/>
          </a:prstGeom>
          <a:noFill/>
        </p:spPr>
      </p:pic>
      <p:sp>
        <p:nvSpPr>
          <p:cNvPr id="20483" name="Rectangle 3"/>
          <p:cNvSpPr>
            <a:spLocks noChangeArrowheads="1"/>
          </p:cNvSpPr>
          <p:nvPr/>
        </p:nvSpPr>
        <p:spPr bwMode="auto">
          <a:xfrm>
            <a:off x="430624" y="4681763"/>
            <a:ext cx="8247771" cy="163121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s-MX" sz="2000" b="0" i="0" u="none" strike="noStrike" cap="none" normalizeH="0" baseline="0" dirty="0">
                <a:ln>
                  <a:noFill/>
                </a:ln>
                <a:solidFill>
                  <a:srgbClr val="353535"/>
                </a:solidFill>
                <a:effectLst/>
                <a:latin typeface="Century Gothic" pitchFamily="34" charset="0"/>
                <a:ea typeface="Times New Roman" pitchFamily="18" charset="0"/>
                <a:cs typeface="Times New Roman" pitchFamily="18" charset="0"/>
              </a:rPr>
              <a:t>Difusión de la multiprogramación:</a:t>
            </a:r>
            <a:endParaRPr kumimoji="0" lang="es-MX" sz="2000" b="0" i="0" u="none" strike="noStrike" cap="none" normalizeH="0" baseline="0" dirty="0">
              <a:ln>
                <a:noFill/>
              </a:ln>
              <a:solidFill>
                <a:schemeClr val="tx1"/>
              </a:solidFill>
              <a:effectLst/>
              <a:latin typeface="Century Gothic"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sz="2000" b="0" i="0" u="none" strike="noStrike" cap="none" normalizeH="0" baseline="0" dirty="0">
                <a:ln>
                  <a:noFill/>
                </a:ln>
                <a:solidFill>
                  <a:srgbClr val="353535"/>
                </a:solidFill>
                <a:effectLst/>
                <a:latin typeface="Century Gothic" pitchFamily="34" charset="0"/>
                <a:ea typeface="Times New Roman" pitchFamily="18" charset="0"/>
                <a:cs typeface="Times New Roman" pitchFamily="18" charset="0"/>
              </a:rPr>
              <a:t>Sistemas de modos múltiples:</a:t>
            </a:r>
            <a:endParaRPr kumimoji="0" lang="es-MX" sz="2000" b="0" i="0" u="none" strike="noStrike" cap="none" normalizeH="0" baseline="0" dirty="0">
              <a:ln>
                <a:noFill/>
              </a:ln>
              <a:solidFill>
                <a:schemeClr val="tx1"/>
              </a:solidFill>
              <a:effectLst/>
              <a:latin typeface="Century Gothic"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sz="2000" b="0" i="0" u="none" strike="noStrike" cap="none" normalizeH="0" baseline="0" dirty="0">
                <a:ln>
                  <a:noFill/>
                </a:ln>
                <a:solidFill>
                  <a:srgbClr val="353535"/>
                </a:solidFill>
                <a:effectLst/>
                <a:latin typeface="Century Gothic" pitchFamily="34" charset="0"/>
                <a:ea typeface="Times New Roman" pitchFamily="18" charset="0"/>
                <a:cs typeface="Times New Roman" pitchFamily="18" charset="0"/>
              </a:rPr>
              <a:t>Interponen una capa de software entre el usuario y la maquina</a:t>
            </a:r>
            <a:endParaRPr kumimoji="0" lang="es-MX" sz="2000" b="0" i="0" u="none" strike="noStrike" cap="none" normalizeH="0" baseline="0" dirty="0">
              <a:ln>
                <a:noFill/>
              </a:ln>
              <a:solidFill>
                <a:schemeClr val="tx1"/>
              </a:solidFill>
              <a:effectLst/>
              <a:latin typeface="Century Gothic"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sz="2000" b="0" i="0" u="none" strike="noStrike" cap="none" normalizeH="0" baseline="0" dirty="0">
                <a:ln>
                  <a:noFill/>
                </a:ln>
                <a:solidFill>
                  <a:srgbClr val="353535"/>
                </a:solidFill>
                <a:effectLst/>
                <a:latin typeface="Century Gothic" pitchFamily="34" charset="0"/>
                <a:ea typeface="Times New Roman" pitchFamily="18" charset="0"/>
                <a:cs typeface="Times New Roman" pitchFamily="18" charset="0"/>
              </a:rPr>
              <a:t>Aparecen los lenguajes de control de trabajos.</a:t>
            </a:r>
            <a:endParaRPr kumimoji="0" lang="es-MX" sz="2000" b="0" i="0" u="none" strike="noStrike" cap="none" normalizeH="0" baseline="0" dirty="0">
              <a:ln>
                <a:noFill/>
              </a:ln>
              <a:solidFill>
                <a:schemeClr val="tx1"/>
              </a:solidFill>
              <a:effectLst/>
              <a:latin typeface="Century Gothic"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sz="2000" b="0" i="0" u="none" strike="noStrike" cap="none" normalizeH="0" baseline="0" dirty="0">
                <a:ln>
                  <a:noFill/>
                </a:ln>
                <a:solidFill>
                  <a:srgbClr val="353535"/>
                </a:solidFill>
                <a:effectLst/>
                <a:latin typeface="Century Gothic" pitchFamily="34" charset="0"/>
                <a:ea typeface="Times New Roman" pitchFamily="18" charset="0"/>
                <a:cs typeface="Times New Roman" pitchFamily="18" charset="0"/>
              </a:rPr>
              <a:t>Aparecen los sistemas de tiempo real.</a:t>
            </a:r>
            <a:endParaRPr kumimoji="0" lang="es-MX" sz="2000" b="0" i="0" u="none" strike="noStrike" cap="none" normalizeH="0" baseline="0" dirty="0">
              <a:ln>
                <a:noFill/>
              </a:ln>
              <a:solidFill>
                <a:schemeClr val="tx1"/>
              </a:solidFill>
              <a:effectLst/>
              <a:latin typeface="Century Gothic"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3059832" y="620688"/>
            <a:ext cx="2980303" cy="461665"/>
          </a:xfrm>
          <a:prstGeom prst="rect">
            <a:avLst/>
          </a:prstGeom>
        </p:spPr>
        <p:txBody>
          <a:bodyPr wrap="none">
            <a:spAutoFit/>
          </a:bodyPr>
          <a:lstStyle/>
          <a:p>
            <a:r>
              <a:rPr lang="es-MX" sz="2400" dirty="0">
                <a:solidFill>
                  <a:prstClr val="black"/>
                </a:solidFill>
              </a:rPr>
              <a:t>Cuarta Generación </a:t>
            </a:r>
            <a:endParaRPr lang="es-MX" dirty="0"/>
          </a:p>
        </p:txBody>
      </p:sp>
      <p:pic>
        <p:nvPicPr>
          <p:cNvPr id="19458" name="Picture 2" descr="Resultado de imagen para sistemas operativos cuarta generacion"/>
          <p:cNvPicPr>
            <a:picLocks noChangeAspect="1" noChangeArrowheads="1"/>
          </p:cNvPicPr>
          <p:nvPr/>
        </p:nvPicPr>
        <p:blipFill>
          <a:blip r:embed="rId3" cstate="print"/>
          <a:srcRect/>
          <a:stretch>
            <a:fillRect/>
          </a:stretch>
        </p:blipFill>
        <p:spPr bwMode="auto">
          <a:xfrm>
            <a:off x="539552" y="1484784"/>
            <a:ext cx="7920880" cy="3057460"/>
          </a:xfrm>
          <a:prstGeom prst="rect">
            <a:avLst/>
          </a:prstGeom>
          <a:noFill/>
        </p:spPr>
      </p:pic>
      <p:sp>
        <p:nvSpPr>
          <p:cNvPr id="19459" name="Rectangle 3"/>
          <p:cNvSpPr>
            <a:spLocks noChangeArrowheads="1"/>
          </p:cNvSpPr>
          <p:nvPr/>
        </p:nvSpPr>
        <p:spPr bwMode="auto">
          <a:xfrm>
            <a:off x="611560" y="4797152"/>
            <a:ext cx="5933034" cy="92333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s-MX" b="0" i="0" u="none" strike="noStrike" cap="none" normalizeH="0" baseline="0" dirty="0">
                <a:ln>
                  <a:noFill/>
                </a:ln>
                <a:solidFill>
                  <a:srgbClr val="353535"/>
                </a:solidFill>
                <a:effectLst/>
                <a:latin typeface="Helvetica" charset="0"/>
                <a:ea typeface="Times New Roman" pitchFamily="18" charset="0"/>
                <a:cs typeface="Times New Roman" pitchFamily="18" charset="0"/>
              </a:rPr>
              <a:t>Aparece el software amigable con el usuario.</a:t>
            </a:r>
            <a:endParaRPr kumimoji="0" lang="es-MX"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b="0" i="0" u="none" strike="noStrike" cap="none" normalizeH="0" baseline="0" dirty="0">
                <a:ln>
                  <a:noFill/>
                </a:ln>
                <a:solidFill>
                  <a:srgbClr val="353535"/>
                </a:solidFill>
                <a:effectLst/>
                <a:latin typeface="Helvetica" charset="0"/>
                <a:ea typeface="Times New Roman" pitchFamily="18" charset="0"/>
                <a:cs typeface="Times New Roman" pitchFamily="18" charset="0"/>
              </a:rPr>
              <a:t>Desarrollo de sistemas operativos de red y distribuidos.</a:t>
            </a:r>
          </a:p>
          <a:p>
            <a:pPr lvl="0" eaLnBrk="0" fontAlgn="base" hangingPunct="0">
              <a:spcBef>
                <a:spcPct val="0"/>
              </a:spcBef>
              <a:spcAft>
                <a:spcPct val="0"/>
              </a:spcAft>
              <a:buFontTx/>
              <a:buChar char="•"/>
            </a:pPr>
            <a:r>
              <a:rPr kumimoji="0" lang="es-MX" b="0" i="0" u="none" strike="noStrike" cap="none" normalizeH="0" baseline="0" dirty="0">
                <a:ln>
                  <a:noFill/>
                </a:ln>
                <a:solidFill>
                  <a:schemeClr val="tx1"/>
                </a:solidFill>
                <a:effectLst/>
                <a:latin typeface="Arial" pitchFamily="34" charset="0"/>
                <a:cs typeface="Arial" pitchFamily="34" charset="0"/>
              </a:rPr>
              <a:t>Énfasis en la seguridad.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3200378" y="1196752"/>
            <a:ext cx="2972289" cy="461665"/>
          </a:xfrm>
          <a:prstGeom prst="rect">
            <a:avLst/>
          </a:prstGeom>
        </p:spPr>
        <p:txBody>
          <a:bodyPr wrap="none">
            <a:spAutoFit/>
          </a:bodyPr>
          <a:lstStyle/>
          <a:p>
            <a:r>
              <a:rPr lang="es-MX" sz="2400" dirty="0">
                <a:solidFill>
                  <a:prstClr val="black"/>
                </a:solidFill>
              </a:rPr>
              <a:t>Quinta Generación </a:t>
            </a:r>
            <a:endParaRPr lang="es-MX" dirty="0"/>
          </a:p>
        </p:txBody>
      </p:sp>
      <p:sp>
        <p:nvSpPr>
          <p:cNvPr id="18434" name="AutoShape 2" descr="Resultado de imagen para quinta generacion sistemas operativos"/>
          <p:cNvSpPr>
            <a:spLocks noChangeAspect="1" noChangeArrowheads="1"/>
          </p:cNvSpPr>
          <p:nvPr/>
        </p:nvSpPr>
        <p:spPr bwMode="auto">
          <a:xfrm>
            <a:off x="155575" y="-1790700"/>
            <a:ext cx="6838950" cy="3743325"/>
          </a:xfrm>
          <a:prstGeom prst="rect">
            <a:avLst/>
          </a:prstGeom>
          <a:noFill/>
        </p:spPr>
        <p:txBody>
          <a:bodyPr vert="horz" wrap="square" lIns="91440" tIns="45720" rIns="91440" bIns="45720" numCol="1" anchor="t" anchorCtr="0" compatLnSpc="1">
            <a:prstTxWarp prst="textNoShape">
              <a:avLst/>
            </a:prstTxWarp>
          </a:bodyPr>
          <a:lstStyle/>
          <a:p>
            <a:endParaRPr lang="es-MX"/>
          </a:p>
        </p:txBody>
      </p:sp>
      <p:pic>
        <p:nvPicPr>
          <p:cNvPr id="18436" name="Picture 4" descr="Imagen relacionada"/>
          <p:cNvPicPr>
            <a:picLocks noChangeAspect="1" noChangeArrowheads="1"/>
          </p:cNvPicPr>
          <p:nvPr/>
        </p:nvPicPr>
        <p:blipFill>
          <a:blip r:embed="rId3" cstate="print"/>
          <a:srcRect/>
          <a:stretch>
            <a:fillRect/>
          </a:stretch>
        </p:blipFill>
        <p:spPr bwMode="auto">
          <a:xfrm>
            <a:off x="2195736" y="2492350"/>
            <a:ext cx="4981575" cy="3743325"/>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3C8E2F-FEC4-A747-AF58-F058A9AD15BD}"/>
              </a:ext>
            </a:extLst>
          </p:cNvPr>
          <p:cNvSpPr>
            <a:spLocks noGrp="1"/>
          </p:cNvSpPr>
          <p:nvPr>
            <p:ph type="title"/>
          </p:nvPr>
        </p:nvSpPr>
        <p:spPr>
          <a:xfrm>
            <a:off x="1176867" y="620688"/>
            <a:ext cx="6798734" cy="1303867"/>
          </a:xfrm>
        </p:spPr>
        <p:txBody>
          <a:bodyPr/>
          <a:lstStyle/>
          <a:p>
            <a:r>
              <a:rPr lang="es-MX" dirty="0"/>
              <a:t>Preguntas</a:t>
            </a:r>
          </a:p>
        </p:txBody>
      </p:sp>
      <p:sp>
        <p:nvSpPr>
          <p:cNvPr id="3" name="Marcador de contenido 2">
            <a:extLst>
              <a:ext uri="{FF2B5EF4-FFF2-40B4-BE49-F238E27FC236}">
                <a16:creationId xmlns:a16="http://schemas.microsoft.com/office/drawing/2014/main" id="{B48F3C83-4210-1A40-B85D-A71EDC6766B5}"/>
              </a:ext>
            </a:extLst>
          </p:cNvPr>
          <p:cNvSpPr>
            <a:spLocks noGrp="1"/>
          </p:cNvSpPr>
          <p:nvPr>
            <p:ph idx="1"/>
          </p:nvPr>
        </p:nvSpPr>
        <p:spPr>
          <a:xfrm>
            <a:off x="971600" y="1628800"/>
            <a:ext cx="7272807" cy="4536504"/>
          </a:xfrm>
        </p:spPr>
        <p:txBody>
          <a:bodyPr>
            <a:normAutofit fontScale="92500" lnSpcReduction="10000"/>
          </a:bodyPr>
          <a:lstStyle/>
          <a:p>
            <a:r>
              <a:rPr lang="es-MX" dirty="0"/>
              <a:t>¿Que generación se caracterizó por no tener Sistema operativo? Primera generacion y generacion  0.</a:t>
            </a:r>
          </a:p>
          <a:p>
            <a:r>
              <a:rPr lang="es-MX" dirty="0"/>
              <a:t>¿Características que tiene la segunda generación de S.O.? El multirpocesamiento, Multiprogramacion y la independencia del dispositivo con el S.O.</a:t>
            </a:r>
          </a:p>
          <a:p>
            <a:r>
              <a:rPr lang="es-MX" dirty="0"/>
              <a:t>¿En que se caracterizó la cuarta generación sobre las demás generaciones? Los softwares son amigables con el usuario y se enfatizó la seguridad. </a:t>
            </a:r>
          </a:p>
          <a:p>
            <a:r>
              <a:rPr lang="es-MX" dirty="0"/>
              <a:t>¿Por que no se le considera que existe la quinta generación? Porque ya no hubo cambios característicos en esta generación, solamente se aumentó la calidad o el rendimiento de viejos S.O.</a:t>
            </a:r>
          </a:p>
        </p:txBody>
      </p:sp>
    </p:spTree>
    <p:extLst>
      <p:ext uri="{BB962C8B-B14F-4D97-AF65-F5344CB8AC3E}">
        <p14:creationId xmlns:p14="http://schemas.microsoft.com/office/powerpoint/2010/main" val="25445813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ánico">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886</TotalTime>
  <Words>2008</Words>
  <Application>Microsoft Macintosh PowerPoint</Application>
  <PresentationFormat>Presentación en pantalla (4:3)</PresentationFormat>
  <Paragraphs>137</Paragraphs>
  <Slides>7</Slides>
  <Notes>6</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7</vt:i4>
      </vt:variant>
    </vt:vector>
  </HeadingPairs>
  <TitlesOfParts>
    <vt:vector size="18" baseType="lpstr">
      <vt:lpstr>Arial</vt:lpstr>
      <vt:lpstr>Calibri</vt:lpstr>
      <vt:lpstr>Century Gothic</vt:lpstr>
      <vt:lpstr>CourierNewPSMT</vt:lpstr>
      <vt:lpstr>Garamond</vt:lpstr>
      <vt:lpstr>Helvetica</vt:lpstr>
      <vt:lpstr>SymbolMT</vt:lpstr>
      <vt:lpstr>TimesNewRomanPS</vt:lpstr>
      <vt:lpstr>TimesNewRomanPSMT</vt:lpstr>
      <vt:lpstr>Wingdings</vt:lpstr>
      <vt:lpstr>Orgánico</vt:lpstr>
      <vt:lpstr>Presentación de PowerPoint</vt:lpstr>
      <vt:lpstr>Presentación de PowerPoint</vt:lpstr>
      <vt:lpstr>Presentación de PowerPoint</vt:lpstr>
      <vt:lpstr>Presentación de PowerPoint</vt:lpstr>
      <vt:lpstr>Presentación de PowerPoint</vt:lpstr>
      <vt:lpstr>Presentación de PowerPoint</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PREGUNTA 3 Y 17</dc:title>
  <dc:creator>juan</dc:creator>
  <cp:lastModifiedBy>RENE EDMUNDO CUEVAS VALENCIA</cp:lastModifiedBy>
  <cp:revision>21</cp:revision>
  <dcterms:created xsi:type="dcterms:W3CDTF">2017-09-01T11:46:55Z</dcterms:created>
  <dcterms:modified xsi:type="dcterms:W3CDTF">2021-02-23T07:37:45Z</dcterms:modified>
</cp:coreProperties>
</file>